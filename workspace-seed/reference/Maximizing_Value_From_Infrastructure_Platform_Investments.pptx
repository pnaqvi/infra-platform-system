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1695" cy="6858000"/>
  <p:notesSz cx="6858000" cy="12191695"/>
  <p:embeddedFontLst>
    <p:embeddedFont>
      <p:font typeface="Gartner Sans"/>
      <p:regular r:id="rId201314"/>
      <p:bold r:id="rId201315"/>
      <p:italic r:id="rId201316"/>
      <p:boldItalic r:id="rId201317"/>
    </p:embeddedFont>
    <p:embeddedFont>
      <p:font typeface="Gartner Sans Semibold"/>
      <p:regular r:id="rId201318"/>
      <p:italic r:id="rId2013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MASTER">
    <p:bg>
      <p:bgPr>
        <a:solidFill>
          <a:srgbClr val="002869"/>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preencoded.png">    </p:cNvPr>
          <p:cNvPicPr>
            <a:picLocks noChangeAspect="1"/>
          </p:cNvPicPr>
          <p:nvPr/>
        </p:nvPicPr>
        <p:blipFill>
          <a:blip r:embed="rId2"/>
          <a:stretch>
            <a:fillRect/>
          </a:stretch>
        </p:blipFill>
        <p:spPr>
          <a:xfrm>
            <a:off x="685800" y="685800"/>
            <a:ext cx="1728216" cy="393192"/>
          </a:xfrm>
          <a:prstGeom prst="rect">
            <a:avLst/>
          </a:prstGeom>
        </p:spPr>
      </p:pic>
      <p:sp>
        <p:nvSpPr>
          <p:cNvPr id="4" name="Shape 0"/>
          <p:cNvSpPr/>
          <p:nvPr/>
        </p:nvSpPr>
        <p:spPr>
          <a:xfrm>
            <a:off x="1498600" y="2148840"/>
            <a:ext cx="101600" cy="2185416"/>
          </a:xfrm>
          <a:prstGeom prst="rect">
            <a:avLst/>
          </a:prstGeom>
          <a:solidFill>
            <a:srgbClr val="1F96FF"/>
          </a:solidFill>
          <a:ln/>
        </p:spPr>
      </p:sp>
      <p:sp>
        <p:nvSpPr>
          <p:cNvPr id="5" name="Shape 1"/>
          <p:cNvSpPr/>
          <p:nvPr/>
        </p:nvSpPr>
        <p:spPr>
          <a:xfrm>
            <a:off x="8961120" y="2148840"/>
            <a:ext cx="101600" cy="2185416"/>
          </a:xfrm>
          <a:prstGeom prst="rect">
            <a:avLst/>
          </a:prstGeom>
          <a:solidFill>
            <a:srgbClr val="1F96FF"/>
          </a:solidFill>
          <a:ln/>
        </p:spPr>
      </p:sp>
      <p:sp>
        <p:nvSpPr>
          <p:cNvPr id="6" name="Text 2"/>
          <p:cNvSpPr/>
          <p:nvPr/>
        </p:nvSpPr>
        <p:spPr>
          <a:xfrm>
            <a:off x="685800" y="6199632"/>
            <a:ext cx="8686800" cy="320040"/>
          </a:xfrm>
          <a:prstGeom prst="rect">
            <a:avLst/>
          </a:prstGeom>
          <a:noFill/>
          <a:ln/>
        </p:spPr>
        <p:txBody>
          <a:bodyPr wrap="square" rtlCol="0" anchor="t"/>
          <a:lstStyle/>
          <a:p>
            <a:pPr algn="l" indent="0" marL="0">
              <a:buNone/>
            </a:pPr>
            <a:r>
              <a:rPr lang="en-US" sz="700" dirty="0">
                <a:solidFill>
                  <a:srgbClr val="FFFFFF"/>
                </a:solidFill>
                <a:latin typeface="Gartner Sans" pitchFamily="34" charset="0"/>
                <a:ea typeface="Gartner Sans" pitchFamily="34" charset="-122"/>
                <a:cs typeface="Gartner Sans" pitchFamily="34" charset="-120"/>
              </a:rPr>
              <a:t>© 2026 Gartner, Inc. and/or its affiliates. All rights reserved. Gartner is a registered trademark of Gartner, Inc. or its affiliates. This presentation, including all supporting materials, 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endParaRPr lang="en-US" sz="7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MASTER">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6391656"/>
            <a:ext cx="7104888" cy="155448"/>
          </a:xfrm>
          <a:prstGeom prst="rect">
            <a:avLst/>
          </a:prstGeom>
          <a:noFill/>
          <a:ln/>
        </p:spPr>
        <p:txBody>
          <a:bodyPr wrap="square" rtlCol="0" anchor="ctr"/>
          <a:lstStyle/>
          <a:p>
            <a:pPr algn="l" indent="0" marL="0">
              <a:buNone/>
            </a:pPr>
            <a:r>
              <a:rPr lang="en-US" sz="700" dirty="0">
                <a:solidFill>
                  <a:srgbClr val="000000"/>
                </a:solidFill>
                <a:latin typeface="Gartner Sans" pitchFamily="34" charset="0"/>
                <a:ea typeface="Gartner Sans" pitchFamily="34" charset="-122"/>
                <a:cs typeface="Gartner Sans" pitchFamily="34" charset="-120"/>
              </a:rPr>
              <a:t>Content is generated from Gartner's AskGartner tool and should be checked against its source on www.gartner.com.</a:t>
            </a:r>
            <a:endParaRPr lang="en-US" sz="700" dirty="0"/>
          </a:p>
        </p:txBody>
      </p:sp>
      <p:pic>
        <p:nvPicPr>
          <p:cNvPr id="3" name="Image 0" descr="preencoded.png">    </p:cNvPr>
          <p:cNvPicPr>
            <a:picLocks noChangeAspect="1"/>
          </p:cNvPicPr>
          <p:nvPr/>
        </p:nvPicPr>
        <p:blipFill>
          <a:blip r:embed="rId1"/>
          <a:stretch>
            <a:fillRect/>
          </a:stretch>
        </p:blipFill>
        <p:spPr>
          <a:xfrm>
            <a:off x="10451592" y="6236208"/>
            <a:ext cx="1362456" cy="310896"/>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EGAL_MASTER">
    <p:bg>
      <p:bgPr>
        <a:solidFill>
          <a:srgbClr val="E0F1FF"/>
        </a:solidFill>
      </p:bgPr>
    </p:bg>
    <p:spTree>
      <p:nvGrpSpPr>
        <p:cNvPr id="1" name=""/>
        <p:cNvGrpSpPr/>
        <p:nvPr/>
      </p:nvGrpSpPr>
      <p:grpSpPr>
        <a:xfrm>
          <a:off x="0" y="0"/>
          <a:ext cx="0" cy="0"/>
          <a:chOff x="0" y="0"/>
          <a:chExt cx="0" cy="0"/>
        </a:xfrm>
      </p:grpSpPr>
      <p:sp>
        <p:nvSpPr>
          <p:cNvPr id="2" name="Text 0"/>
          <p:cNvSpPr/>
          <p:nvPr/>
        </p:nvSpPr>
        <p:spPr>
          <a:xfrm>
            <a:off x="658368" y="6391656"/>
            <a:ext cx="7104888" cy="155448"/>
          </a:xfrm>
          <a:prstGeom prst="rect">
            <a:avLst/>
          </a:prstGeom>
          <a:noFill/>
          <a:ln/>
        </p:spPr>
        <p:txBody>
          <a:bodyPr wrap="square" rtlCol="0" anchor="ctr"/>
          <a:lstStyle/>
          <a:p>
            <a:pPr algn="l" indent="0" marL="0">
              <a:buNone/>
            </a:pPr>
            <a:r>
              <a:rPr lang="en-US" sz="700" dirty="0">
                <a:solidFill>
                  <a:srgbClr val="000000"/>
                </a:solidFill>
                <a:latin typeface="Gartner Sans" pitchFamily="34" charset="0"/>
                <a:ea typeface="Gartner Sans" pitchFamily="34" charset="-122"/>
                <a:cs typeface="Gartner Sans" pitchFamily="34" charset="-120"/>
              </a:rPr>
              <a:t>Content is generated from Gartner's AskGartner tool and should be checked against its source on www.gartner.com.</a:t>
            </a:r>
            <a:endParaRPr lang="en-US" sz="700" dirty="0"/>
          </a:p>
        </p:txBody>
      </p:sp>
      <p:pic>
        <p:nvPicPr>
          <p:cNvPr id="3" name="Image 0" descr="preencoded.png">    </p:cNvPr>
          <p:cNvPicPr>
            <a:picLocks noChangeAspect="1"/>
          </p:cNvPicPr>
          <p:nvPr/>
        </p:nvPicPr>
        <p:blipFill>
          <a:blip r:embed="rId1"/>
          <a:stretch>
            <a:fillRect/>
          </a:stretch>
        </p:blipFill>
        <p:spPr>
          <a:xfrm>
            <a:off x="10451592" y="6236208"/>
            <a:ext cx="1362456" cy="310896"/>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IVIDER_MASTER">
    <p:bg>
      <p:bgPr>
        <a:solidFill>
          <a:srgbClr val="002869"/>
        </a:solidFill>
      </p:bgPr>
    </p:bg>
    <p:spTree>
      <p:nvGrpSpPr>
        <p:cNvPr id="1" name=""/>
        <p:cNvGrpSpPr/>
        <p:nvPr/>
      </p:nvGrpSpPr>
      <p:grpSpPr>
        <a:xfrm>
          <a:off x="0" y="0"/>
          <a:ext cx="0" cy="0"/>
          <a:chOff x="0" y="0"/>
          <a:chExt cx="0" cy="0"/>
        </a:xfrm>
      </p:grpSpPr>
      <p:sp>
        <p:nvSpPr>
          <p:cNvPr id="2" name="Shape 0"/>
          <p:cNvSpPr/>
          <p:nvPr/>
        </p:nvSpPr>
        <p:spPr>
          <a:xfrm>
            <a:off x="1498600" y="2148840"/>
            <a:ext cx="101600" cy="2185416"/>
          </a:xfrm>
          <a:prstGeom prst="rect">
            <a:avLst/>
          </a:prstGeom>
          <a:solidFill>
            <a:srgbClr val="1F96FF"/>
          </a:solidFill>
          <a:ln/>
        </p:spPr>
      </p:sp>
      <p:sp>
        <p:nvSpPr>
          <p:cNvPr id="3" name="Shape 1"/>
          <p:cNvSpPr/>
          <p:nvPr/>
        </p:nvSpPr>
        <p:spPr>
          <a:xfrm>
            <a:off x="8961120" y="2148840"/>
            <a:ext cx="101600" cy="2185416"/>
          </a:xfrm>
          <a:prstGeom prst="rect">
            <a:avLst/>
          </a:prstGeom>
          <a:solidFill>
            <a:srgbClr val="1F96FF"/>
          </a:solidFill>
          <a:ln/>
        </p:spPr>
      </p:sp>
      <p:sp>
        <p:nvSpPr>
          <p:cNvPr id="4" name="Text 2"/>
          <p:cNvSpPr/>
          <p:nvPr/>
        </p:nvSpPr>
        <p:spPr>
          <a:xfrm>
            <a:off x="658368" y="6391656"/>
            <a:ext cx="7104888" cy="155448"/>
          </a:xfrm>
          <a:prstGeom prst="rect">
            <a:avLst/>
          </a:prstGeom>
          <a:noFill/>
          <a:ln/>
        </p:spPr>
        <p:txBody>
          <a:bodyPr wrap="square" rtlCol="0" anchor="ctr"/>
          <a:lstStyle/>
          <a:p>
            <a:pPr algn="l" indent="0" marL="0">
              <a:buNone/>
            </a:pPr>
            <a:r>
              <a:rPr lang="en-US" sz="700" dirty="0">
                <a:solidFill>
                  <a:srgbClr val="FFFFFF"/>
                </a:solidFill>
                <a:latin typeface="Gartner Sans" pitchFamily="34" charset="0"/>
                <a:ea typeface="Gartner Sans" pitchFamily="34" charset="-122"/>
                <a:cs typeface="Gartner Sans" pitchFamily="34" charset="-120"/>
              </a:rPr>
              <a:t>Content is generated from Gartner's AskGartner tool and should be checked against its source on www.gartner.com.</a:t>
            </a:r>
            <a:endParaRPr lang="en-US" sz="700" dirty="0"/>
          </a:p>
        </p:txBody>
      </p:sp>
      <p:pic>
        <p:nvPicPr>
          <p:cNvPr id="5" name="Image 0" descr="preencoded.png">    </p:cNvPr>
          <p:cNvPicPr>
            <a:picLocks noChangeAspect="1"/>
          </p:cNvPicPr>
          <p:nvPr/>
        </p:nvPicPr>
        <p:blipFill>
          <a:blip r:embed="rId1"/>
          <a:stretch>
            <a:fillRect/>
          </a:stretch>
        </p:blipFill>
        <p:spPr>
          <a:xfrm>
            <a:off x="10451592" y="6236208"/>
            <a:ext cx="1362456" cy="310896"/>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www.gartner.com/en/about/policies/usage-policy" TargetMode="External"/><Relationship Id="rId2" Type="http://schemas.openxmlformats.org/officeDocument/2006/relationships/hyperlink" Target="https://www.gartner.com/reviews/guidelines" TargetMode="External"/><Relationship Id="rId3" Type="http://schemas.openxmlformats.org/officeDocument/2006/relationships/slideLayout" Target="../slideLayouts/slideLayout4.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www.gartner.com/document-reader/document/6870766?ref=askgartner-ppt" TargetMode="External"/><Relationship Id="rId2" Type="http://schemas.openxmlformats.org/officeDocument/2006/relationships/hyperlink" Target="https://www.gartner.com/document-reader/document/7141130?ref=askgartner-ppt" TargetMode="External"/><Relationship Id="rId3" Type="http://schemas.openxmlformats.org/officeDocument/2006/relationships/hyperlink" Target="https://www.gartner.com/document-reader/document/7141130?ref=askgartner-ppt" TargetMode="External"/><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www.gartner.com/document-reader/document/6870766?ref=askgartner-ppt" TargetMode="External"/><Relationship Id="rId2" Type="http://schemas.openxmlformats.org/officeDocument/2006/relationships/hyperlink" Target="https://www.gartner.com/document-reader/document/6379843?ref=askgartner-ppt" TargetMode="External"/><Relationship Id="rId3" Type="http://schemas.openxmlformats.org/officeDocument/2006/relationships/hyperlink" Target="https://www.gartner.com/document-reader/document/6870766?ref=askgartner-ppt" TargetMode="External"/><Relationship Id="rId4" Type="http://schemas.openxmlformats.org/officeDocument/2006/relationships/hyperlink" Target="https://www.gartner.com/document-reader/document/7141130?ref=askgartner-ppt" TargetMode="External"/><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www.gartner.com/document-reader/document/7141130?ref=askgartner-ppt" TargetMode="External"/><Relationship Id="rId2" Type="http://schemas.openxmlformats.org/officeDocument/2006/relationships/hyperlink" Target="https://www.gartner.com/document-reader/document/7141130?ref=askgartner-ppt" TargetMode="External"/><Relationship Id="rId3" Type="http://schemas.openxmlformats.org/officeDocument/2006/relationships/hyperlink" Target="https://www.gartner.com/document-reader/document/7141130?ref=askgartner-ppt" TargetMode="External"/><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www.gartner.com/document-reader/document/7141130?ref=askgartner-ppt" TargetMode="External"/><Relationship Id="rId2" Type="http://schemas.openxmlformats.org/officeDocument/2006/relationships/hyperlink" Target="https://www.gartner.com/document-reader/document/7141130?ref=askgartner-ppt" TargetMode="External"/><Relationship Id="rId3" Type="http://schemas.openxmlformats.org/officeDocument/2006/relationships/hyperlink" Target="https://www.gartner.com/document-reader/document/7141130?ref=askgartner-ppt" TargetMode="External"/><Relationship Id="rId4" Type="http://schemas.openxmlformats.org/officeDocument/2006/relationships/hyperlink" Target="https://www.gartner.com/document-reader/document/7141130?ref=askgartner-ppt" TargetMode="External"/><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www.gartner.com/document-reader/document/6870766?ref=askgartner-ppt" TargetMode="External"/><Relationship Id="rId2" Type="http://schemas.openxmlformats.org/officeDocument/2006/relationships/hyperlink" Target="https://www.gartner.com/document-reader/document/6187955?ref=askgartner-ppt" TargetMode="External"/><Relationship Id="rId3" Type="http://schemas.openxmlformats.org/officeDocument/2006/relationships/hyperlink" Target="https://www.gartner.com/document-reader/document/6870766?ref=askgartner-ppt" TargetMode="External"/><Relationship Id="rId4" Type="http://schemas.openxmlformats.org/officeDocument/2006/relationships/hyperlink" Target="https://www.gartner.com/document-reader/document/6870766?ref=askgartner-ppt" TargetMode="External"/><Relationship Id="rId5" Type="http://schemas.openxmlformats.org/officeDocument/2006/relationships/hyperlink" Target="https://www.gartner.com/document-reader/document/6870766?ref=askgartner-ppt" TargetMode="External"/><Relationship Id="rId6" Type="http://schemas.openxmlformats.org/officeDocument/2006/relationships/hyperlink" Target="https://www.gartner.com/document-reader/document/6870766?ref=askgartner-ppt" TargetMode="External"/><Relationship Id="rId7" Type="http://schemas.openxmlformats.org/officeDocument/2006/relationships/slideLayout" Target="../slideLayouts/slideLayout3.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www.gartner.com/document-reader/document/6187955?ref=askgartner-ppt" TargetMode="External"/><Relationship Id="rId2" Type="http://schemas.openxmlformats.org/officeDocument/2006/relationships/hyperlink" Target="https://www.gartner.com/document-reader/document/8073465?ref=askgartner-ppt" TargetMode="External"/><Relationship Id="rId3" Type="http://schemas.openxmlformats.org/officeDocument/2006/relationships/hyperlink" Target="https://www.gartner.com/document-reader/document/7024998?ref=askgartner-ppt" TargetMode="External"/><Relationship Id="rId4" Type="http://schemas.openxmlformats.org/officeDocument/2006/relationships/hyperlink" Target="https://www.gartner.com/document-reader/document/7024998?ref=askgartner-ppt" TargetMode="External"/><Relationship Id="rId5" Type="http://schemas.openxmlformats.org/officeDocument/2006/relationships/hyperlink" Target="https://www.gartner.com/document-reader/document/7024998?ref=askgartner-ppt" TargetMode="External"/><Relationship Id="rId6" Type="http://schemas.openxmlformats.org/officeDocument/2006/relationships/hyperlink" Target="https://www.gartner.com/document-reader/document/6870766?ref=askgartner-ppt" TargetMode="External"/><Relationship Id="rId7" Type="http://schemas.openxmlformats.org/officeDocument/2006/relationships/hyperlink" Target="https://www.gartner.com/document-reader/document/6839434?ref=askgartner-ppt" TargetMode="External"/><Relationship Id="rId8" Type="http://schemas.openxmlformats.org/officeDocument/2006/relationships/slideLayout" Target="../slideLayouts/slideLayout3.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www.gartner.com/document-reader/document/6187955?ref=askgartner-ppt" TargetMode="External"/><Relationship Id="rId2" Type="http://schemas.openxmlformats.org/officeDocument/2006/relationships/hyperlink" Target="https://www.gartner.com/document-reader/document/8073465?ref=askgartner-ppt" TargetMode="External"/><Relationship Id="rId3" Type="http://schemas.openxmlformats.org/officeDocument/2006/relationships/hyperlink" Target="https://www.gartner.com/document-reader/document/6187955?ref=askgartner-ppt" TargetMode="External"/><Relationship Id="rId4" Type="http://schemas.openxmlformats.org/officeDocument/2006/relationships/hyperlink" Target="https://www.gartner.com/document-reader/document/6187955?ref=askgartner-ppt" TargetMode="External"/><Relationship Id="rId5" Type="http://schemas.openxmlformats.org/officeDocument/2006/relationships/hyperlink" Target="https://www.gartner.com/document-reader/document/6187955?ref=askgartner-ppt" TargetMode="External"/><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www.gartner.com/document-reader/document/7141130?ref=askgartner-ppt" TargetMode="External"/><Relationship Id="rId2" Type="http://schemas.openxmlformats.org/officeDocument/2006/relationships/hyperlink" Target="https://www.gartner.com/document-reader/document/6870766?ref=askgartner-ppt" TargetMode="External"/><Relationship Id="rId3" Type="http://schemas.openxmlformats.org/officeDocument/2006/relationships/hyperlink" Target="https://www.gartner.com/document-reader/document/6187955?ref=askgartner-ppt" TargetMode="External"/><Relationship Id="rId4" Type="http://schemas.openxmlformats.org/officeDocument/2006/relationships/hyperlink" Target="https://www.gartner.com/document-reader/document/8073465?ref=askgartner-ppt" TargetMode="External"/><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www.gartner.com/document-reader/document/6870766?ref=askgartner-ppt" TargetMode="Externa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www.gartner.com/document-reader/document/6870766?ref=askgartner-ppt" TargetMode="External"/><Relationship Id="rId2" Type="http://schemas.openxmlformats.org/officeDocument/2006/relationships/hyperlink" Target="https://www.gartner.com/document-reader/document/6379843?ref=askgartner-ppt" TargetMode="External"/><Relationship Id="rId3" Type="http://schemas.openxmlformats.org/officeDocument/2006/relationships/hyperlink" Target="https://www.gartner.com/document-reader/document/7141130?ref=askgartner-ppt" TargetMode="External"/><Relationship Id="rId4" Type="http://schemas.openxmlformats.org/officeDocument/2006/relationships/hyperlink" Target="https://www.gartner.com/document-reader/document/6187955?ref=askgartner-ppt" TargetMode="External"/><Relationship Id="rId5" Type="http://schemas.openxmlformats.org/officeDocument/2006/relationships/hyperlink" Target="https://www.gartner.com/document-reader/document/8073465?ref=askgartner-ppt" TargetMode="External"/><Relationship Id="rId6" Type="http://schemas.openxmlformats.org/officeDocument/2006/relationships/hyperlink" Target="https://www.gartner.com/document-reader/document/7024998?ref=askgartner-ppt" TargetMode="External"/><Relationship Id="rId7" Type="http://schemas.openxmlformats.org/officeDocument/2006/relationships/hyperlink" Target="https://www.gartner.com/document-reader/document/6839434?ref=askgartner-ppt" TargetMode="External"/><Relationship Id="rId8" Type="http://schemas.openxmlformats.org/officeDocument/2006/relationships/slideLayout" Target="../slideLayouts/slideLayout3.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hyperlink" Target="https://www.gartner.com/document-reader/document/6187955?ref=askgartner-ppt" TargetMode="External"/><Relationship Id="rId1" Type="http://schemas.openxmlformats.org/officeDocument/2006/relationships/image" Target="../media/image-13-1.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hyperlink" Target="https://www.gartner.com/document-reader/document/6379843?ref=askgartner-ppt" TargetMode="External"/><Relationship Id="rId1" Type="http://schemas.openxmlformats.org/officeDocument/2006/relationships/image" Target="../media/image-14-1.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 Type="http://schemas.openxmlformats.org/officeDocument/2006/relationships/hyperlink" Target="https://www.gartner.com/document-reader/document/7231130?ref=askgartner-ppt" TargetMode="External"/><Relationship Id="rId1" Type="http://schemas.openxmlformats.org/officeDocument/2006/relationships/image" Target="../media/image-15-1.png"/><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2" Type="http://schemas.openxmlformats.org/officeDocument/2006/relationships/hyperlink" Target="https://www.gartner.com/document-reader/document/6870766?ref=askgartner-ppt" TargetMode="External"/><Relationship Id="rId1" Type="http://schemas.openxmlformats.org/officeDocument/2006/relationships/image" Target="../media/image-16-1.png"/><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2" Type="http://schemas.openxmlformats.org/officeDocument/2006/relationships/hyperlink" Target="https://www.gartner.com/document-reader/document/7141130?ref=askgartner-ppt" TargetMode="External"/><Relationship Id="rId1" Type="http://schemas.openxmlformats.org/officeDocument/2006/relationships/image" Target="../media/image-17-1.png"/><Relationship Id="rId3" Type="http://schemas.openxmlformats.org/officeDocument/2006/relationships/slideLayout" Target="../slideLayouts/slideLayout3.xml"/><Relationship Id="rId4"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1600200" y="2240280"/>
            <a:ext cx="7360920" cy="2002536"/>
          </a:xfrm>
          <a:prstGeom prst="rect">
            <a:avLst/>
          </a:prstGeom>
          <a:noFill/>
          <a:ln/>
        </p:spPr>
        <p:txBody>
          <a:bodyPr wrap="square" rtlCol="0" anchor="ctr"/>
          <a:lstStyle/>
          <a:p>
            <a:pPr algn="l" indent="0" marL="0">
              <a:buNone/>
            </a:pPr>
            <a:r>
              <a:rPr lang="en-US" sz="4400" dirty="0">
                <a:solidFill>
                  <a:srgbClr val="FFFFFF"/>
                </a:solidFill>
                <a:latin typeface="Gartner Sans Semibold" pitchFamily="34" charset="0"/>
                <a:ea typeface="Gartner Sans Semibold" pitchFamily="34" charset="-122"/>
                <a:cs typeface="Gartner Sans Semibold" pitchFamily="34" charset="-120"/>
              </a:rPr>
              <a:t>Maximizing Value From Infrastructure Platform Investments</a:t>
            </a:r>
            <a:endParaRPr lang="en-US" sz="4400" dirty="0"/>
          </a:p>
        </p:txBody>
      </p:sp>
      <p:sp>
        <p:nvSpPr>
          <p:cNvPr id="3" name="Text 1"/>
          <p:cNvSpPr/>
          <p:nvPr/>
        </p:nvSpPr>
        <p:spPr>
          <a:xfrm>
            <a:off x="1600200" y="4471416"/>
            <a:ext cx="7360920" cy="548640"/>
          </a:xfrm>
          <a:prstGeom prst="rect">
            <a:avLst/>
          </a:prstGeom>
          <a:noFill/>
          <a:ln/>
        </p:spPr>
        <p:txBody>
          <a:bodyPr wrap="square" rtlCol="0" anchor="t"/>
          <a:lstStyle/>
          <a:p>
            <a:pPr algn="l" indent="0" marL="0">
              <a:buNone/>
            </a:pPr>
            <a:r>
              <a:rPr lang="en-US" sz="1600" dirty="0">
                <a:solidFill>
                  <a:srgbClr val="FFFFFF"/>
                </a:solidFill>
                <a:latin typeface="Gartner Sans" pitchFamily="34" charset="0"/>
                <a:ea typeface="Gartner Sans" pitchFamily="34" charset="-122"/>
                <a:cs typeface="Gartner Sans" pitchFamily="34" charset="-120"/>
              </a:rPr>
              <a:t>Disciplined engineering, ruthless reuse, and relentless user... | 10 August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365760"/>
            <a:ext cx="12191695" cy="448056"/>
          </a:xfrm>
          <a:prstGeom prst="rect">
            <a:avLst/>
          </a:prstGeom>
          <a:noFill/>
          <a:ln/>
        </p:spPr>
        <p:txBody>
          <a:bodyPr wrap="square" rtlCol="0" anchor="t"/>
          <a:lstStyle/>
          <a:p>
            <a:pPr algn="l" indent="0" marL="0">
              <a:buNone/>
            </a:pPr>
            <a:r>
              <a:rPr lang="en-US" sz="2800" dirty="0">
                <a:solidFill>
                  <a:srgbClr val="002869"/>
                </a:solidFill>
                <a:latin typeface="Gartner Sans Semibold" pitchFamily="34" charset="0"/>
                <a:ea typeface="Gartner Sans Semibold" pitchFamily="34" charset="-122"/>
                <a:cs typeface="Gartner Sans Semibold" pitchFamily="34" charset="-120"/>
              </a:rPr>
              <a:t>Usage Guidance</a:t>
            </a:r>
            <a:endParaRPr lang="en-US" sz="2800" dirty="0"/>
          </a:p>
        </p:txBody>
      </p:sp>
      <p:sp>
        <p:nvSpPr>
          <p:cNvPr id="3" name="Text 1"/>
          <p:cNvSpPr/>
          <p:nvPr/>
        </p:nvSpPr>
        <p:spPr>
          <a:xfrm>
            <a:off x="457200" y="1527048"/>
            <a:ext cx="11277295" cy="4462272"/>
          </a:xfrm>
          <a:prstGeom prst="rect">
            <a:avLst/>
          </a:prstGeom>
          <a:noFill/>
          <a:ln/>
        </p:spPr>
        <p:txBody>
          <a:bodyPr wrap="square" rtlCol="0" anchor="t">
            <a:normAutofit/>
          </a:bodyPr>
          <a:lstStyle/>
          <a:p>
            <a:pPr indent="0" marL="0">
              <a:buNone/>
            </a:pPr>
            <a:r>
              <a:rPr lang="en-US" sz="2000" dirty="0">
                <a:solidFill>
                  <a:srgbClr val="000000"/>
                </a:solidFill>
                <a:latin typeface="Gartner Sans" pitchFamily="34" charset="0"/>
                <a:ea typeface="Gartner Sans" pitchFamily="34" charset="-122"/>
                <a:cs typeface="Gartner Sans" pitchFamily="34" charset="-120"/>
              </a:rPr>
              <a:t>The following text was generated using Gartner's AskGartner Generative AI tool. Due to the nature of this technology, some answers may be </a:t>
            </a:r>
            <a:pPr indent="0" marL="0">
              <a:buNone/>
            </a:pPr>
            <a:r>
              <a:rPr lang="en-US" sz="2000" u="sng" dirty="0">
                <a:solidFill>
                  <a:srgbClr val="000000"/>
                </a:solidFill>
                <a:latin typeface="Gartner Sans" pitchFamily="34" charset="0"/>
                <a:ea typeface="Gartner Sans" pitchFamily="34" charset="-122"/>
                <a:cs typeface="Gartner Sans" pitchFamily="34" charset="-120"/>
              </a:rPr>
              <a:t>incomplete or incorrect</a:t>
            </a:r>
            <a:pPr indent="0" marL="0">
              <a:buNone/>
            </a:pPr>
            <a:r>
              <a:rPr lang="en-US" sz="2000" dirty="0">
                <a:solidFill>
                  <a:srgbClr val="000000"/>
                </a:solidFill>
                <a:latin typeface="Gartner Sans" pitchFamily="34" charset="0"/>
                <a:ea typeface="Gartner Sans" pitchFamily="34" charset="-122"/>
                <a:cs typeface="Gartner Sans" pitchFamily="34" charset="-120"/>
              </a:rPr>
              <a:t>. Please verify sources. Gartner does not endorse any provider, product, or service.</a:t>
            </a:r>
            <a:pPr indent="0" marL="0">
              <a:buNone/>
            </a:pPr>
            <a:r>
              <a:rPr lang="en-US" sz="1100" dirty="0">
                <a:solidFill>
                  <a:srgbClr val="000000"/>
                </a:solidFill>
                <a:latin typeface="Gartner Sans" pitchFamily="34" charset="0"/>
                <a:ea typeface="Gartner Sans" pitchFamily="34" charset="-122"/>
                <a:cs typeface="Gartner Sans" pitchFamily="34" charset="-120"/>
              </a:rPr>
              <a:t>
</a:t>
            </a:r>
            <a:pPr indent="0" marL="0">
              <a:buNone/>
            </a:pPr>
            <a:r>
              <a:rPr lang="en-US" sz="2000" dirty="0">
                <a:solidFill>
                  <a:srgbClr val="000000"/>
                </a:solidFill>
                <a:latin typeface="Gartner Sans" pitchFamily="34" charset="0"/>
                <a:ea typeface="Gartner Sans" pitchFamily="34" charset="-122"/>
                <a:cs typeface="Gartner Sans" pitchFamily="34" charset="-120"/>
              </a:rPr>
              <a:t>AskGartner answers cannot be quoted externally and may only be shared within your organization, in line with the Licensed User limits in the </a:t>
            </a:r>
            <a:pPr indent="0" marL="0">
              <a:buNone/>
            </a:pPr>
            <a:r>
              <a:rPr lang="en-US" sz="2000" u="sng" dirty="0">
                <a:solidFill>
                  <a:srgbClr val="006AC7"/>
                </a:solidFill>
                <a:latin typeface="Gartner Sans" pitchFamily="34" charset="0"/>
                <a:ea typeface="Gartner Sans" pitchFamily="34" charset="-122"/>
                <a:cs typeface="Gartner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Gartner Usage Policy</a:t>
            </a:r>
            <a:pPr indent="0" marL="0">
              <a:buNone/>
            </a:pPr>
            <a:r>
              <a:rPr lang="en-US" sz="2000" dirty="0">
                <a:solidFill>
                  <a:srgbClr val="000000"/>
                </a:solidFill>
                <a:latin typeface="Gartner Sans" pitchFamily="34" charset="0"/>
                <a:ea typeface="Gartner Sans" pitchFamily="34" charset="-122"/>
                <a:cs typeface="Gartner Sans" pitchFamily="34" charset="-120"/>
              </a:rPr>
              <a:t> and with the accompanying cite "based on AskGartner Generative AI tool".</a:t>
            </a:r>
            <a:pPr indent="0" marL="0">
              <a:buNone/>
            </a:pPr>
            <a:r>
              <a:rPr lang="en-US" sz="1100" dirty="0">
                <a:solidFill>
                  <a:srgbClr val="000000"/>
                </a:solidFill>
                <a:latin typeface="Gartner Sans" pitchFamily="34" charset="0"/>
                <a:ea typeface="Gartner Sans" pitchFamily="34" charset="-122"/>
                <a:cs typeface="Gartner Sans" pitchFamily="34" charset="-120"/>
              </a:rPr>
              <a:t>
</a:t>
            </a:r>
            <a:pPr indent="0" marL="0">
              <a:buNone/>
            </a:pPr>
            <a:r>
              <a:rPr lang="en-US" sz="2000" i="1" dirty="0">
                <a:solidFill>
                  <a:srgbClr val="000000"/>
                </a:solidFill>
                <a:latin typeface="Gartner Sans" pitchFamily="34" charset="0"/>
                <a:ea typeface="Gartner Sans" pitchFamily="34" charset="-122"/>
                <a:cs typeface="Gartner Sans" pitchFamily="34" charset="-120"/>
              </a:rPr>
              <a:t>Information sourced from Gartner Peer Insights is drawn from Peer Insights summaries and software reviews submitted by validated technology end-users in accordance with the Peer Insights </a:t>
            </a:r>
            <a:pPr indent="0" marL="0">
              <a:buNone/>
            </a:pPr>
            <a:r>
              <a:rPr lang="en-US" sz="2000" i="1" u="sng" dirty="0">
                <a:solidFill>
                  <a:srgbClr val="006AC7"/>
                </a:solidFill>
                <a:latin typeface="Gartner Sans" pitchFamily="34" charset="0"/>
                <a:ea typeface="Gartner Sans" pitchFamily="34" charset="-122"/>
                <a:cs typeface="Gartner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Community Guidelines</a:t>
            </a:r>
            <a:pPr indent="0" marL="0">
              <a:buNone/>
            </a:pPr>
            <a:r>
              <a:rPr lang="en-US" sz="2000" i="1" dirty="0">
                <a:solidFill>
                  <a:srgbClr val="000000"/>
                </a:solidFill>
                <a:latin typeface="Gartner Sans" pitchFamily="34" charset="0"/>
                <a:ea typeface="Gartner Sans" pitchFamily="34" charset="-122"/>
                <a:cs typeface="Gartner Sans" pitchFamily="34" charset="-120"/>
              </a:rPr>
              <a:t> and does not represent Gartner opinion.</a:t>
            </a:r>
            <a:endParaRPr lang="en-US" sz="2000" dirty="0"/>
          </a:p>
        </p:txBody>
      </p:sp>
      <p:sp>
        <p:nvSpPr>
          <p:cNvPr id="4" name="Text 2"/>
          <p:cNvSpPr/>
          <p:nvPr/>
        </p:nvSpPr>
        <p:spPr>
          <a:xfrm>
            <a:off x="457200" y="6391656"/>
            <a:ext cx="502920" cy="155448"/>
          </a:xfrm>
          <a:prstGeom prst="rect">
            <a:avLst/>
          </a:prstGeom>
          <a:noFill/>
          <a:ln/>
        </p:spPr>
        <p:txBody>
          <a:bodyPr wrap="square" rtlCol="0" anchor="ctr"/>
          <a:lstStyle/>
          <a:p>
            <a:pPr algn="l" indent="0" marL="0">
              <a:buNone/>
            </a:pPr>
            <a:r>
              <a:rPr lang="en-US" sz="700" dirty="0">
                <a:solidFill>
                  <a:srgbClr val="000000"/>
                </a:solidFill>
                <a:latin typeface="Gartner Sans" pitchFamily="34" charset="0"/>
                <a:ea typeface="Gartner Sans" pitchFamily="34" charset="-122"/>
                <a:cs typeface="Gartner Sans" pitchFamily="34" charset="-120"/>
              </a:rPr>
              <a:t>2</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365760"/>
            <a:ext cx="12191695" cy="448056"/>
          </a:xfrm>
          <a:prstGeom prst="rect">
            <a:avLst/>
          </a:prstGeom>
          <a:noFill/>
          <a:ln/>
        </p:spPr>
        <p:txBody>
          <a:bodyPr wrap="square" rtlCol="0" anchor="t"/>
          <a:lstStyle/>
          <a:p>
            <a:pPr algn="l" indent="0" marL="0">
              <a:buNone/>
            </a:pPr>
            <a:r>
              <a:rPr lang="en-US" sz="2800" dirty="0">
                <a:solidFill>
                  <a:srgbClr val="002869"/>
                </a:solidFill>
                <a:latin typeface="Gartner Sans Semibold" pitchFamily="34" charset="0"/>
                <a:ea typeface="Gartner Sans Semibold" pitchFamily="34" charset="-122"/>
                <a:cs typeface="Gartner Sans Semibold" pitchFamily="34" charset="-120"/>
              </a:rPr>
              <a:t>The Value Equation: What Drives ROI</a:t>
            </a:r>
            <a:endParaRPr lang="en-US" sz="2800" dirty="0"/>
          </a:p>
        </p:txBody>
      </p:sp>
      <p:sp>
        <p:nvSpPr>
          <p:cNvPr id="3" name="Text 1"/>
          <p:cNvSpPr/>
          <p:nvPr/>
        </p:nvSpPr>
        <p:spPr>
          <a:xfrm>
            <a:off x="457200" y="1527048"/>
            <a:ext cx="11277295" cy="4462272"/>
          </a:xfrm>
          <a:prstGeom prst="rect">
            <a:avLst/>
          </a:prstGeom>
          <a:noFill/>
          <a:ln/>
        </p:spPr>
        <p:txBody>
          <a:bodyPr wrap="square" rtlCol="0" anchor="t">
            <a:normAutofit/>
          </a:bodyPr>
          <a:lstStyle/>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Right-Sized Engineering:</a:t>
            </a:r>
            <a:pPr indent="0" marL="0">
              <a:buNone/>
            </a:pPr>
            <a:r>
              <a:rPr lang="en-US" sz="2000" dirty="0">
                <a:solidFill>
                  <a:srgbClr val="000000"/>
                </a:solidFill>
                <a:latin typeface="Gartner Sans" pitchFamily="34" charset="0"/>
                <a:ea typeface="Gartner Sans" pitchFamily="34" charset="-122"/>
                <a:cs typeface="Gartner Sans" pitchFamily="34" charset="-120"/>
              </a:rPr>
              <a:t> Avoid over-customization—custom code increases technical debt and costs.</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[1]</a:t>
            </a:r>
            <a:endParaRPr lang="en-US" sz="2000" dirty="0"/>
          </a:p>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Anchor Platforms:</a:t>
            </a:r>
            <a:pPr indent="0" marL="0">
              <a:buNone/>
            </a:pPr>
            <a:r>
              <a:rPr lang="en-US" sz="2000" dirty="0">
                <a:solidFill>
                  <a:srgbClr val="000000"/>
                </a:solidFill>
                <a:latin typeface="Gartner Sans" pitchFamily="34" charset="0"/>
                <a:ea typeface="Gartner Sans" pitchFamily="34" charset="-122"/>
                <a:cs typeface="Gartner Sans" pitchFamily="34" charset="-120"/>
              </a:rPr>
              <a:t> Platform fragmentation increases complexity and reduces value; each domain should have one primary technology.</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[3]</a:t>
            </a:r>
            <a:endParaRPr lang="en-US" sz="2000" dirty="0"/>
          </a:p>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Enforce Reuse:</a:t>
            </a:r>
            <a:pPr indent="0" marL="0">
              <a:buNone/>
            </a:pPr>
            <a:r>
              <a:rPr lang="en-US" sz="2000" dirty="0">
                <a:solidFill>
                  <a:srgbClr val="000000"/>
                </a:solidFill>
                <a:latin typeface="Gartner Sans" pitchFamily="34" charset="0"/>
                <a:ea typeface="Gartner Sans" pitchFamily="34" charset="-122"/>
                <a:cs typeface="Gartner Sans" pitchFamily="34" charset="-120"/>
              </a:rPr>
              <a:t> Reuse reduces ownership cost, cognitive load, and multiplies platform value.</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[3]</a:t>
            </a:r>
            <a:endParaRPr lang="en-US" sz="2000" dirty="0"/>
          </a:p>
        </p:txBody>
      </p:sp>
      <p:sp>
        <p:nvSpPr>
          <p:cNvPr id="4" name="Text 2"/>
          <p:cNvSpPr/>
          <p:nvPr/>
        </p:nvSpPr>
        <p:spPr>
          <a:xfrm>
            <a:off x="457200" y="6391656"/>
            <a:ext cx="502920" cy="155448"/>
          </a:xfrm>
          <a:prstGeom prst="rect">
            <a:avLst/>
          </a:prstGeom>
          <a:noFill/>
          <a:ln/>
        </p:spPr>
        <p:txBody>
          <a:bodyPr wrap="square" rtlCol="0" anchor="ctr"/>
          <a:lstStyle/>
          <a:p>
            <a:pPr algn="l" indent="0" marL="0">
              <a:buNone/>
            </a:pPr>
            <a:r>
              <a:rPr lang="en-US" sz="700" dirty="0">
                <a:solidFill>
                  <a:srgbClr val="000000"/>
                </a:solidFill>
                <a:latin typeface="Gartner Sans" pitchFamily="34" charset="0"/>
                <a:ea typeface="Gartner Sans" pitchFamily="34" charset="-122"/>
                <a:cs typeface="Gartner Sans" pitchFamily="34" charset="-120"/>
              </a:rPr>
              <a:t>3</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365760"/>
            <a:ext cx="12191695" cy="448056"/>
          </a:xfrm>
          <a:prstGeom prst="rect">
            <a:avLst/>
          </a:prstGeom>
          <a:noFill/>
          <a:ln/>
        </p:spPr>
        <p:txBody>
          <a:bodyPr wrap="square" rtlCol="0" anchor="t"/>
          <a:lstStyle/>
          <a:p>
            <a:pPr algn="l" indent="0" marL="0">
              <a:buNone/>
            </a:pPr>
            <a:r>
              <a:rPr lang="en-US" sz="2800" dirty="0">
                <a:solidFill>
                  <a:srgbClr val="002869"/>
                </a:solidFill>
                <a:latin typeface="Gartner Sans Semibold" pitchFamily="34" charset="0"/>
                <a:ea typeface="Gartner Sans Semibold" pitchFamily="34" charset="-122"/>
                <a:cs typeface="Gartner Sans Semibold" pitchFamily="34" charset="-120"/>
              </a:rPr>
              <a:t>Right-Sized Engineering: Avoid Customization Trap</a:t>
            </a:r>
            <a:endParaRPr lang="en-US" sz="2800" dirty="0"/>
          </a:p>
        </p:txBody>
      </p:sp>
      <p:sp>
        <p:nvSpPr>
          <p:cNvPr id="3" name="Text 1"/>
          <p:cNvSpPr/>
          <p:nvPr/>
        </p:nvSpPr>
        <p:spPr>
          <a:xfrm>
            <a:off x="457200" y="1527048"/>
            <a:ext cx="11277295" cy="4462272"/>
          </a:xfrm>
          <a:prstGeom prst="rect">
            <a:avLst/>
          </a:prstGeom>
          <a:noFill/>
          <a:ln/>
        </p:spPr>
        <p:txBody>
          <a:bodyPr wrap="square" rtlCol="0" anchor="t">
            <a:normAutofit/>
          </a:bodyPr>
          <a:lstStyle/>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Curate vendor solutions first.</a:t>
            </a:r>
            <a:pPr indent="0" marL="0">
              <a:buNone/>
            </a:pPr>
            <a:r>
              <a:rPr lang="en-US" sz="2000" dirty="0">
                <a:solidFill>
                  <a:srgbClr val="000000"/>
                </a:solidFill>
                <a:latin typeface="Gartner Sans" pitchFamily="34" charset="0"/>
                <a:ea typeface="Gartner Sans" pitchFamily="34" charset="-122"/>
                <a:cs typeface="Gartner Sans" pitchFamily="34" charset="-120"/>
              </a:rPr>
              <a:t> Use vendors like </a:t>
            </a:r>
            <a:pPr indent="0" marL="0">
              <a:buNone/>
            </a:pPr>
            <a:r>
              <a:rPr lang="en-US" sz="2000" b="1" dirty="0">
                <a:solidFill>
                  <a:srgbClr val="000000"/>
                </a:solidFill>
                <a:latin typeface="Gartner Sans" pitchFamily="34" charset="0"/>
                <a:ea typeface="Gartner Sans" pitchFamily="34" charset="-122"/>
                <a:cs typeface="Gartner Sans" pitchFamily="34" charset="-120"/>
              </a:rPr>
              <a:t>AWS</a:t>
            </a:r>
            <a:pPr indent="0" marL="0">
              <a:buNone/>
            </a:pPr>
            <a:r>
              <a:rPr lang="en-US" sz="2000" dirty="0">
                <a:solidFill>
                  <a:srgbClr val="000000"/>
                </a:solidFill>
                <a:latin typeface="Gartner Sans" pitchFamily="34" charset="0"/>
                <a:ea typeface="Gartner Sans" pitchFamily="34" charset="-122"/>
                <a:cs typeface="Gartner Sans" pitchFamily="34" charset="-120"/>
              </a:rPr>
              <a:t>, </a:t>
            </a:r>
            <a:pPr indent="0" marL="0">
              <a:buNone/>
            </a:pPr>
            <a:r>
              <a:rPr lang="en-US" sz="2000" b="1" dirty="0">
                <a:solidFill>
                  <a:srgbClr val="000000"/>
                </a:solidFill>
                <a:latin typeface="Gartner Sans" pitchFamily="34" charset="0"/>
                <a:ea typeface="Gartner Sans" pitchFamily="34" charset="-122"/>
                <a:cs typeface="Gartner Sans" pitchFamily="34" charset="-120"/>
              </a:rPr>
              <a:t>Azure</a:t>
            </a:r>
            <a:pPr indent="0" marL="0">
              <a:buNone/>
            </a:pPr>
            <a:r>
              <a:rPr lang="en-US" sz="2000" dirty="0">
                <a:solidFill>
                  <a:srgbClr val="000000"/>
                </a:solidFill>
                <a:latin typeface="Gartner Sans" pitchFamily="34" charset="0"/>
                <a:ea typeface="Gartner Sans" pitchFamily="34" charset="-122"/>
                <a:cs typeface="Gartner Sans" pitchFamily="34" charset="-120"/>
              </a:rPr>
              <a:t>, </a:t>
            </a:r>
            <a:pPr indent="0" marL="0">
              <a:buNone/>
            </a:pPr>
            <a:r>
              <a:rPr lang="en-US" sz="2000" b="1" dirty="0">
                <a:solidFill>
                  <a:srgbClr val="000000"/>
                </a:solidFill>
                <a:latin typeface="Gartner Sans" pitchFamily="34" charset="0"/>
                <a:ea typeface="Gartner Sans" pitchFamily="34" charset="-122"/>
                <a:cs typeface="Gartner Sans" pitchFamily="34" charset="-120"/>
              </a:rPr>
              <a:t>Kubernetes</a:t>
            </a:r>
            <a:pPr indent="0" marL="0">
              <a:buNone/>
            </a:pPr>
            <a:r>
              <a:rPr lang="en-US" sz="2000" dirty="0">
                <a:solidFill>
                  <a:srgbClr val="000000"/>
                </a:solidFill>
                <a:latin typeface="Gartner Sans" pitchFamily="34" charset="0"/>
                <a:ea typeface="Gartner Sans" pitchFamily="34" charset="-122"/>
                <a:cs typeface="Gartner Sans" pitchFamily="34" charset="-120"/>
              </a:rPr>
              <a:t> if they deliver 80%+ of required capabilities.</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[1]</a:t>
            </a:r>
            <a:endParaRPr lang="en-US" sz="2000" dirty="0"/>
          </a:p>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Custom development only for true differentiators</a:t>
            </a:r>
            <a:pPr indent="0" marL="0">
              <a:buNone/>
            </a:pPr>
            <a:r>
              <a:rPr lang="en-US" sz="2000" dirty="0">
                <a:solidFill>
                  <a:srgbClr val="000000"/>
                </a:solidFill>
                <a:latin typeface="Gartner Sans" pitchFamily="34" charset="0"/>
                <a:ea typeface="Gartner Sans" pitchFamily="34" charset="-122"/>
                <a:cs typeface="Gartner Sans" pitchFamily="34" charset="-120"/>
              </a:rPr>
              <a:t>: Integrations, governance, or UX layers solving real user pain.</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[2]</a:t>
            </a:r>
            <a:endParaRPr lang="en-US" sz="2000" dirty="0"/>
          </a:p>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Set clear charter guardrails</a:t>
            </a:r>
            <a:pPr indent="0" marL="0">
              <a:buNone/>
            </a:pPr>
            <a:r>
              <a:rPr lang="en-US" sz="2000" dirty="0">
                <a:solidFill>
                  <a:srgbClr val="000000"/>
                </a:solidFill>
                <a:latin typeface="Gartner Sans" pitchFamily="34" charset="0"/>
                <a:ea typeface="Gartner Sans" pitchFamily="34" charset="-122"/>
                <a:cs typeface="Gartner Sans" pitchFamily="34" charset="-120"/>
              </a:rPr>
              <a:t>: Explicitly define what to build, integrate, or configure; prevent scope creep.</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[1]</a:t>
            </a:r>
            <a:endParaRPr lang="en-US" sz="2000" dirty="0"/>
          </a:p>
          <a:p>
            <a:pPr marL="342900" indent="-342900">
              <a:spcAft>
                <a:spcPts val="400"/>
              </a:spcAft>
              <a:buSzPct val="100000"/>
              <a:buChar char="•"/>
            </a:pPr>
            <a:r>
              <a:rPr lang="en-US" sz="2000" u="sng" dirty="0">
                <a:solidFill>
                  <a:srgbClr val="000000"/>
                </a:solidFill>
                <a:latin typeface="Gartner Sans" pitchFamily="34" charset="0"/>
                <a:ea typeface="Gartner Sans" pitchFamily="34" charset="-122"/>
                <a:cs typeface="Gartner Sans" pitchFamily="34" charset="-120"/>
              </a:rPr>
              <a:t>Financial impact</a:t>
            </a:r>
            <a:pPr indent="0" marL="0">
              <a:buNone/>
            </a:pPr>
            <a:r>
              <a:rPr lang="en-US" sz="2000" dirty="0">
                <a:solidFill>
                  <a:srgbClr val="000000"/>
                </a:solidFill>
                <a:latin typeface="Gartner Sans" pitchFamily="34" charset="0"/>
                <a:ea typeface="Gartner Sans" pitchFamily="34" charset="-122"/>
                <a:cs typeface="Gartner Sans" pitchFamily="34" charset="-120"/>
              </a:rPr>
              <a:t>: Anchoring strategy saves 30% on platform tech through 2028.</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[3]</a:t>
            </a:r>
            <a:endParaRPr lang="en-US" sz="2000" dirty="0"/>
          </a:p>
        </p:txBody>
      </p:sp>
      <p:sp>
        <p:nvSpPr>
          <p:cNvPr id="4" name="Text 2"/>
          <p:cNvSpPr/>
          <p:nvPr/>
        </p:nvSpPr>
        <p:spPr>
          <a:xfrm>
            <a:off x="457200" y="6391656"/>
            <a:ext cx="502920" cy="155448"/>
          </a:xfrm>
          <a:prstGeom prst="rect">
            <a:avLst/>
          </a:prstGeom>
          <a:noFill/>
          <a:ln/>
        </p:spPr>
        <p:txBody>
          <a:bodyPr wrap="square" rtlCol="0" anchor="ctr"/>
          <a:lstStyle/>
          <a:p>
            <a:pPr algn="l" indent="0" marL="0">
              <a:buNone/>
            </a:pPr>
            <a:r>
              <a:rPr lang="en-US" sz="700" dirty="0">
                <a:solidFill>
                  <a:srgbClr val="000000"/>
                </a:solidFill>
                <a:latin typeface="Gartner Sans" pitchFamily="34" charset="0"/>
                <a:ea typeface="Gartner Sans" pitchFamily="34" charset="-122"/>
                <a:cs typeface="Gartner Sans" pitchFamily="34" charset="-120"/>
              </a:rPr>
              <a:t>4</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365760"/>
            <a:ext cx="12191695" cy="448056"/>
          </a:xfrm>
          <a:prstGeom prst="rect">
            <a:avLst/>
          </a:prstGeom>
          <a:noFill/>
          <a:ln/>
        </p:spPr>
        <p:txBody>
          <a:bodyPr wrap="square" rtlCol="0" anchor="t"/>
          <a:lstStyle/>
          <a:p>
            <a:pPr algn="l" indent="0" marL="0">
              <a:buNone/>
            </a:pPr>
            <a:r>
              <a:rPr lang="en-US" sz="2800" dirty="0">
                <a:solidFill>
                  <a:srgbClr val="002869"/>
                </a:solidFill>
                <a:latin typeface="Gartner Sans Semibold" pitchFamily="34" charset="0"/>
                <a:ea typeface="Gartner Sans Semibold" pitchFamily="34" charset="-122"/>
                <a:cs typeface="Gartner Sans Semibold" pitchFamily="34" charset="-120"/>
              </a:rPr>
              <a:t>Anchor Each Platform With One Primary Technology</a:t>
            </a:r>
            <a:endParaRPr lang="en-US" sz="2800" dirty="0"/>
          </a:p>
        </p:txBody>
      </p:sp>
      <p:sp>
        <p:nvSpPr>
          <p:cNvPr id="3" name="Text 1"/>
          <p:cNvSpPr/>
          <p:nvPr/>
        </p:nvSpPr>
        <p:spPr>
          <a:xfrm>
            <a:off x="457200" y="1527048"/>
            <a:ext cx="3337560" cy="4462272"/>
          </a:xfrm>
          <a:prstGeom prst="rect">
            <a:avLst/>
          </a:prstGeom>
          <a:noFill/>
          <a:ln/>
        </p:spPr>
        <p:txBody>
          <a:bodyPr wrap="square" rtlCol="0" anchor="t">
            <a:normAutofit/>
          </a:bodyPr>
          <a:lstStyle/>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Cloud Compute:</a:t>
            </a:r>
            <a:pPr indent="0" marL="0">
              <a:buNone/>
            </a:pPr>
            <a:r>
              <a:rPr lang="en-US" sz="2000" dirty="0">
                <a:solidFill>
                  <a:srgbClr val="000000"/>
                </a:solidFill>
                <a:latin typeface="Gartner Sans" pitchFamily="34" charset="0"/>
                <a:ea typeface="Gartner Sans" pitchFamily="34" charset="-122"/>
                <a:cs typeface="Gartner Sans" pitchFamily="34" charset="-120"/>
              </a:rPr>
              <a:t> AWS or Azure (not both unless strategic) — </a:t>
            </a:r>
            <a:pPr indent="0" marL="0">
              <a:buNone/>
            </a:pPr>
            <a:r>
              <a:rPr lang="en-US" sz="2000" u="sng" dirty="0">
                <a:solidFill>
                  <a:srgbClr val="000000"/>
                </a:solidFill>
                <a:latin typeface="Gartner Sans" pitchFamily="34" charset="0"/>
                <a:ea typeface="Gartner Sans" pitchFamily="34" charset="-122"/>
                <a:cs typeface="Gartner Sans" pitchFamily="34" charset="-120"/>
              </a:rPr>
              <a:t>Reduces IaC fragmentation</a:t>
            </a:r>
            <a:pPr indent="0" marL="0">
              <a:buNone/>
            </a:pPr>
            <a:r>
              <a:rPr lang="en-US" sz="2000" dirty="0">
                <a:solidFill>
                  <a:srgbClr val="000000"/>
                </a:solidFill>
                <a:latin typeface="Gartner Sans" pitchFamily="34" charset="0"/>
                <a:ea typeface="Gartner Sans" pitchFamily="34" charset="-122"/>
                <a:cs typeface="Gartner Sans" pitchFamily="34" charset="-120"/>
              </a:rPr>
              <a:t>, simplifies skills.</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[3]</a:t>
            </a:r>
            <a:endParaRPr lang="en-US" sz="2000" dirty="0"/>
          </a:p>
        </p:txBody>
      </p:sp>
      <p:sp>
        <p:nvSpPr>
          <p:cNvPr id="4" name="Text 2"/>
          <p:cNvSpPr/>
          <p:nvPr/>
        </p:nvSpPr>
        <p:spPr>
          <a:xfrm>
            <a:off x="4425696" y="1527048"/>
            <a:ext cx="3337560" cy="4462272"/>
          </a:xfrm>
          <a:prstGeom prst="rect">
            <a:avLst/>
          </a:prstGeom>
          <a:noFill/>
          <a:ln/>
        </p:spPr>
        <p:txBody>
          <a:bodyPr wrap="square" rtlCol="0" anchor="t">
            <a:normAutofit/>
          </a:bodyPr>
          <a:lstStyle/>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Kubernetes:</a:t>
            </a:r>
            <a:pPr indent="0" marL="0">
              <a:buNone/>
            </a:pPr>
            <a:r>
              <a:rPr lang="en-US" sz="2000" dirty="0">
                <a:solidFill>
                  <a:srgbClr val="000000"/>
                </a:solidFill>
                <a:latin typeface="Gartner Sans" pitchFamily="34" charset="0"/>
                <a:ea typeface="Gartner Sans" pitchFamily="34" charset="-122"/>
                <a:cs typeface="Gartner Sans" pitchFamily="34" charset="-120"/>
              </a:rPr>
              <a:t> EKS or AKS (choose based on cloud) — Avoids multi-Kubernetes complexity; standardizes workloads.</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[3]</a:t>
            </a:r>
            <a:endParaRPr lang="en-US" sz="2000" dirty="0"/>
          </a:p>
        </p:txBody>
      </p:sp>
      <p:sp>
        <p:nvSpPr>
          <p:cNvPr id="5" name="Text 3"/>
          <p:cNvSpPr/>
          <p:nvPr/>
        </p:nvSpPr>
        <p:spPr>
          <a:xfrm>
            <a:off x="8394192" y="1527048"/>
            <a:ext cx="3337560" cy="4462272"/>
          </a:xfrm>
          <a:prstGeom prst="rect">
            <a:avLst/>
          </a:prstGeom>
          <a:noFill/>
          <a:ln/>
        </p:spPr>
        <p:txBody>
          <a:bodyPr wrap="square" rtlCol="0" anchor="t">
            <a:normAutofit/>
          </a:bodyPr>
          <a:lstStyle/>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Observability:</a:t>
            </a:r>
            <a:pPr indent="0" marL="0">
              <a:buNone/>
            </a:pPr>
            <a:r>
              <a:rPr lang="en-US" sz="2000" dirty="0">
                <a:solidFill>
                  <a:srgbClr val="000000"/>
                </a:solidFill>
                <a:latin typeface="Gartner Sans" pitchFamily="34" charset="0"/>
                <a:ea typeface="Gartner Sans" pitchFamily="34" charset="-122"/>
                <a:cs typeface="Gartner Sans" pitchFamily="34" charset="-120"/>
              </a:rPr>
              <a:t> Use a single vendor (e.g., Datadog, Splunk) — Eliminates silos, improves cost visibility, enables unified FinOps.</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[3]</a:t>
            </a:r>
            <a:endParaRPr lang="en-US" sz="2000" dirty="0"/>
          </a:p>
        </p:txBody>
      </p:sp>
      <p:sp>
        <p:nvSpPr>
          <p:cNvPr id="6" name="Text 4"/>
          <p:cNvSpPr/>
          <p:nvPr/>
        </p:nvSpPr>
        <p:spPr>
          <a:xfrm>
            <a:off x="457200" y="6391656"/>
            <a:ext cx="502920" cy="155448"/>
          </a:xfrm>
          <a:prstGeom prst="rect">
            <a:avLst/>
          </a:prstGeom>
          <a:noFill/>
          <a:ln/>
        </p:spPr>
        <p:txBody>
          <a:bodyPr wrap="square" rtlCol="0" anchor="ctr"/>
          <a:lstStyle/>
          <a:p>
            <a:pPr algn="l" indent="0" marL="0">
              <a:buNone/>
            </a:pPr>
            <a:r>
              <a:rPr lang="en-US" sz="700" dirty="0">
                <a:solidFill>
                  <a:srgbClr val="000000"/>
                </a:solidFill>
                <a:latin typeface="Gartner Sans" pitchFamily="34" charset="0"/>
                <a:ea typeface="Gartner Sans" pitchFamily="34" charset="-122"/>
                <a:cs typeface="Gartner Sans" pitchFamily="34" charset="-120"/>
              </a:rPr>
              <a:t>5</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365760"/>
            <a:ext cx="12191695" cy="448056"/>
          </a:xfrm>
          <a:prstGeom prst="rect">
            <a:avLst/>
          </a:prstGeom>
          <a:noFill/>
          <a:ln/>
        </p:spPr>
        <p:txBody>
          <a:bodyPr wrap="square" rtlCol="0" anchor="t"/>
          <a:lstStyle/>
          <a:p>
            <a:pPr algn="l" indent="0" marL="0">
              <a:buNone/>
            </a:pPr>
            <a:r>
              <a:rPr lang="en-US" sz="2800" dirty="0">
                <a:solidFill>
                  <a:srgbClr val="002869"/>
                </a:solidFill>
                <a:latin typeface="Gartner Sans Semibold" pitchFamily="34" charset="0"/>
                <a:ea typeface="Gartner Sans Semibold" pitchFamily="34" charset="-122"/>
                <a:cs typeface="Gartner Sans Semibold" pitchFamily="34" charset="-120"/>
              </a:rPr>
              <a:t>Enforce Reuse—Make It Non-Negotiable</a:t>
            </a:r>
            <a:endParaRPr lang="en-US" sz="2800" dirty="0"/>
          </a:p>
        </p:txBody>
      </p:sp>
      <p:sp>
        <p:nvSpPr>
          <p:cNvPr id="3" name="Text 1"/>
          <p:cNvSpPr/>
          <p:nvPr/>
        </p:nvSpPr>
        <p:spPr>
          <a:xfrm>
            <a:off x="457200" y="1527048"/>
            <a:ext cx="11277295" cy="4462272"/>
          </a:xfrm>
          <a:prstGeom prst="rect">
            <a:avLst/>
          </a:prstGeom>
          <a:noFill/>
          <a:ln/>
        </p:spPr>
        <p:txBody>
          <a:bodyPr wrap="square" rtlCol="0" anchor="t">
            <a:normAutofit/>
          </a:bodyPr>
          <a:lstStyle/>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Create a capability inventory.</a:t>
            </a:r>
            <a:pPr indent="0" marL="0">
              <a:buNone/>
            </a:pPr>
            <a:r>
              <a:rPr lang="en-US" sz="2000" dirty="0">
                <a:solidFill>
                  <a:srgbClr val="000000"/>
                </a:solidFill>
                <a:latin typeface="Gartner Sans" pitchFamily="34" charset="0"/>
                <a:ea typeface="Gartner Sans" pitchFamily="34" charset="-122"/>
                <a:cs typeface="Gartner Sans" pitchFamily="34" charset="-120"/>
              </a:rPr>
              <a:t> Document platform offerings (cloud, Kubernetes, networking, AI) and publish </a:t>
            </a:r>
            <a:pPr indent="0" marL="0">
              <a:buNone/>
            </a:pPr>
            <a:r>
              <a:rPr lang="en-US" sz="2000" u="sng" dirty="0">
                <a:solidFill>
                  <a:srgbClr val="000000"/>
                </a:solidFill>
                <a:latin typeface="Gartner Sans" pitchFamily="34" charset="0"/>
                <a:ea typeface="Gartner Sans" pitchFamily="34" charset="-122"/>
                <a:cs typeface="Gartner Sans" pitchFamily="34" charset="-120"/>
              </a:rPr>
              <a:t>widely</a:t>
            </a:r>
            <a:pPr indent="0" marL="0">
              <a:buNone/>
            </a:pPr>
            <a:r>
              <a:rPr lang="en-US" sz="2000" dirty="0">
                <a:solidFill>
                  <a:srgbClr val="000000"/>
                </a:solidFill>
                <a:latin typeface="Gartner Sans" pitchFamily="34" charset="0"/>
                <a:ea typeface="Gartner Sans" pitchFamily="34" charset="-122"/>
                <a:cs typeface="Gartner Sans" pitchFamily="34" charset="-120"/>
              </a:rPr>
              <a:t>.</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[3]</a:t>
            </a:r>
            <a:endParaRPr lang="en-US" sz="2000" dirty="0"/>
          </a:p>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Require justification to build new tools</a:t>
            </a:r>
            <a:pPr indent="0" marL="0">
              <a:buNone/>
            </a:pPr>
            <a:r>
              <a:rPr lang="en-US" sz="2000" dirty="0">
                <a:solidFill>
                  <a:srgbClr val="000000"/>
                </a:solidFill>
                <a:latin typeface="Gartner Sans" pitchFamily="34" charset="0"/>
                <a:ea typeface="Gartner Sans" pitchFamily="34" charset="-122"/>
                <a:cs typeface="Gartner Sans" pitchFamily="34" charset="-120"/>
              </a:rPr>
              <a:t>: Teams must show why existing platforms can't meet needs.</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[3]</a:t>
            </a:r>
            <a:endParaRPr lang="en-US" sz="2000" dirty="0"/>
          </a:p>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Co-invest with enterprise architecture.</a:t>
            </a:r>
            <a:pPr indent="0" marL="0">
              <a:buNone/>
            </a:pPr>
            <a:r>
              <a:rPr lang="en-US" sz="2000" dirty="0">
                <a:solidFill>
                  <a:srgbClr val="000000"/>
                </a:solidFill>
                <a:latin typeface="Gartner Sans" pitchFamily="34" charset="0"/>
                <a:ea typeface="Gartner Sans" pitchFamily="34" charset="-122"/>
                <a:cs typeface="Gartner Sans" pitchFamily="34" charset="-120"/>
              </a:rPr>
              <a:t> Maintain reference architectures; put platform reps on governance committees.</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[3]</a:t>
            </a:r>
            <a:endParaRPr lang="en-US" sz="2000" dirty="0"/>
          </a:p>
          <a:p>
            <a:pPr marL="342900" indent="-342900">
              <a:spcAft>
                <a:spcPts val="400"/>
              </a:spcAft>
              <a:buSzPct val="100000"/>
              <a:buChar char="•"/>
            </a:pPr>
            <a:r>
              <a:rPr lang="en-US" sz="2000" dirty="0">
                <a:solidFill>
                  <a:srgbClr val="000000"/>
                </a:solidFill>
                <a:latin typeface="Gartner Sans" pitchFamily="34" charset="0"/>
                <a:ea typeface="Gartner Sans" pitchFamily="34" charset="-122"/>
                <a:cs typeface="Gartner Sans" pitchFamily="34" charset="-120"/>
              </a:rPr>
              <a:t>Enforcing reuse reduces TCO, lowers team cognitive load, and amplifies platform network effects.</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[3]</a:t>
            </a:r>
            <a:endParaRPr lang="en-US" sz="2000" dirty="0"/>
          </a:p>
        </p:txBody>
      </p:sp>
      <p:sp>
        <p:nvSpPr>
          <p:cNvPr id="4" name="Text 2"/>
          <p:cNvSpPr/>
          <p:nvPr/>
        </p:nvSpPr>
        <p:spPr>
          <a:xfrm>
            <a:off x="457200" y="6391656"/>
            <a:ext cx="502920" cy="155448"/>
          </a:xfrm>
          <a:prstGeom prst="rect">
            <a:avLst/>
          </a:prstGeom>
          <a:noFill/>
          <a:ln/>
        </p:spPr>
        <p:txBody>
          <a:bodyPr wrap="square" rtlCol="0" anchor="ctr"/>
          <a:lstStyle/>
          <a:p>
            <a:pPr algn="l" indent="0" marL="0">
              <a:buNone/>
            </a:pPr>
            <a:r>
              <a:rPr lang="en-US" sz="700" dirty="0">
                <a:solidFill>
                  <a:srgbClr val="000000"/>
                </a:solidFill>
                <a:latin typeface="Gartner Sans" pitchFamily="34" charset="0"/>
                <a:ea typeface="Gartner Sans" pitchFamily="34" charset="-122"/>
                <a:cs typeface="Gartner Sans" pitchFamily="34" charset="-120"/>
              </a:rPr>
              <a:t>6</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365760"/>
            <a:ext cx="12191695" cy="448056"/>
          </a:xfrm>
          <a:prstGeom prst="rect">
            <a:avLst/>
          </a:prstGeom>
          <a:noFill/>
          <a:ln/>
        </p:spPr>
        <p:txBody>
          <a:bodyPr wrap="square" rtlCol="0" anchor="t"/>
          <a:lstStyle/>
          <a:p>
            <a:pPr algn="l" indent="0" marL="0">
              <a:buNone/>
            </a:pPr>
            <a:r>
              <a:rPr lang="en-US" sz="2800" dirty="0">
                <a:solidFill>
                  <a:srgbClr val="002869"/>
                </a:solidFill>
                <a:latin typeface="Gartner Sans Semibold" pitchFamily="34" charset="0"/>
                <a:ea typeface="Gartner Sans Semibold" pitchFamily="34" charset="-122"/>
                <a:cs typeface="Gartner Sans Semibold" pitchFamily="34" charset="-120"/>
              </a:rPr>
              <a:t>Ownership and Team Structure</a:t>
            </a:r>
            <a:endParaRPr lang="en-US" sz="2800" dirty="0"/>
          </a:p>
        </p:txBody>
      </p:sp>
      <p:sp>
        <p:nvSpPr>
          <p:cNvPr id="3" name="Text 1"/>
          <p:cNvSpPr/>
          <p:nvPr/>
        </p:nvSpPr>
        <p:spPr>
          <a:xfrm>
            <a:off x="457200" y="1527048"/>
            <a:ext cx="5550408" cy="4462272"/>
          </a:xfrm>
          <a:prstGeom prst="rect">
            <a:avLst/>
          </a:prstGeom>
          <a:noFill/>
          <a:ln/>
        </p:spPr>
        <p:txBody>
          <a:bodyPr wrap="square" rtlCol="0" anchor="t">
            <a:normAutofit/>
          </a:bodyPr>
          <a:lstStyle/>
          <a:p>
            <a:pPr marL="342900" indent="-342900">
              <a:spcAft>
                <a:spcPts val="400"/>
              </a:spcAft>
              <a:buSzPct val="100000"/>
              <a:buFont typeface="+mj-lt"/>
              <a:buAutoNum type="arabicPeriod" startAt="1"/>
            </a:pPr>
            <a:r>
              <a:rPr lang="en-US" sz="2000" b="1" dirty="0">
                <a:solidFill>
                  <a:srgbClr val="000000"/>
                </a:solidFill>
                <a:latin typeface="Gartner Sans" pitchFamily="34" charset="0"/>
                <a:ea typeface="Gartner Sans" pitchFamily="34" charset="-122"/>
                <a:cs typeface="Gartner Sans" pitchFamily="34" charset="-120"/>
              </a:rPr>
              <a:t>Dedicated Platform Owners:</a:t>
            </a:r>
            <a:pPr indent="0" marL="0">
              <a:buNone/>
            </a:pPr>
            <a:r>
              <a:rPr lang="en-US" sz="2000" dirty="0">
                <a:solidFill>
                  <a:srgbClr val="000000"/>
                </a:solidFill>
                <a:latin typeface="Gartner Sans" pitchFamily="34" charset="0"/>
                <a:ea typeface="Gartner Sans" pitchFamily="34" charset="-122"/>
                <a:cs typeface="Gartner Sans" pitchFamily="34" charset="-120"/>
              </a:rPr>
              <a:t> Assign a single, accountable leader per platform—strategy, roadmap, quality, user feedback.</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[1]</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[4]</a:t>
            </a:r>
            <a:endParaRPr lang="en-US" sz="2000" dirty="0"/>
          </a:p>
          <a:p>
            <a:pPr marL="342900" indent="-342900">
              <a:spcAft>
                <a:spcPts val="400"/>
              </a:spcAft>
              <a:buSzPct val="100000"/>
              <a:buFont typeface="+mj-lt"/>
              <a:buAutoNum type="arabicPeriod" startAt="1"/>
            </a:pPr>
            <a:r>
              <a:rPr lang="en-US" sz="2000" b="1" dirty="0">
                <a:solidFill>
                  <a:srgbClr val="000000"/>
                </a:solidFill>
                <a:latin typeface="Gartner Sans" pitchFamily="34" charset="0"/>
                <a:ea typeface="Gartner Sans" pitchFamily="34" charset="-122"/>
                <a:cs typeface="Gartner Sans" pitchFamily="34" charset="-120"/>
              </a:rPr>
              <a:t>Cross-Functional Teams:</a:t>
            </a:r>
            <a:pPr indent="0" marL="0">
              <a:buNone/>
            </a:pPr>
            <a:r>
              <a:rPr lang="en-US" sz="2000" dirty="0">
                <a:solidFill>
                  <a:srgbClr val="000000"/>
                </a:solidFill>
                <a:latin typeface="Gartner Sans" pitchFamily="34" charset="0"/>
                <a:ea typeface="Gartner Sans" pitchFamily="34" charset="-122"/>
                <a:cs typeface="Gartner Sans" pitchFamily="34" charset="-120"/>
              </a:rPr>
              <a:t> Architect, automation engineer, software engineer, product manager, operations—agile squad.</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[1]</a:t>
            </a:r>
            <a:endParaRPr lang="en-US" sz="2000" dirty="0"/>
          </a:p>
          <a:p>
            <a:pPr marL="342900" indent="-342900">
              <a:spcAft>
                <a:spcPts val="400"/>
              </a:spcAft>
              <a:buSzPct val="100000"/>
              <a:buFont typeface="+mj-lt"/>
              <a:buAutoNum type="arabicPeriod" startAt="1"/>
            </a:pPr>
            <a:r>
              <a:rPr lang="en-US" sz="2000" b="1" dirty="0">
                <a:solidFill>
                  <a:srgbClr val="000000"/>
                </a:solidFill>
                <a:latin typeface="Gartner Sans" pitchFamily="34" charset="0"/>
                <a:ea typeface="Gartner Sans" pitchFamily="34" charset="-122"/>
                <a:cs typeface="Gartner Sans" pitchFamily="34" charset="-120"/>
              </a:rPr>
              <a:t>Skip generalists:</a:t>
            </a:r>
            <a:pPr indent="0" marL="0">
              <a:buNone/>
            </a:pPr>
            <a:r>
              <a:rPr lang="en-US" sz="2000" dirty="0">
                <a:solidFill>
                  <a:srgbClr val="000000"/>
                </a:solidFill>
                <a:latin typeface="Gartner Sans" pitchFamily="34" charset="0"/>
                <a:ea typeface="Gartner Sans" pitchFamily="34" charset="-122"/>
                <a:cs typeface="Gartner Sans" pitchFamily="34" charset="-120"/>
              </a:rPr>
              <a:t> Borrow experienced agile squads from dev teams for skill transfer.</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[1]</a:t>
            </a:r>
            <a:endParaRPr lang="en-US" sz="2000" dirty="0"/>
          </a:p>
        </p:txBody>
      </p:sp>
      <p:sp>
        <p:nvSpPr>
          <p:cNvPr id="4" name="Text 2"/>
          <p:cNvSpPr/>
          <p:nvPr/>
        </p:nvSpPr>
        <p:spPr>
          <a:xfrm>
            <a:off x="6236208" y="1527048"/>
            <a:ext cx="5550408" cy="4462272"/>
          </a:xfrm>
          <a:prstGeom prst="rect">
            <a:avLst/>
          </a:prstGeom>
          <a:noFill/>
          <a:ln/>
        </p:spPr>
        <p:txBody>
          <a:bodyPr wrap="square" rtlCol="0" anchor="t">
            <a:normAutofit/>
          </a:bodyPr>
          <a:lstStyle/>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Co-Invest With Leaders:</a:t>
            </a:r>
            <a:pPr indent="0" marL="0">
              <a:buNone/>
            </a:pPr>
            <a:r>
              <a:rPr lang="en-US" sz="2000" dirty="0">
                <a:solidFill>
                  <a:srgbClr val="000000"/>
                </a:solidFill>
                <a:latin typeface="Gartner Sans" pitchFamily="34" charset="0"/>
                <a:ea typeface="Gartner Sans" pitchFamily="34" charset="-122"/>
                <a:cs typeface="Gartner Sans" pitchFamily="34" charset="-120"/>
              </a:rPr>
              <a:t> Fund platforms jointly with </a:t>
            </a:r>
            <a:pPr indent="0" marL="0">
              <a:buNone/>
            </a:pPr>
            <a:r>
              <a:rPr lang="en-US" sz="2000" b="1" dirty="0">
                <a:solidFill>
                  <a:srgbClr val="000000"/>
                </a:solidFill>
                <a:latin typeface="Gartner Sans" pitchFamily="34" charset="0"/>
                <a:ea typeface="Gartner Sans" pitchFamily="34" charset="-122"/>
                <a:cs typeface="Gartner Sans" pitchFamily="34" charset="-120"/>
              </a:rPr>
              <a:t>Finance (FinOps/Cost)</a:t>
            </a:r>
            <a:pPr indent="0" marL="0">
              <a:buNone/>
            </a:pPr>
            <a:r>
              <a:rPr lang="en-US" sz="2000" dirty="0">
                <a:solidFill>
                  <a:srgbClr val="000000"/>
                </a:solidFill>
                <a:latin typeface="Gartner Sans" pitchFamily="34" charset="0"/>
                <a:ea typeface="Gartner Sans" pitchFamily="34" charset="-122"/>
                <a:cs typeface="Gartner Sans" pitchFamily="34" charset="-120"/>
              </a:rPr>
              <a:t>, </a:t>
            </a:r>
            <a:pPr indent="0" marL="0">
              <a:buNone/>
            </a:pPr>
            <a:r>
              <a:rPr lang="en-US" sz="2000" b="1" dirty="0">
                <a:solidFill>
                  <a:srgbClr val="000000"/>
                </a:solidFill>
                <a:latin typeface="Gartner Sans" pitchFamily="34" charset="0"/>
                <a:ea typeface="Gartner Sans" pitchFamily="34" charset="-122"/>
                <a:cs typeface="Gartner Sans" pitchFamily="34" charset="-120"/>
              </a:rPr>
              <a:t>Security (CISO)</a:t>
            </a:r>
            <a:pPr indent="0" marL="0">
              <a:buNone/>
            </a:pPr>
            <a:r>
              <a:rPr lang="en-US" sz="2000" dirty="0">
                <a:solidFill>
                  <a:srgbClr val="000000"/>
                </a:solidFill>
                <a:latin typeface="Gartner Sans" pitchFamily="34" charset="0"/>
                <a:ea typeface="Gartner Sans" pitchFamily="34" charset="-122"/>
                <a:cs typeface="Gartner Sans" pitchFamily="34" charset="-120"/>
              </a:rPr>
              <a:t>, </a:t>
            </a:r>
            <a:pPr indent="0" marL="0">
              <a:buNone/>
            </a:pPr>
            <a:r>
              <a:rPr lang="en-US" sz="2000" b="1" dirty="0">
                <a:solidFill>
                  <a:srgbClr val="000000"/>
                </a:solidFill>
                <a:latin typeface="Gartner Sans" pitchFamily="34" charset="0"/>
                <a:ea typeface="Gartner Sans" pitchFamily="34" charset="-122"/>
                <a:cs typeface="Gartner Sans" pitchFamily="34" charset="-120"/>
              </a:rPr>
              <a:t>Data (CDAO)</a:t>
            </a:r>
            <a:pPr indent="0" marL="0">
              <a:buNone/>
            </a:pPr>
            <a:r>
              <a:rPr lang="en-US" sz="2000" dirty="0">
                <a:solidFill>
                  <a:srgbClr val="000000"/>
                </a:solidFill>
                <a:latin typeface="Gartner Sans" pitchFamily="34" charset="0"/>
                <a:ea typeface="Gartner Sans" pitchFamily="34" charset="-122"/>
                <a:cs typeface="Gartner Sans" pitchFamily="34" charset="-120"/>
              </a:rPr>
              <a:t>, </a:t>
            </a:r>
            <a:pPr indent="0" marL="0">
              <a:buNone/>
            </a:pPr>
            <a:r>
              <a:rPr lang="en-US" sz="2000" b="1" dirty="0">
                <a:solidFill>
                  <a:srgbClr val="000000"/>
                </a:solidFill>
                <a:latin typeface="Gartner Sans" pitchFamily="34" charset="0"/>
                <a:ea typeface="Gartner Sans" pitchFamily="34" charset="-122"/>
                <a:cs typeface="Gartner Sans" pitchFamily="34" charset="-120"/>
              </a:rPr>
              <a:t>AI (CAIO)</a:t>
            </a:r>
            <a:pPr indent="0" marL="0">
              <a:buNone/>
            </a:pPr>
            <a:r>
              <a:rPr lang="en-US" sz="2000" dirty="0">
                <a:solidFill>
                  <a:srgbClr val="000000"/>
                </a:solidFill>
                <a:latin typeface="Gartner Sans" pitchFamily="34" charset="0"/>
                <a:ea typeface="Gartner Sans" pitchFamily="34" charset="-122"/>
                <a:cs typeface="Gartner Sans" pitchFamily="34" charset="-120"/>
              </a:rPr>
              <a:t>.</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5" invalidUrl="" action="" tgtFrame="" tooltip="" history="1" highlightClick="0" endSnd="0">
                  <a:extLst>
                    <a:ext uri="{A12FA001-AC4F-418D-AE19-62706E023703}">
                      <ahyp:hlinkClr xmlns:ahyp="http://schemas.microsoft.com/office/drawing/2018/hyperlinkcolor" val="tx"/>
                    </a:ext>
                  </a:extLst>
                </a:hlinkClick>
              </a:rPr>
              <a:t>[1]</a:t>
            </a:r>
            <a:endParaRPr lang="en-US" sz="2000" dirty="0"/>
          </a:p>
          <a:p>
            <a:pPr marL="342900" indent="-342900">
              <a:spcAft>
                <a:spcPts val="400"/>
              </a:spcAft>
              <a:buSzPct val="100000"/>
              <a:buChar char="•"/>
            </a:pPr>
            <a:r>
              <a:rPr lang="en-US" sz="2000" dirty="0">
                <a:solidFill>
                  <a:srgbClr val="000000"/>
                </a:solidFill>
                <a:latin typeface="Gartner Sans" pitchFamily="34" charset="0"/>
                <a:ea typeface="Gartner Sans" pitchFamily="34" charset="-122"/>
                <a:cs typeface="Gartner Sans" pitchFamily="34" charset="-120"/>
              </a:rPr>
              <a:t>Solves shared problems; funds platforms as strategic investments, not siloed I&amp;O costs.</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6" invalidUrl="" action="" tgtFrame="" tooltip="" history="1" highlightClick="0" endSnd="0">
                  <a:extLst>
                    <a:ext uri="{A12FA001-AC4F-418D-AE19-62706E023703}">
                      <ahyp:hlinkClr xmlns:ahyp="http://schemas.microsoft.com/office/drawing/2018/hyperlinkcolor" val="tx"/>
                    </a:ext>
                  </a:extLst>
                </a:hlinkClick>
              </a:rPr>
              <a:t>[1]</a:t>
            </a:r>
            <a:endParaRPr lang="en-US" sz="2000" dirty="0"/>
          </a:p>
        </p:txBody>
      </p:sp>
      <p:sp>
        <p:nvSpPr>
          <p:cNvPr id="5" name="Text 3"/>
          <p:cNvSpPr/>
          <p:nvPr/>
        </p:nvSpPr>
        <p:spPr>
          <a:xfrm>
            <a:off x="457200" y="6391656"/>
            <a:ext cx="502920" cy="155448"/>
          </a:xfrm>
          <a:prstGeom prst="rect">
            <a:avLst/>
          </a:prstGeom>
          <a:noFill/>
          <a:ln/>
        </p:spPr>
        <p:txBody>
          <a:bodyPr wrap="square" rtlCol="0" anchor="ctr"/>
          <a:lstStyle/>
          <a:p>
            <a:pPr algn="l" indent="0" marL="0">
              <a:buNone/>
            </a:pPr>
            <a:r>
              <a:rPr lang="en-US" sz="700" dirty="0">
                <a:solidFill>
                  <a:srgbClr val="000000"/>
                </a:solidFill>
                <a:latin typeface="Gartner Sans" pitchFamily="34" charset="0"/>
                <a:ea typeface="Gartner Sans" pitchFamily="34" charset="-122"/>
                <a:cs typeface="Gartner Sans" pitchFamily="34" charset="-120"/>
              </a:rPr>
              <a:t>7</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365760"/>
            <a:ext cx="12191695" cy="448056"/>
          </a:xfrm>
          <a:prstGeom prst="rect">
            <a:avLst/>
          </a:prstGeom>
          <a:noFill/>
          <a:ln/>
        </p:spPr>
        <p:txBody>
          <a:bodyPr wrap="square" rtlCol="0" anchor="t"/>
          <a:lstStyle/>
          <a:p>
            <a:pPr algn="l" indent="0" marL="0">
              <a:buNone/>
            </a:pPr>
            <a:r>
              <a:rPr lang="en-US" sz="2800" dirty="0">
                <a:solidFill>
                  <a:srgbClr val="002869"/>
                </a:solidFill>
                <a:latin typeface="Gartner Sans Semibold" pitchFamily="34" charset="0"/>
                <a:ea typeface="Gartner Sans Semibold" pitchFamily="34" charset="-122"/>
                <a:cs typeface="Gartner Sans Semibold" pitchFamily="34" charset="-120"/>
              </a:rPr>
              <a:t>User Experience and Value Leakage</a:t>
            </a:r>
            <a:endParaRPr lang="en-US" sz="2800" dirty="0"/>
          </a:p>
        </p:txBody>
      </p:sp>
      <p:sp>
        <p:nvSpPr>
          <p:cNvPr id="3" name="Text 1"/>
          <p:cNvSpPr/>
          <p:nvPr/>
        </p:nvSpPr>
        <p:spPr>
          <a:xfrm>
            <a:off x="457200" y="1527048"/>
            <a:ext cx="5550408" cy="4462272"/>
          </a:xfrm>
          <a:prstGeom prst="rect">
            <a:avLst/>
          </a:prstGeom>
          <a:noFill/>
          <a:ln/>
        </p:spPr>
        <p:txBody>
          <a:bodyPr wrap="square" rtlCol="0" anchor="t">
            <a:normAutofit/>
          </a:bodyPr>
          <a:lstStyle/>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Focus on Developer Experience:</a:t>
            </a:r>
            <a:pPr indent="0" marL="0">
              <a:buNone/>
            </a:pPr>
            <a:r>
              <a:rPr lang="en-US" sz="2000" dirty="0">
                <a:solidFill>
                  <a:srgbClr val="000000"/>
                </a:solidFill>
                <a:latin typeface="Gartner Sans" pitchFamily="34" charset="0"/>
                <a:ea typeface="Gartner Sans" pitchFamily="34" charset="-122"/>
                <a:cs typeface="Gartner Sans" pitchFamily="34" charset="-120"/>
              </a:rPr>
              <a:t> Measure CES, CSAT, NPS; target CES </a:t>
            </a:r>
            <a:pPr indent="0" marL="0">
              <a:buNone/>
            </a:pPr>
            <a:r>
              <a:rPr lang="en-US" sz="2000" u="sng" dirty="0">
                <a:solidFill>
                  <a:srgbClr val="000000"/>
                </a:solidFill>
                <a:latin typeface="Gartner Sans" pitchFamily="34" charset="0"/>
                <a:ea typeface="Gartner Sans" pitchFamily="34" charset="-122"/>
                <a:cs typeface="Gartner Sans" pitchFamily="34" charset="-120"/>
              </a:rPr>
              <a:t>low</a:t>
            </a:r>
            <a:pPr indent="0" marL="0">
              <a:buNone/>
            </a:pPr>
            <a:r>
              <a:rPr lang="en-US" sz="2000" dirty="0">
                <a:solidFill>
                  <a:srgbClr val="000000"/>
                </a:solidFill>
                <a:latin typeface="Gartner Sans" pitchFamily="34" charset="0"/>
                <a:ea typeface="Gartner Sans" pitchFamily="34" charset="-122"/>
                <a:cs typeface="Gartner Sans" pitchFamily="34" charset="-120"/>
              </a:rPr>
              <a:t> friction, CSAT 4+/5, NPS 50+.</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[4]</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[5]</a:t>
            </a:r>
            <a:endParaRPr lang="en-US" sz="2000" dirty="0"/>
          </a:p>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Make Self-Service Invisible:</a:t>
            </a:r>
            <a:pPr indent="0" marL="0">
              <a:buNone/>
            </a:pPr>
            <a:r>
              <a:rPr lang="en-US" sz="2000" dirty="0">
                <a:solidFill>
                  <a:srgbClr val="000000"/>
                </a:solidFill>
                <a:latin typeface="Gartner Sans" pitchFamily="34" charset="0"/>
                <a:ea typeface="Gartner Sans" pitchFamily="34" charset="-122"/>
                <a:cs typeface="Gartner Sans" pitchFamily="34" charset="-120"/>
              </a:rPr>
              <a:t> Documentation, API/CLI/UI options, guided onboarding, tool integration.</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[6]</a:t>
            </a:r>
            <a:endParaRPr lang="en-US" sz="2000" dirty="0"/>
          </a:p>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Internal Developer Platforms (IDP):</a:t>
            </a:r>
            <a:pPr indent="0" marL="0">
              <a:buNone/>
            </a:pPr>
            <a:r>
              <a:rPr lang="en-US" sz="2000" dirty="0">
                <a:solidFill>
                  <a:srgbClr val="000000"/>
                </a:solidFill>
                <a:latin typeface="Gartner Sans" pitchFamily="34" charset="0"/>
                <a:ea typeface="Gartner Sans" pitchFamily="34" charset="-122"/>
                <a:cs typeface="Gartner Sans" pitchFamily="34" charset="-120"/>
              </a:rPr>
              <a:t> Unified interfaces shield teams from cloud and policy complexity.</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[6]</a:t>
            </a:r>
            <a:endParaRPr lang="en-US" sz="2000" dirty="0"/>
          </a:p>
        </p:txBody>
      </p:sp>
      <p:sp>
        <p:nvSpPr>
          <p:cNvPr id="4" name="Text 2"/>
          <p:cNvSpPr/>
          <p:nvPr/>
        </p:nvSpPr>
        <p:spPr>
          <a:xfrm>
            <a:off x="6236208" y="1527048"/>
            <a:ext cx="5550408" cy="4462272"/>
          </a:xfrm>
          <a:prstGeom prst="rect">
            <a:avLst/>
          </a:prstGeom>
          <a:noFill/>
          <a:ln/>
        </p:spPr>
        <p:txBody>
          <a:bodyPr wrap="square" rtlCol="0" anchor="t">
            <a:normAutofit/>
          </a:bodyPr>
          <a:lstStyle/>
          <a:p>
            <a:pPr marL="342900" indent="-342900">
              <a:spcAft>
                <a:spcPts val="400"/>
              </a:spcAft>
              <a:buSzPct val="100000"/>
              <a:buChar char="•"/>
            </a:pPr>
            <a:r>
              <a:rPr lang="en-US" sz="2000" u="sng" dirty="0">
                <a:solidFill>
                  <a:srgbClr val="000000"/>
                </a:solidFill>
                <a:latin typeface="Gartner Sans" pitchFamily="34" charset="0"/>
                <a:ea typeface="Gartner Sans" pitchFamily="34" charset="-122"/>
                <a:cs typeface="Gartner Sans" pitchFamily="34" charset="-120"/>
              </a:rPr>
              <a:t>Trap: Policy Fragmentation</a:t>
            </a:r>
            <a:pPr indent="0" marL="0">
              <a:buNone/>
            </a:pPr>
            <a:r>
              <a:rPr lang="en-US" sz="2000" dirty="0">
                <a:solidFill>
                  <a:srgbClr val="000000"/>
                </a:solidFill>
                <a:latin typeface="Gartner Sans" pitchFamily="34" charset="0"/>
                <a:ea typeface="Gartner Sans" pitchFamily="34" charset="-122"/>
                <a:cs typeface="Gartner Sans" pitchFamily="34" charset="-120"/>
              </a:rPr>
              <a:t>: Cross-domain teams use disparate tools—build policy orchestration layers, inventory policies, use AI for contradictions.</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5" invalidUrl="" action="" tgtFrame="" tooltip="" history="1" highlightClick="0" endSnd="0">
                  <a:extLst>
                    <a:ext uri="{A12FA001-AC4F-418D-AE19-62706E023703}">
                      <ahyp:hlinkClr xmlns:ahyp="http://schemas.microsoft.com/office/drawing/2018/hyperlinkcolor" val="tx"/>
                    </a:ext>
                  </a:extLst>
                </a:hlinkClick>
              </a:rPr>
              <a:t>[6]</a:t>
            </a:r>
            <a:endParaRPr lang="en-US" sz="2000" dirty="0"/>
          </a:p>
          <a:p>
            <a:pPr marL="342900" indent="-342900">
              <a:spcAft>
                <a:spcPts val="400"/>
              </a:spcAft>
              <a:buSzPct val="100000"/>
              <a:buChar char="•"/>
            </a:pPr>
            <a:r>
              <a:rPr lang="en-US" sz="2000" u="sng" dirty="0">
                <a:solidFill>
                  <a:srgbClr val="000000"/>
                </a:solidFill>
                <a:latin typeface="Gartner Sans" pitchFamily="34" charset="0"/>
                <a:ea typeface="Gartner Sans" pitchFamily="34" charset="-122"/>
                <a:cs typeface="Gartner Sans" pitchFamily="34" charset="-120"/>
              </a:rPr>
              <a:t>Trap: Over-Engineering</a:t>
            </a:r>
            <a:pPr indent="0" marL="0">
              <a:buNone/>
            </a:pPr>
            <a:r>
              <a:rPr lang="en-US" sz="2000" dirty="0">
                <a:solidFill>
                  <a:srgbClr val="000000"/>
                </a:solidFill>
                <a:latin typeface="Gartner Sans" pitchFamily="34" charset="0"/>
                <a:ea typeface="Gartner Sans" pitchFamily="34" charset="-122"/>
                <a:cs typeface="Gartner Sans" pitchFamily="34" charset="-120"/>
              </a:rPr>
              <a:t>: Ruthlessly retire low-usage features, use 80/20 rule; route niche needs to self-service.</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6" invalidUrl="" action="" tgtFrame="" tooltip="" history="1" highlightClick="0" endSnd="0">
                  <a:extLst>
                    <a:ext uri="{A12FA001-AC4F-418D-AE19-62706E023703}">
                      <ahyp:hlinkClr xmlns:ahyp="http://schemas.microsoft.com/office/drawing/2018/hyperlinkcolor" val="tx"/>
                    </a:ext>
                  </a:extLst>
                </a:hlinkClick>
              </a:rPr>
              <a:t>[1]</a:t>
            </a:r>
            <a:endParaRPr lang="en-US" sz="2000" dirty="0"/>
          </a:p>
          <a:p>
            <a:pPr marL="342900" indent="-342900">
              <a:spcAft>
                <a:spcPts val="400"/>
              </a:spcAft>
              <a:buSzPct val="100000"/>
              <a:buChar char="•"/>
            </a:pPr>
            <a:r>
              <a:rPr lang="en-US" sz="2000" u="sng" dirty="0">
                <a:solidFill>
                  <a:srgbClr val="000000"/>
                </a:solidFill>
                <a:latin typeface="Gartner Sans" pitchFamily="34" charset="0"/>
                <a:ea typeface="Gartner Sans" pitchFamily="34" charset="-122"/>
                <a:cs typeface="Gartner Sans" pitchFamily="34" charset="-120"/>
              </a:rPr>
              <a:t>Trap: Disconnect From Business Outcomes</a:t>
            </a:r>
            <a:pPr indent="0" marL="0">
              <a:buNone/>
            </a:pPr>
            <a:r>
              <a:rPr lang="en-US" sz="2000" dirty="0">
                <a:solidFill>
                  <a:srgbClr val="000000"/>
                </a:solidFill>
                <a:latin typeface="Gartner Sans" pitchFamily="34" charset="0"/>
                <a:ea typeface="Gartner Sans" pitchFamily="34" charset="-122"/>
                <a:cs typeface="Gartner Sans" pitchFamily="34" charset="-120"/>
              </a:rPr>
              <a:t>: Link platform adoption to faster deployment, cost, compliance; use SIR storytelling framework.</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7" invalidUrl="" action="" tgtFrame="" tooltip="" history="1" highlightClick="0" endSnd="0">
                  <a:extLst>
                    <a:ext uri="{A12FA001-AC4F-418D-AE19-62706E023703}">
                      <ahyp:hlinkClr xmlns:ahyp="http://schemas.microsoft.com/office/drawing/2018/hyperlinkcolor" val="tx"/>
                    </a:ext>
                  </a:extLst>
                </a:hlinkClick>
              </a:rPr>
              <a:t>[7]</a:t>
            </a:r>
            <a:endParaRPr lang="en-US" sz="2000" dirty="0"/>
          </a:p>
        </p:txBody>
      </p:sp>
      <p:sp>
        <p:nvSpPr>
          <p:cNvPr id="5" name="Text 3"/>
          <p:cNvSpPr/>
          <p:nvPr/>
        </p:nvSpPr>
        <p:spPr>
          <a:xfrm>
            <a:off x="457200" y="6391656"/>
            <a:ext cx="502920" cy="155448"/>
          </a:xfrm>
          <a:prstGeom prst="rect">
            <a:avLst/>
          </a:prstGeom>
          <a:noFill/>
          <a:ln/>
        </p:spPr>
        <p:txBody>
          <a:bodyPr wrap="square" rtlCol="0" anchor="ctr"/>
          <a:lstStyle/>
          <a:p>
            <a:pPr algn="l" indent="0" marL="0">
              <a:buNone/>
            </a:pPr>
            <a:r>
              <a:rPr lang="en-US" sz="700" dirty="0">
                <a:solidFill>
                  <a:srgbClr val="000000"/>
                </a:solidFill>
                <a:latin typeface="Gartner Sans" pitchFamily="34" charset="0"/>
                <a:ea typeface="Gartner Sans" pitchFamily="34" charset="-122"/>
                <a:cs typeface="Gartner Sans" pitchFamily="34" charset="-120"/>
              </a:rPr>
              <a:t>8</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365760"/>
            <a:ext cx="12191695" cy="448056"/>
          </a:xfrm>
          <a:prstGeom prst="rect">
            <a:avLst/>
          </a:prstGeom>
          <a:noFill/>
          <a:ln/>
        </p:spPr>
        <p:txBody>
          <a:bodyPr wrap="square" rtlCol="0" anchor="t"/>
          <a:lstStyle/>
          <a:p>
            <a:pPr algn="l" indent="0" marL="0">
              <a:buNone/>
            </a:pPr>
            <a:r>
              <a:rPr lang="en-US" sz="2800" dirty="0">
                <a:solidFill>
                  <a:srgbClr val="002869"/>
                </a:solidFill>
                <a:latin typeface="Gartner Sans Semibold" pitchFamily="34" charset="0"/>
                <a:ea typeface="Gartner Sans Semibold" pitchFamily="34" charset="-122"/>
                <a:cs typeface="Gartner Sans Semibold" pitchFamily="34" charset="-120"/>
              </a:rPr>
              <a:t>Measurement: Showing Value to Stakeholders</a:t>
            </a:r>
            <a:endParaRPr lang="en-US" sz="2800" dirty="0"/>
          </a:p>
        </p:txBody>
      </p:sp>
      <p:sp>
        <p:nvSpPr>
          <p:cNvPr id="3" name="Text 1"/>
          <p:cNvSpPr/>
          <p:nvPr/>
        </p:nvSpPr>
        <p:spPr>
          <a:xfrm>
            <a:off x="457200" y="1527048"/>
            <a:ext cx="5550408" cy="4462272"/>
          </a:xfrm>
          <a:prstGeom prst="rect">
            <a:avLst/>
          </a:prstGeom>
          <a:noFill/>
          <a:ln/>
        </p:spPr>
        <p:txBody>
          <a:bodyPr wrap="square" rtlCol="0" anchor="t">
            <a:normAutofit/>
          </a:bodyPr>
          <a:lstStyle/>
          <a:p>
            <a:pPr marL="342900" indent="-342900">
              <a:spcAft>
                <a:spcPts val="400"/>
              </a:spcAft>
              <a:buSzPct val="100000"/>
              <a:buChar char="•"/>
            </a:pPr>
            <a:r>
              <a:rPr lang="en-US" sz="2000" u="sng" dirty="0">
                <a:solidFill>
                  <a:srgbClr val="000000"/>
                </a:solidFill>
                <a:latin typeface="Gartner Sans" pitchFamily="34" charset="0"/>
                <a:ea typeface="Gartner Sans" pitchFamily="34" charset="-122"/>
                <a:cs typeface="Gartner Sans" pitchFamily="34" charset="-120"/>
              </a:rPr>
              <a:t>Adoption:</a:t>
            </a:r>
            <a:pPr indent="0" marL="0">
              <a:buNone/>
            </a:pPr>
            <a:r>
              <a:rPr lang="en-US" sz="2000" dirty="0">
                <a:solidFill>
                  <a:srgbClr val="000000"/>
                </a:solidFill>
                <a:latin typeface="Gartner Sans" pitchFamily="34" charset="0"/>
                <a:ea typeface="Gartner Sans" pitchFamily="34" charset="-122"/>
                <a:cs typeface="Gartner Sans" pitchFamily="34" charset="-120"/>
              </a:rPr>
              <a:t> % teams onboarded, feature/API usage (monthly).</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[4]</a:t>
            </a:r>
            <a:endParaRPr lang="en-US" sz="2000" dirty="0"/>
          </a:p>
          <a:p>
            <a:pPr marL="342900" indent="-342900">
              <a:spcAft>
                <a:spcPts val="400"/>
              </a:spcAft>
              <a:buSzPct val="100000"/>
              <a:buChar char="•"/>
            </a:pPr>
            <a:r>
              <a:rPr lang="en-US" sz="2000" u="sng" dirty="0">
                <a:solidFill>
                  <a:srgbClr val="000000"/>
                </a:solidFill>
                <a:latin typeface="Gartner Sans" pitchFamily="34" charset="0"/>
                <a:ea typeface="Gartner Sans" pitchFamily="34" charset="-122"/>
                <a:cs typeface="Gartner Sans" pitchFamily="34" charset="-120"/>
              </a:rPr>
              <a:t>Experience:</a:t>
            </a:r>
            <a:pPr indent="0" marL="0">
              <a:buNone/>
            </a:pPr>
            <a:r>
              <a:rPr lang="en-US" sz="2000" dirty="0">
                <a:solidFill>
                  <a:srgbClr val="000000"/>
                </a:solidFill>
                <a:latin typeface="Gartner Sans" pitchFamily="34" charset="0"/>
                <a:ea typeface="Gartner Sans" pitchFamily="34" charset="-122"/>
                <a:cs typeface="Gartner Sans" pitchFamily="34" charset="-120"/>
              </a:rPr>
              <a:t> CES, CSAT, NPS (monthly/quarterly).</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[5]</a:t>
            </a:r>
            <a:endParaRPr lang="en-US" sz="2000" dirty="0"/>
          </a:p>
          <a:p>
            <a:pPr marL="342900" indent="-342900">
              <a:spcAft>
                <a:spcPts val="400"/>
              </a:spcAft>
              <a:buSzPct val="100000"/>
              <a:buChar char="•"/>
            </a:pPr>
            <a:r>
              <a:rPr lang="en-US" sz="2000" u="sng" dirty="0">
                <a:solidFill>
                  <a:srgbClr val="000000"/>
                </a:solidFill>
                <a:latin typeface="Gartner Sans" pitchFamily="34" charset="0"/>
                <a:ea typeface="Gartner Sans" pitchFamily="34" charset="-122"/>
                <a:cs typeface="Gartner Sans" pitchFamily="34" charset="-120"/>
              </a:rPr>
              <a:t>Operations:</a:t>
            </a:r>
            <a:pPr indent="0" marL="0">
              <a:buNone/>
            </a:pPr>
            <a:r>
              <a:rPr lang="en-US" sz="2000" dirty="0">
                <a:solidFill>
                  <a:srgbClr val="000000"/>
                </a:solidFill>
                <a:latin typeface="Gartner Sans" pitchFamily="34" charset="0"/>
                <a:ea typeface="Gartner Sans" pitchFamily="34" charset="-122"/>
                <a:cs typeface="Gartner Sans" pitchFamily="34" charset="-120"/>
              </a:rPr>
              <a:t> Uptime, DORA metrics (monthly).</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[4]</a:t>
            </a:r>
            <a:endParaRPr lang="en-US" sz="2000" dirty="0"/>
          </a:p>
          <a:p>
            <a:pPr marL="342900" indent="-342900">
              <a:spcAft>
                <a:spcPts val="400"/>
              </a:spcAft>
              <a:buSzPct val="100000"/>
              <a:buChar char="•"/>
            </a:pPr>
            <a:r>
              <a:rPr lang="en-US" sz="2000" u="sng" dirty="0">
                <a:solidFill>
                  <a:srgbClr val="000000"/>
                </a:solidFill>
                <a:latin typeface="Gartner Sans" pitchFamily="34" charset="0"/>
                <a:ea typeface="Gartner Sans" pitchFamily="34" charset="-122"/>
                <a:cs typeface="Gartner Sans" pitchFamily="34" charset="-120"/>
              </a:rPr>
              <a:t>Business:</a:t>
            </a:r>
            <a:pPr indent="0" marL="0">
              <a:buNone/>
            </a:pPr>
            <a:r>
              <a:rPr lang="en-US" sz="2000" dirty="0">
                <a:solidFill>
                  <a:srgbClr val="000000"/>
                </a:solidFill>
                <a:latin typeface="Gartner Sans" pitchFamily="34" charset="0"/>
                <a:ea typeface="Gartner Sans" pitchFamily="34" charset="-122"/>
                <a:cs typeface="Gartner Sans" pitchFamily="34" charset="-120"/>
              </a:rPr>
              <a:t> Time to provision, cost per workload, self-service rate (quarterly).</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[4]</a:t>
            </a:r>
            <a:endParaRPr lang="en-US" sz="2000" dirty="0"/>
          </a:p>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Compliance audit readiness:</a:t>
            </a:r>
            <a:pPr indent="0" marL="0">
              <a:buNone/>
            </a:pPr>
            <a:r>
              <a:rPr lang="en-US" sz="2000" dirty="0">
                <a:solidFill>
                  <a:srgbClr val="000000"/>
                </a:solidFill>
                <a:latin typeface="Gartner Sans" pitchFamily="34" charset="0"/>
                <a:ea typeface="Gartner Sans" pitchFamily="34" charset="-122"/>
                <a:cs typeface="Gartner Sans" pitchFamily="34" charset="-120"/>
              </a:rPr>
              <a:t> Key business metric for Capital One; quantify reduced manual compliance.</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5" invalidUrl="" action="" tgtFrame="" tooltip="" history="1" highlightClick="0" endSnd="0">
                  <a:extLst>
                    <a:ext uri="{A12FA001-AC4F-418D-AE19-62706E023703}">
                      <ahyp:hlinkClr xmlns:ahyp="http://schemas.microsoft.com/office/drawing/2018/hyperlinkcolor" val="tx"/>
                    </a:ext>
                  </a:extLst>
                </a:hlinkClick>
              </a:rPr>
              <a:t>[4]</a:t>
            </a:r>
            <a:endParaRPr lang="en-US" sz="2000" dirty="0"/>
          </a:p>
        </p:txBody>
      </p:sp>
      <p:sp>
        <p:nvSpPr>
          <p:cNvPr id="4" name="Text 2"/>
          <p:cNvSpPr/>
          <p:nvPr/>
        </p:nvSpPr>
        <p:spPr>
          <a:xfrm>
            <a:off x="6236208" y="1527048"/>
            <a:ext cx="5550408" cy="4462272"/>
          </a:xfrm>
          <a:prstGeom prst="rect">
            <a:avLst/>
          </a:prstGeom>
          <a:noFill/>
          <a:ln/>
        </p:spPr>
        <p:txBody>
          <a:bodyPr wrap="square" rtlCol="0" anchor="t">
            <a:normAutofit/>
          </a:bodyPr>
          <a:lstStyle/>
          <a:p>
            <a:pPr marL="342900" indent="-342900">
              <a:spcAft>
                <a:spcPts val="400"/>
              </a:spcAft>
              <a:buSzPct val="100000"/>
              <a:buChar char="•"/>
            </a:pPr>
            <a:r>
              <a:rPr lang="en-US" sz="2000" dirty="0">
                <a:solidFill>
                  <a:srgbClr val="000000"/>
                </a:solidFill>
                <a:latin typeface="Gartner Sans" pitchFamily="34" charset="0"/>
                <a:ea typeface="Gartner Sans" pitchFamily="34" charset="-122"/>
                <a:cs typeface="Gartner Sans" pitchFamily="34" charset="-120"/>
              </a:rPr>
              <a:t>Track these metrics in four buckets: </a:t>
            </a:r>
            <a:pPr indent="0" marL="0">
              <a:buNone/>
            </a:pPr>
            <a:r>
              <a:rPr lang="en-US" sz="2000" u="sng" dirty="0">
                <a:solidFill>
                  <a:srgbClr val="000000"/>
                </a:solidFill>
                <a:latin typeface="Gartner Sans" pitchFamily="34" charset="0"/>
                <a:ea typeface="Gartner Sans" pitchFamily="34" charset="-122"/>
                <a:cs typeface="Gartner Sans" pitchFamily="34" charset="-120"/>
              </a:rPr>
              <a:t>Adoption, Experience, Operations, Business</a:t>
            </a:r>
            <a:pPr indent="0" marL="0">
              <a:buNone/>
            </a:pPr>
            <a:r>
              <a:rPr lang="en-US" sz="2000" dirty="0">
                <a:solidFill>
                  <a:srgbClr val="000000"/>
                </a:solidFill>
                <a:latin typeface="Gartner Sans" pitchFamily="34" charset="0"/>
                <a:ea typeface="Gartner Sans" pitchFamily="34" charset="-122"/>
                <a:cs typeface="Gartner Sans" pitchFamily="34" charset="-120"/>
              </a:rPr>
              <a:t> for full value visibility.</a:t>
            </a:r>
            <a:endParaRPr lang="en-US" sz="2000" dirty="0"/>
          </a:p>
          <a:p>
            <a:pPr marL="342900" indent="-342900">
              <a:spcAft>
                <a:spcPts val="400"/>
              </a:spcAft>
              <a:buSzPct val="100000"/>
              <a:buChar char="•"/>
            </a:pPr>
            <a:r>
              <a:rPr lang="en-US" sz="2000" dirty="0">
                <a:solidFill>
                  <a:srgbClr val="000000"/>
                </a:solidFill>
                <a:latin typeface="Gartner Sans" pitchFamily="34" charset="0"/>
                <a:ea typeface="Gartner Sans" pitchFamily="34" charset="-122"/>
                <a:cs typeface="Gartner Sans" pitchFamily="34" charset="-120"/>
              </a:rPr>
              <a:t>Tie metrics back to user trust, predictability, delivery efficiency, and direct business impact.</a:t>
            </a:r>
            <a:endParaRPr lang="en-US" sz="2000" dirty="0"/>
          </a:p>
        </p:txBody>
      </p:sp>
      <p:sp>
        <p:nvSpPr>
          <p:cNvPr id="5" name="Text 3"/>
          <p:cNvSpPr/>
          <p:nvPr/>
        </p:nvSpPr>
        <p:spPr>
          <a:xfrm>
            <a:off x="457200" y="6391656"/>
            <a:ext cx="502920" cy="155448"/>
          </a:xfrm>
          <a:prstGeom prst="rect">
            <a:avLst/>
          </a:prstGeom>
          <a:noFill/>
          <a:ln/>
        </p:spPr>
        <p:txBody>
          <a:bodyPr wrap="square" rtlCol="0" anchor="ctr"/>
          <a:lstStyle/>
          <a:p>
            <a:pPr algn="l" indent="0" marL="0">
              <a:buNone/>
            </a:pPr>
            <a:r>
              <a:rPr lang="en-US" sz="700" dirty="0">
                <a:solidFill>
                  <a:srgbClr val="000000"/>
                </a:solidFill>
                <a:latin typeface="Gartner Sans" pitchFamily="34" charset="0"/>
                <a:ea typeface="Gartner Sans" pitchFamily="34" charset="-122"/>
                <a:cs typeface="Gartner Sans" pitchFamily="34" charset="-120"/>
              </a:rPr>
              <a:t>9</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365760"/>
            <a:ext cx="12191695" cy="448056"/>
          </a:xfrm>
          <a:prstGeom prst="rect">
            <a:avLst/>
          </a:prstGeom>
          <a:noFill/>
          <a:ln/>
        </p:spPr>
        <p:txBody>
          <a:bodyPr wrap="square" rtlCol="0" anchor="t"/>
          <a:lstStyle/>
          <a:p>
            <a:pPr algn="l" indent="0" marL="0">
              <a:buNone/>
            </a:pPr>
            <a:r>
              <a:rPr lang="en-US" sz="2800" dirty="0">
                <a:solidFill>
                  <a:srgbClr val="002869"/>
                </a:solidFill>
                <a:latin typeface="Gartner Sans Semibold" pitchFamily="34" charset="0"/>
                <a:ea typeface="Gartner Sans Semibold" pitchFamily="34" charset="-122"/>
                <a:cs typeface="Gartner Sans Semibold" pitchFamily="34" charset="-120"/>
              </a:rPr>
              <a:t>Your 90-Day Play: Actionable Steps</a:t>
            </a:r>
            <a:endParaRPr lang="en-US" sz="2800" dirty="0"/>
          </a:p>
        </p:txBody>
      </p:sp>
      <p:sp>
        <p:nvSpPr>
          <p:cNvPr id="3" name="Text 1"/>
          <p:cNvSpPr/>
          <p:nvPr/>
        </p:nvSpPr>
        <p:spPr>
          <a:xfrm>
            <a:off x="457200" y="1527048"/>
            <a:ext cx="11277295" cy="4462272"/>
          </a:xfrm>
          <a:prstGeom prst="rect">
            <a:avLst/>
          </a:prstGeom>
          <a:noFill/>
          <a:ln/>
        </p:spPr>
        <p:txBody>
          <a:bodyPr wrap="square" rtlCol="0" anchor="t">
            <a:normAutofit/>
          </a:bodyPr>
          <a:lstStyle/>
          <a:p>
            <a:pPr marL="342900" indent="-342900">
              <a:spcAft>
                <a:spcPts val="400"/>
              </a:spcAft>
              <a:buSzPct val="100000"/>
              <a:buFont typeface="+mj-lt"/>
              <a:buAutoNum type="arabicPeriod" startAt="1"/>
            </a:pPr>
            <a:r>
              <a:rPr lang="en-US" sz="2000" b="1" dirty="0">
                <a:solidFill>
                  <a:srgbClr val="000000"/>
                </a:solidFill>
                <a:latin typeface="Gartner Sans" pitchFamily="34" charset="0"/>
                <a:ea typeface="Gartner Sans" pitchFamily="34" charset="-122"/>
                <a:cs typeface="Gartner Sans" pitchFamily="34" charset="-120"/>
              </a:rPr>
              <a:t>Week 1–2:</a:t>
            </a:r>
            <a:pPr indent="0" marL="0">
              <a:buNone/>
            </a:pPr>
            <a:r>
              <a:rPr lang="en-US" sz="2000" dirty="0">
                <a:solidFill>
                  <a:srgbClr val="000000"/>
                </a:solidFill>
                <a:latin typeface="Gartner Sans" pitchFamily="34" charset="0"/>
                <a:ea typeface="Gartner Sans" pitchFamily="34" charset="-122"/>
                <a:cs typeface="Gartner Sans" pitchFamily="34" charset="-120"/>
              </a:rPr>
              <a:t> Audit platforms &amp; integration complexity; identify anchors per domain.</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[3]</a:t>
            </a:r>
            <a:endParaRPr lang="en-US" sz="2000" dirty="0"/>
          </a:p>
          <a:p>
            <a:pPr marL="342900" indent="-342900">
              <a:spcAft>
                <a:spcPts val="400"/>
              </a:spcAft>
              <a:buSzPct val="100000"/>
              <a:buFont typeface="+mj-lt"/>
              <a:buAutoNum type="arabicPeriod" startAt="1"/>
            </a:pPr>
            <a:r>
              <a:rPr lang="en-US" sz="2000" b="1" dirty="0">
                <a:solidFill>
                  <a:srgbClr val="000000"/>
                </a:solidFill>
                <a:latin typeface="Gartner Sans" pitchFamily="34" charset="0"/>
                <a:ea typeface="Gartner Sans" pitchFamily="34" charset="-122"/>
                <a:cs typeface="Gartner Sans" pitchFamily="34" charset="-120"/>
              </a:rPr>
              <a:t>Week 3–4:</a:t>
            </a:r>
            <a:pPr indent="0" marL="0">
              <a:buNone/>
            </a:pPr>
            <a:r>
              <a:rPr lang="en-US" sz="2000" dirty="0">
                <a:solidFill>
                  <a:srgbClr val="000000"/>
                </a:solidFill>
                <a:latin typeface="Gartner Sans" pitchFamily="34" charset="0"/>
                <a:ea typeface="Gartner Sans" pitchFamily="34" charset="-122"/>
                <a:cs typeface="Gartner Sans" pitchFamily="34" charset="-120"/>
              </a:rPr>
              <a:t> Map reuse landscape; identify existing capabilities and duplication.</a:t>
            </a:r>
            <a:endParaRPr lang="en-US" sz="2000" dirty="0"/>
          </a:p>
          <a:p>
            <a:pPr marL="342900" indent="-342900">
              <a:spcAft>
                <a:spcPts val="400"/>
              </a:spcAft>
              <a:buSzPct val="100000"/>
              <a:buFont typeface="+mj-lt"/>
              <a:buAutoNum type="arabicPeriod" startAt="1"/>
            </a:pPr>
            <a:r>
              <a:rPr lang="en-US" sz="2000" b="1" dirty="0">
                <a:solidFill>
                  <a:srgbClr val="000000"/>
                </a:solidFill>
                <a:latin typeface="Gartner Sans" pitchFamily="34" charset="0"/>
                <a:ea typeface="Gartner Sans" pitchFamily="34" charset="-122"/>
                <a:cs typeface="Gartner Sans" pitchFamily="34" charset="-120"/>
              </a:rPr>
              <a:t>Week 5–6:</a:t>
            </a:r>
            <a:pPr indent="0" marL="0">
              <a:buNone/>
            </a:pPr>
            <a:r>
              <a:rPr lang="en-US" sz="2000" dirty="0">
                <a:solidFill>
                  <a:srgbClr val="000000"/>
                </a:solidFill>
                <a:latin typeface="Gartner Sans" pitchFamily="34" charset="0"/>
                <a:ea typeface="Gartner Sans" pitchFamily="34" charset="-122"/>
                <a:cs typeface="Gartner Sans" pitchFamily="34" charset="-120"/>
              </a:rPr>
              <a:t> Assign platform owners; define 'just enough' engineering scope for top platforms.</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[1]</a:t>
            </a:r>
            <a:endParaRPr lang="en-US" sz="2000" dirty="0"/>
          </a:p>
          <a:p>
            <a:pPr marL="342900" indent="-342900">
              <a:spcAft>
                <a:spcPts val="400"/>
              </a:spcAft>
              <a:buSzPct val="100000"/>
              <a:buFont typeface="+mj-lt"/>
              <a:buAutoNum type="arabicPeriod" startAt="1"/>
            </a:pPr>
            <a:r>
              <a:rPr lang="en-US" sz="2000" b="1" dirty="0">
                <a:solidFill>
                  <a:srgbClr val="000000"/>
                </a:solidFill>
                <a:latin typeface="Gartner Sans" pitchFamily="34" charset="0"/>
                <a:ea typeface="Gartner Sans" pitchFamily="34" charset="-122"/>
                <a:cs typeface="Gartner Sans" pitchFamily="34" charset="-120"/>
              </a:rPr>
              <a:t>Week 7–8:</a:t>
            </a:r>
            <a:pPr indent="0" marL="0">
              <a:buNone/>
            </a:pPr>
            <a:r>
              <a:rPr lang="en-US" sz="2000" dirty="0">
                <a:solidFill>
                  <a:srgbClr val="000000"/>
                </a:solidFill>
                <a:latin typeface="Gartner Sans" pitchFamily="34" charset="0"/>
                <a:ea typeface="Gartner Sans" pitchFamily="34" charset="-122"/>
                <a:cs typeface="Gartner Sans" pitchFamily="34" charset="-120"/>
              </a:rPr>
              <a:t> Co-design minimum viable platform experience for a high-value user persona.</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[4]</a:t>
            </a:r>
            <a:endParaRPr lang="en-US" sz="2000" dirty="0"/>
          </a:p>
          <a:p>
            <a:pPr marL="342900" indent="-342900">
              <a:spcAft>
                <a:spcPts val="400"/>
              </a:spcAft>
              <a:buSzPct val="100000"/>
              <a:buFont typeface="+mj-lt"/>
              <a:buAutoNum type="arabicPeriod" startAt="1"/>
            </a:pPr>
            <a:r>
              <a:rPr lang="en-US" sz="2000" b="1" dirty="0">
                <a:solidFill>
                  <a:srgbClr val="000000"/>
                </a:solidFill>
                <a:latin typeface="Gartner Sans" pitchFamily="34" charset="0"/>
                <a:ea typeface="Gartner Sans" pitchFamily="34" charset="-122"/>
                <a:cs typeface="Gartner Sans" pitchFamily="34" charset="-120"/>
              </a:rPr>
              <a:t>Week 9–12:</a:t>
            </a:r>
            <a:pPr indent="0" marL="0">
              <a:buNone/>
            </a:pPr>
            <a:r>
              <a:rPr lang="en-US" sz="2000" dirty="0">
                <a:solidFill>
                  <a:srgbClr val="000000"/>
                </a:solidFill>
                <a:latin typeface="Gartner Sans" pitchFamily="34" charset="0"/>
                <a:ea typeface="Gartner Sans" pitchFamily="34" charset="-122"/>
                <a:cs typeface="Gartner Sans" pitchFamily="34" charset="-120"/>
              </a:rPr>
              <a:t> Launch pilot; measure CES, adoption, provisioning time; iterate based on feedback.</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[5]</a:t>
            </a:r>
            <a:endParaRPr lang="en-US" sz="2000" dirty="0"/>
          </a:p>
          <a:p>
            <a:pPr marL="342900" indent="-342900">
              <a:spcAft>
                <a:spcPts val="400"/>
              </a:spcAft>
              <a:buSzPct val="100000"/>
              <a:buFont typeface="+mj-lt"/>
              <a:buAutoNum type="arabicPeriod" startAt="1"/>
            </a:pPr>
            <a:r>
              <a:rPr lang="en-US" sz="2000" b="1" dirty="0">
                <a:solidFill>
                  <a:srgbClr val="000000"/>
                </a:solidFill>
                <a:latin typeface="Gartner Sans" pitchFamily="34" charset="0"/>
                <a:ea typeface="Gartner Sans" pitchFamily="34" charset="-122"/>
                <a:cs typeface="Gartner Sans" pitchFamily="34" charset="-120"/>
              </a:rPr>
              <a:t>Outcome:</a:t>
            </a:r>
            <a:pPr indent="0" marL="0">
              <a:buNone/>
            </a:pPr>
            <a:r>
              <a:rPr lang="en-US" sz="2000" dirty="0">
                <a:solidFill>
                  <a:srgbClr val="000000"/>
                </a:solidFill>
                <a:latin typeface="Gartner Sans" pitchFamily="34" charset="0"/>
                <a:ea typeface="Gartner Sans" pitchFamily="34" charset="-122"/>
                <a:cs typeface="Gartner Sans" pitchFamily="34" charset="-120"/>
              </a:rPr>
              <a:t> Validate a strategy for Capital One’s next wave of platform value and scale.</a:t>
            </a:r>
            <a:endParaRPr lang="en-US" sz="2000" dirty="0"/>
          </a:p>
        </p:txBody>
      </p:sp>
      <p:sp>
        <p:nvSpPr>
          <p:cNvPr id="4" name="Text 2"/>
          <p:cNvSpPr/>
          <p:nvPr/>
        </p:nvSpPr>
        <p:spPr>
          <a:xfrm>
            <a:off x="457200" y="6391656"/>
            <a:ext cx="502920" cy="155448"/>
          </a:xfrm>
          <a:prstGeom prst="rect">
            <a:avLst/>
          </a:prstGeom>
          <a:noFill/>
          <a:ln/>
        </p:spPr>
        <p:txBody>
          <a:bodyPr wrap="square" rtlCol="0" anchor="ctr"/>
          <a:lstStyle/>
          <a:p>
            <a:pPr algn="l" indent="0" marL="0">
              <a:buNone/>
            </a:pPr>
            <a:r>
              <a:rPr lang="en-US" sz="700" dirty="0">
                <a:solidFill>
                  <a:srgbClr val="000000"/>
                </a:solidFill>
                <a:latin typeface="Gartner Sans" pitchFamily="34" charset="0"/>
                <a:ea typeface="Gartner Sans" pitchFamily="34" charset="-122"/>
                <a:cs typeface="Gartner Sans" pitchFamily="34" charset="-120"/>
              </a:rPr>
              <a:t>10</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365760"/>
            <a:ext cx="12191695" cy="448056"/>
          </a:xfrm>
          <a:prstGeom prst="rect">
            <a:avLst/>
          </a:prstGeom>
          <a:noFill/>
          <a:ln/>
        </p:spPr>
        <p:txBody>
          <a:bodyPr wrap="square" rtlCol="0" anchor="t"/>
          <a:lstStyle/>
          <a:p>
            <a:pPr algn="l" indent="0" marL="0">
              <a:buNone/>
            </a:pPr>
            <a:r>
              <a:rPr lang="en-US" sz="2800" dirty="0">
                <a:solidFill>
                  <a:srgbClr val="002869"/>
                </a:solidFill>
                <a:latin typeface="Gartner Sans Semibold" pitchFamily="34" charset="0"/>
                <a:ea typeface="Gartner Sans Semibold" pitchFamily="34" charset="-122"/>
                <a:cs typeface="Gartner Sans Semibold" pitchFamily="34" charset="-120"/>
              </a:rPr>
              <a:t>Core Principle: Compounding Value Through Discipline</a:t>
            </a:r>
            <a:endParaRPr lang="en-US" sz="2800" dirty="0"/>
          </a:p>
        </p:txBody>
      </p:sp>
      <p:sp>
        <p:nvSpPr>
          <p:cNvPr id="3" name="Text 1"/>
          <p:cNvSpPr/>
          <p:nvPr/>
        </p:nvSpPr>
        <p:spPr>
          <a:xfrm>
            <a:off x="457200" y="1527048"/>
            <a:ext cx="11277295" cy="4462272"/>
          </a:xfrm>
          <a:prstGeom prst="rect">
            <a:avLst/>
          </a:prstGeom>
          <a:noFill/>
          <a:ln/>
        </p:spPr>
        <p:txBody>
          <a:bodyPr wrap="square" rtlCol="0" anchor="t">
            <a:normAutofit/>
          </a:bodyPr>
          <a:lstStyle/>
          <a:p>
            <a:pPr indent="0" marL="0">
              <a:buNone/>
            </a:pPr>
            <a:r>
              <a:rPr lang="en-US" sz="2000" b="1" dirty="0">
                <a:solidFill>
                  <a:srgbClr val="000000"/>
                </a:solidFill>
                <a:latin typeface="Gartner Sans" pitchFamily="34" charset="0"/>
                <a:ea typeface="Gartner Sans" pitchFamily="34" charset="-122"/>
                <a:cs typeface="Gartner Sans" pitchFamily="34" charset="-120"/>
              </a:rPr>
              <a:t>Platforms deliver maximum value when right-sized, clearly owned, and deeply integrated into user workflows.</a:t>
            </a:r>
            <a:pPr indent="0" marL="0">
              <a:buNone/>
            </a:pPr>
            <a:r>
              <a:rPr lang="en-US" sz="2000" dirty="0">
                <a:solidFill>
                  <a:srgbClr val="000000"/>
                </a:solidFill>
                <a:latin typeface="Gartner Sans" pitchFamily="34" charset="0"/>
                <a:ea typeface="Gartner Sans" pitchFamily="34" charset="-122"/>
                <a:cs typeface="Gartner Sans" pitchFamily="34" charset="-120"/>
              </a:rPr>
              <a:t> Avoid chasing technical perfection; focus on measurable impact and consistent discipline to drive sustainable results.</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[1]</a:t>
            </a:r>
            <a:endParaRPr lang="en-US" sz="2000" dirty="0"/>
          </a:p>
        </p:txBody>
      </p:sp>
      <p:sp>
        <p:nvSpPr>
          <p:cNvPr id="4" name="Text 2"/>
          <p:cNvSpPr/>
          <p:nvPr/>
        </p:nvSpPr>
        <p:spPr>
          <a:xfrm>
            <a:off x="457200" y="6391656"/>
            <a:ext cx="502920" cy="155448"/>
          </a:xfrm>
          <a:prstGeom prst="rect">
            <a:avLst/>
          </a:prstGeom>
          <a:noFill/>
          <a:ln/>
        </p:spPr>
        <p:txBody>
          <a:bodyPr wrap="square" rtlCol="0" anchor="ctr"/>
          <a:lstStyle/>
          <a:p>
            <a:pPr algn="l" indent="0" marL="0">
              <a:buNone/>
            </a:pPr>
            <a:r>
              <a:rPr lang="en-US" sz="700" dirty="0">
                <a:solidFill>
                  <a:srgbClr val="000000"/>
                </a:solidFill>
                <a:latin typeface="Gartner Sans" pitchFamily="34" charset="0"/>
                <a:ea typeface="Gartner Sans" pitchFamily="34" charset="-122"/>
                <a:cs typeface="Gartner Sans" pitchFamily="34" charset="-120"/>
              </a:rPr>
              <a:t>11</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365760"/>
            <a:ext cx="12191695" cy="448056"/>
          </a:xfrm>
          <a:prstGeom prst="rect">
            <a:avLst/>
          </a:prstGeom>
          <a:noFill/>
          <a:ln/>
        </p:spPr>
        <p:txBody>
          <a:bodyPr wrap="square" rtlCol="0" anchor="t"/>
          <a:lstStyle/>
          <a:p>
            <a:pPr algn="l" indent="0" marL="0">
              <a:buNone/>
            </a:pPr>
            <a:r>
              <a:rPr lang="en-US" sz="2800" dirty="0">
                <a:solidFill>
                  <a:srgbClr val="002869"/>
                </a:solidFill>
                <a:latin typeface="Gartner Sans Semibold" pitchFamily="34" charset="0"/>
                <a:ea typeface="Gartner Sans Semibold" pitchFamily="34" charset="-122"/>
                <a:cs typeface="Gartner Sans Semibold" pitchFamily="34" charset="-120"/>
              </a:rPr>
              <a:t>References</a:t>
            </a:r>
            <a:endParaRPr lang="en-US" sz="2800" dirty="0"/>
          </a:p>
        </p:txBody>
      </p:sp>
      <p:sp>
        <p:nvSpPr>
          <p:cNvPr id="3" name="Text 1"/>
          <p:cNvSpPr/>
          <p:nvPr/>
        </p:nvSpPr>
        <p:spPr>
          <a:xfrm>
            <a:off x="457200" y="1527048"/>
            <a:ext cx="11277295" cy="4462272"/>
          </a:xfrm>
          <a:prstGeom prst="rect">
            <a:avLst/>
          </a:prstGeom>
          <a:noFill/>
          <a:ln/>
        </p:spPr>
        <p:txBody>
          <a:bodyPr wrap="square" rtlCol="0" anchor="t">
            <a:normAutofit/>
          </a:bodyPr>
          <a:lstStyle/>
          <a:p>
            <a:pPr marL="342900" indent="-342900">
              <a:spcAft>
                <a:spcPts val="400"/>
              </a:spcAft>
              <a:buSzPct val="100000"/>
              <a:buFont typeface="+mj-lt"/>
              <a:buAutoNum type="arabicPeriod" startAt="1"/>
            </a:pPr>
            <a:r>
              <a:rPr lang="en-US" sz="2000" u="sng" dirty="0">
                <a:solidFill>
                  <a:srgbClr val="006AC7"/>
                </a:solidFill>
                <a:latin typeface="Gartner Sans" pitchFamily="34" charset="0"/>
                <a:ea typeface="Gartner Sans" pitchFamily="34" charset="-122"/>
                <a:cs typeface="Gartner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Invest "Just Enough" in Infrastructure Platform Engineering to Deliver Sustainable Value</a:t>
            </a:r>
            <a:endParaRPr lang="en-US" sz="2000" dirty="0"/>
          </a:p>
          <a:p>
            <a:pPr marL="342900" indent="-342900">
              <a:spcAft>
                <a:spcPts val="400"/>
              </a:spcAft>
              <a:buSzPct val="100000"/>
              <a:buFont typeface="+mj-lt"/>
              <a:buAutoNum type="arabicPeriod" startAt="2"/>
            </a:pPr>
            <a:r>
              <a:rPr lang="en-US" sz="2000" u="sng" dirty="0">
                <a:solidFill>
                  <a:srgbClr val="006AC7"/>
                </a:solidFill>
                <a:latin typeface="Gartner Sans" pitchFamily="34" charset="0"/>
                <a:ea typeface="Gartner Sans" pitchFamily="34" charset="-122"/>
                <a:cs typeface="Gartner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How to Structure Your Infrastructure Platform Engineering Journey</a:t>
            </a:r>
            <a:endParaRPr lang="en-US" sz="2000" dirty="0"/>
          </a:p>
          <a:p>
            <a:pPr marL="342900" indent="-342900">
              <a:spcAft>
                <a:spcPts val="400"/>
              </a:spcAft>
              <a:buSzPct val="100000"/>
              <a:buFont typeface="+mj-lt"/>
              <a:buAutoNum type="arabicPeriod" startAt="3"/>
            </a:pPr>
            <a:r>
              <a:rPr lang="en-US" sz="2000" u="sng" dirty="0">
                <a:solidFill>
                  <a:srgbClr val="006AC7"/>
                </a:solidFill>
                <a:latin typeface="Gartner Sans" pitchFamily="34" charset="0"/>
                <a:ea typeface="Gartner Sans" pitchFamily="34" charset="-122"/>
                <a:cs typeface="Gartner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The Infrastructure You Need for Platform-Centric I&amp;O</a:t>
            </a:r>
            <a:endParaRPr lang="en-US" sz="2000" dirty="0"/>
          </a:p>
          <a:p>
            <a:pPr marL="342900" indent="-342900">
              <a:spcAft>
                <a:spcPts val="400"/>
              </a:spcAft>
              <a:buSzPct val="100000"/>
              <a:buFont typeface="+mj-lt"/>
              <a:buAutoNum type="arabicPeriod" startAt="4"/>
            </a:pPr>
            <a:r>
              <a:rPr lang="en-US" sz="2000" u="sng" dirty="0">
                <a:solidFill>
                  <a:srgbClr val="006AC7"/>
                </a:solidFill>
                <a:latin typeface="Gartner Sans" pitchFamily="34" charset="0"/>
                <a:ea typeface="Gartner Sans" pitchFamily="34" charset="-122"/>
                <a:cs typeface="Gartner Sa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Drive Business Agility With Infrastructure Platform Engineering</a:t>
            </a:r>
            <a:endParaRPr lang="en-US" sz="2000" dirty="0"/>
          </a:p>
          <a:p>
            <a:pPr marL="342900" indent="-342900">
              <a:spcAft>
                <a:spcPts val="400"/>
              </a:spcAft>
              <a:buSzPct val="100000"/>
              <a:buFont typeface="+mj-lt"/>
              <a:buAutoNum type="arabicPeriod" startAt="5"/>
            </a:pPr>
            <a:r>
              <a:rPr lang="en-US" sz="2000" u="sng" dirty="0">
                <a:solidFill>
                  <a:srgbClr val="006AC7"/>
                </a:solidFill>
                <a:latin typeface="Gartner Sans" pitchFamily="34" charset="0"/>
                <a:ea typeface="Gartner Sans" pitchFamily="34" charset="-122"/>
                <a:cs typeface="Gartner Sans" pitchFamily="34" charset="-120"/>
                <a:hlinkClick r:id="rId5" invalidUrl="" action="" tgtFrame="" tooltip="" history="1" highlightClick="0" endSnd="0">
                  <a:extLst>
                    <a:ext uri="{A12FA001-AC4F-418D-AE19-62706E023703}">
                      <ahyp:hlinkClr xmlns:ahyp="http://schemas.microsoft.com/office/drawing/2018/hyperlinkcolor" val="tx"/>
                    </a:ext>
                  </a:extLst>
                </a:hlinkClick>
              </a:rPr>
              <a:t>Three Strategies to Improve the Developer Experience in Infrastructure Platforms</a:t>
            </a:r>
            <a:endParaRPr lang="en-US" sz="2000" dirty="0"/>
          </a:p>
          <a:p>
            <a:pPr marL="342900" indent="-342900">
              <a:spcAft>
                <a:spcPts val="400"/>
              </a:spcAft>
              <a:buSzPct val="100000"/>
              <a:buFont typeface="+mj-lt"/>
              <a:buAutoNum type="arabicPeriod" startAt="6"/>
            </a:pPr>
            <a:r>
              <a:rPr lang="en-US" sz="2000" u="sng" dirty="0">
                <a:solidFill>
                  <a:srgbClr val="006AC7"/>
                </a:solidFill>
                <a:latin typeface="Gartner Sans" pitchFamily="34" charset="0"/>
                <a:ea typeface="Gartner Sans" pitchFamily="34" charset="-122"/>
                <a:cs typeface="Gartner Sans" pitchFamily="34" charset="-120"/>
                <a:hlinkClick r:id="rId6" invalidUrl="" action="" tgtFrame="" tooltip="" history="1" highlightClick="0" endSnd="0">
                  <a:extLst>
                    <a:ext uri="{A12FA001-AC4F-418D-AE19-62706E023703}">
                      <ahyp:hlinkClr xmlns:ahyp="http://schemas.microsoft.com/office/drawing/2018/hyperlinkcolor" val="tx"/>
                    </a:ext>
                  </a:extLst>
                </a:hlinkClick>
              </a:rPr>
              <a:t>Enabling Developer Self-Service With Unified Policy Orchestration</a:t>
            </a:r>
            <a:endParaRPr lang="en-US" sz="2000" dirty="0"/>
          </a:p>
          <a:p>
            <a:pPr marL="342900" indent="-342900">
              <a:spcAft>
                <a:spcPts val="400"/>
              </a:spcAft>
              <a:buSzPct val="100000"/>
              <a:buFont typeface="+mj-lt"/>
              <a:buAutoNum type="arabicPeriod" startAt="7"/>
            </a:pPr>
            <a:r>
              <a:rPr lang="en-US" sz="2000" u="sng" dirty="0">
                <a:solidFill>
                  <a:srgbClr val="006AC7"/>
                </a:solidFill>
                <a:latin typeface="Gartner Sans" pitchFamily="34" charset="0"/>
                <a:ea typeface="Gartner Sans" pitchFamily="34" charset="-122"/>
                <a:cs typeface="Gartner Sans" pitchFamily="34" charset="-120"/>
                <a:hlinkClick r:id="rId7" invalidUrl="" action="" tgtFrame="" tooltip="" history="1" highlightClick="0" endSnd="0">
                  <a:extLst>
                    <a:ext uri="{A12FA001-AC4F-418D-AE19-62706E023703}">
                      <ahyp:hlinkClr xmlns:ahyp="http://schemas.microsoft.com/office/drawing/2018/hyperlinkcolor" val="tx"/>
                    </a:ext>
                  </a:extLst>
                </a:hlinkClick>
              </a:rPr>
              <a:t>Accelerate Platform Engineering Adoption With the Art of Storytelling</a:t>
            </a:r>
            <a:endParaRPr lang="en-US" sz="2000" dirty="0"/>
          </a:p>
        </p:txBody>
      </p:sp>
      <p:sp>
        <p:nvSpPr>
          <p:cNvPr id="4" name="Text 2"/>
          <p:cNvSpPr/>
          <p:nvPr/>
        </p:nvSpPr>
        <p:spPr>
          <a:xfrm>
            <a:off x="457200" y="6391656"/>
            <a:ext cx="502920" cy="155448"/>
          </a:xfrm>
          <a:prstGeom prst="rect">
            <a:avLst/>
          </a:prstGeom>
          <a:noFill/>
          <a:ln/>
        </p:spPr>
        <p:txBody>
          <a:bodyPr wrap="square" rtlCol="0" anchor="ctr"/>
          <a:lstStyle/>
          <a:p>
            <a:pPr algn="l" indent="0" marL="0">
              <a:buNone/>
            </a:pPr>
            <a:r>
              <a:rPr lang="en-US" sz="700" dirty="0">
                <a:solidFill>
                  <a:srgbClr val="000000"/>
                </a:solidFill>
                <a:latin typeface="Gartner Sans" pitchFamily="34" charset="0"/>
                <a:ea typeface="Gartner Sans" pitchFamily="34" charset="-122"/>
                <a:cs typeface="Gartner Sans" pitchFamily="34" charset="-120"/>
              </a:rPr>
              <a:t>12</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365760"/>
            <a:ext cx="12191695" cy="448056"/>
          </a:xfrm>
          <a:prstGeom prst="rect">
            <a:avLst/>
          </a:prstGeom>
          <a:noFill/>
          <a:ln/>
        </p:spPr>
        <p:txBody>
          <a:bodyPr wrap="square" rtlCol="0" anchor="t"/>
          <a:lstStyle/>
          <a:p>
            <a:pPr algn="l" indent="0" marL="0">
              <a:buNone/>
            </a:pPr>
            <a:r>
              <a:rPr lang="en-US" sz="2800" dirty="0">
                <a:solidFill>
                  <a:srgbClr val="002869"/>
                </a:solidFill>
                <a:latin typeface="Gartner Sans Semibold" pitchFamily="34" charset="0"/>
                <a:ea typeface="Gartner Sans Semibold" pitchFamily="34" charset="-122"/>
                <a:cs typeface="Gartner Sans Semibold" pitchFamily="34" charset="-120"/>
              </a:rPr>
              <a:t>Image Appendix</a:t>
            </a:r>
            <a:endParaRPr lang="en-US" sz="2800" dirty="0"/>
          </a:p>
        </p:txBody>
      </p:sp>
      <p:pic>
        <p:nvPicPr>
          <p:cNvPr id="3" name="Image 0" descr="preencoded.png">    </p:cNvPr>
          <p:cNvPicPr>
            <a:picLocks noChangeAspect="1"/>
          </p:cNvPicPr>
          <p:nvPr/>
        </p:nvPicPr>
        <p:blipFill>
          <a:blip r:embed="rId1"/>
          <a:stretch>
            <a:fillRect/>
          </a:stretch>
        </p:blipFill>
        <p:spPr>
          <a:xfrm>
            <a:off x="457200" y="1097280"/>
            <a:ext cx="5442281" cy="4370832"/>
          </a:xfrm>
          <a:prstGeom prst="rect">
            <a:avLst/>
          </a:prstGeom>
        </p:spPr>
      </p:pic>
      <p:sp>
        <p:nvSpPr>
          <p:cNvPr id="4" name="Text 1"/>
          <p:cNvSpPr/>
          <p:nvPr/>
        </p:nvSpPr>
        <p:spPr>
          <a:xfrm>
            <a:off x="457200" y="5513832"/>
            <a:ext cx="11277295" cy="457200"/>
          </a:xfrm>
          <a:prstGeom prst="rect">
            <a:avLst/>
          </a:prstGeom>
          <a:noFill/>
          <a:ln/>
        </p:spPr>
        <p:txBody>
          <a:bodyPr wrap="square" rtlCol="0" anchor="t"/>
          <a:lstStyle/>
          <a:p>
            <a:pPr algn="l" indent="0" marL="0">
              <a:buNone/>
            </a:pPr>
            <a:r>
              <a:rPr lang="en-US" sz="1200" dirty="0">
                <a:solidFill>
                  <a:srgbClr val="000000"/>
                </a:solidFill>
                <a:latin typeface="Gartner Sans" pitchFamily="34" charset="0"/>
                <a:ea typeface="Gartner Sans" pitchFamily="34" charset="-122"/>
                <a:cs typeface="Gartner Sans" pitchFamily="34" charset="-120"/>
              </a:rPr>
              <a:t>Image source: </a:t>
            </a:r>
            <a:pPr algn="l" indent="0" marL="0">
              <a:buNone/>
            </a:pPr>
            <a:r>
              <a:rPr lang="en-US" sz="1200" u="sng" dirty="0">
                <a:solidFill>
                  <a:srgbClr val="0563C1"/>
                </a:solidFill>
                <a:latin typeface="Gartner Sans" pitchFamily="34" charset="0"/>
                <a:ea typeface="Gartner Sans" pitchFamily="34" charset="-122"/>
                <a:cs typeface="Gartner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Source: Drive Business Agility With Infrastructure Platform Engineering</a:t>
            </a:r>
            <a:endParaRPr lang="en-US" sz="1200" dirty="0"/>
          </a:p>
        </p:txBody>
      </p:sp>
      <p:sp>
        <p:nvSpPr>
          <p:cNvPr id="5" name="Text 2"/>
          <p:cNvSpPr/>
          <p:nvPr/>
        </p:nvSpPr>
        <p:spPr>
          <a:xfrm>
            <a:off x="457200" y="6391656"/>
            <a:ext cx="502920" cy="155448"/>
          </a:xfrm>
          <a:prstGeom prst="rect">
            <a:avLst/>
          </a:prstGeom>
          <a:noFill/>
          <a:ln/>
        </p:spPr>
        <p:txBody>
          <a:bodyPr wrap="square" rtlCol="0" anchor="ctr"/>
          <a:lstStyle/>
          <a:p>
            <a:pPr algn="l" indent="0" marL="0">
              <a:buNone/>
            </a:pPr>
            <a:r>
              <a:rPr lang="en-US" sz="700" dirty="0">
                <a:solidFill>
                  <a:srgbClr val="000000"/>
                </a:solidFill>
                <a:latin typeface="Gartner Sans" pitchFamily="34" charset="0"/>
                <a:ea typeface="Gartner Sans" pitchFamily="34" charset="-122"/>
                <a:cs typeface="Gartner Sans" pitchFamily="34" charset="-120"/>
              </a:rPr>
              <a:t>13</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365760"/>
            <a:ext cx="12191695" cy="448056"/>
          </a:xfrm>
          <a:prstGeom prst="rect">
            <a:avLst/>
          </a:prstGeom>
          <a:noFill/>
          <a:ln/>
        </p:spPr>
        <p:txBody>
          <a:bodyPr wrap="square" rtlCol="0" anchor="t"/>
          <a:lstStyle/>
          <a:p>
            <a:pPr algn="l" indent="0" marL="0">
              <a:buNone/>
            </a:pPr>
            <a:r>
              <a:rPr lang="en-US" sz="2800" dirty="0">
                <a:solidFill>
                  <a:srgbClr val="002869"/>
                </a:solidFill>
                <a:latin typeface="Gartner Sans Semibold" pitchFamily="34" charset="0"/>
                <a:ea typeface="Gartner Sans Semibold" pitchFamily="34" charset="-122"/>
                <a:cs typeface="Gartner Sans Semibold" pitchFamily="34" charset="-120"/>
              </a:rPr>
              <a:t>Image Appendix</a:t>
            </a:r>
            <a:endParaRPr lang="en-US" sz="2800" dirty="0"/>
          </a:p>
        </p:txBody>
      </p:sp>
      <p:pic>
        <p:nvPicPr>
          <p:cNvPr id="3" name="Image 0" descr="preencoded.png">    </p:cNvPr>
          <p:cNvPicPr>
            <a:picLocks noChangeAspect="1"/>
          </p:cNvPicPr>
          <p:nvPr/>
        </p:nvPicPr>
        <p:blipFill>
          <a:blip r:embed="rId1"/>
          <a:stretch>
            <a:fillRect/>
          </a:stretch>
        </p:blipFill>
        <p:spPr>
          <a:xfrm>
            <a:off x="457200" y="1097280"/>
            <a:ext cx="7969608" cy="4370832"/>
          </a:xfrm>
          <a:prstGeom prst="rect">
            <a:avLst/>
          </a:prstGeom>
        </p:spPr>
      </p:pic>
      <p:sp>
        <p:nvSpPr>
          <p:cNvPr id="4" name="Text 1"/>
          <p:cNvSpPr/>
          <p:nvPr/>
        </p:nvSpPr>
        <p:spPr>
          <a:xfrm>
            <a:off x="457200" y="5513832"/>
            <a:ext cx="11277295" cy="457200"/>
          </a:xfrm>
          <a:prstGeom prst="rect">
            <a:avLst/>
          </a:prstGeom>
          <a:noFill/>
          <a:ln/>
        </p:spPr>
        <p:txBody>
          <a:bodyPr wrap="square" rtlCol="0" anchor="t"/>
          <a:lstStyle/>
          <a:p>
            <a:pPr algn="l" indent="0" marL="0">
              <a:buNone/>
            </a:pPr>
            <a:r>
              <a:rPr lang="en-US" sz="1200" dirty="0">
                <a:solidFill>
                  <a:srgbClr val="000000"/>
                </a:solidFill>
                <a:latin typeface="Gartner Sans" pitchFamily="34" charset="0"/>
                <a:ea typeface="Gartner Sans" pitchFamily="34" charset="-122"/>
                <a:cs typeface="Gartner Sans" pitchFamily="34" charset="-120"/>
              </a:rPr>
              <a:t>Image source: </a:t>
            </a:r>
            <a:pPr algn="l" indent="0" marL="0">
              <a:buNone/>
            </a:pPr>
            <a:r>
              <a:rPr lang="en-US" sz="1200" u="sng" dirty="0">
                <a:solidFill>
                  <a:srgbClr val="0563C1"/>
                </a:solidFill>
                <a:latin typeface="Gartner Sans" pitchFamily="34" charset="0"/>
                <a:ea typeface="Gartner Sans" pitchFamily="34" charset="-122"/>
                <a:cs typeface="Gartner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Source: How to Structure Your Infrastructure Platform Engineering Journey</a:t>
            </a:r>
            <a:endParaRPr lang="en-US" sz="1200" dirty="0"/>
          </a:p>
        </p:txBody>
      </p:sp>
      <p:sp>
        <p:nvSpPr>
          <p:cNvPr id="5" name="Text 2"/>
          <p:cNvSpPr/>
          <p:nvPr/>
        </p:nvSpPr>
        <p:spPr>
          <a:xfrm>
            <a:off x="457200" y="6391656"/>
            <a:ext cx="502920" cy="155448"/>
          </a:xfrm>
          <a:prstGeom prst="rect">
            <a:avLst/>
          </a:prstGeom>
          <a:noFill/>
          <a:ln/>
        </p:spPr>
        <p:txBody>
          <a:bodyPr wrap="square" rtlCol="0" anchor="ctr"/>
          <a:lstStyle/>
          <a:p>
            <a:pPr algn="l" indent="0" marL="0">
              <a:buNone/>
            </a:pPr>
            <a:r>
              <a:rPr lang="en-US" sz="700" dirty="0">
                <a:solidFill>
                  <a:srgbClr val="000000"/>
                </a:solidFill>
                <a:latin typeface="Gartner Sans" pitchFamily="34" charset="0"/>
                <a:ea typeface="Gartner Sans" pitchFamily="34" charset="-122"/>
                <a:cs typeface="Gartner Sans" pitchFamily="34" charset="-120"/>
              </a:rPr>
              <a:t>14</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365760"/>
            <a:ext cx="12191695" cy="448056"/>
          </a:xfrm>
          <a:prstGeom prst="rect">
            <a:avLst/>
          </a:prstGeom>
          <a:noFill/>
          <a:ln/>
        </p:spPr>
        <p:txBody>
          <a:bodyPr wrap="square" rtlCol="0" anchor="t"/>
          <a:lstStyle/>
          <a:p>
            <a:pPr algn="l" indent="0" marL="0">
              <a:buNone/>
            </a:pPr>
            <a:r>
              <a:rPr lang="en-US" sz="2800" dirty="0">
                <a:solidFill>
                  <a:srgbClr val="002869"/>
                </a:solidFill>
                <a:latin typeface="Gartner Sans Semibold" pitchFamily="34" charset="0"/>
                <a:ea typeface="Gartner Sans Semibold" pitchFamily="34" charset="-122"/>
                <a:cs typeface="Gartner Sans Semibold" pitchFamily="34" charset="-120"/>
              </a:rPr>
              <a:t>Image Appendix</a:t>
            </a:r>
            <a:endParaRPr lang="en-US" sz="2800" dirty="0"/>
          </a:p>
        </p:txBody>
      </p:sp>
      <p:pic>
        <p:nvPicPr>
          <p:cNvPr id="3" name="Image 0" descr="preencoded.png">    </p:cNvPr>
          <p:cNvPicPr>
            <a:picLocks noChangeAspect="1"/>
          </p:cNvPicPr>
          <p:nvPr/>
        </p:nvPicPr>
        <p:blipFill>
          <a:blip r:embed="rId1"/>
          <a:stretch>
            <a:fillRect/>
          </a:stretch>
        </p:blipFill>
        <p:spPr>
          <a:xfrm>
            <a:off x="457200" y="1097280"/>
            <a:ext cx="7291471" cy="4370832"/>
          </a:xfrm>
          <a:prstGeom prst="rect">
            <a:avLst/>
          </a:prstGeom>
        </p:spPr>
      </p:pic>
      <p:sp>
        <p:nvSpPr>
          <p:cNvPr id="4" name="Text 1"/>
          <p:cNvSpPr/>
          <p:nvPr/>
        </p:nvSpPr>
        <p:spPr>
          <a:xfrm>
            <a:off x="457200" y="5513832"/>
            <a:ext cx="11277295" cy="457200"/>
          </a:xfrm>
          <a:prstGeom prst="rect">
            <a:avLst/>
          </a:prstGeom>
          <a:noFill/>
          <a:ln/>
        </p:spPr>
        <p:txBody>
          <a:bodyPr wrap="square" rtlCol="0" anchor="t"/>
          <a:lstStyle/>
          <a:p>
            <a:pPr algn="l" indent="0" marL="0">
              <a:buNone/>
            </a:pPr>
            <a:r>
              <a:rPr lang="en-US" sz="1200" dirty="0">
                <a:solidFill>
                  <a:srgbClr val="000000"/>
                </a:solidFill>
                <a:latin typeface="Gartner Sans" pitchFamily="34" charset="0"/>
                <a:ea typeface="Gartner Sans" pitchFamily="34" charset="-122"/>
                <a:cs typeface="Gartner Sans" pitchFamily="34" charset="-120"/>
              </a:rPr>
              <a:t>Image source: </a:t>
            </a:r>
            <a:pPr algn="l" indent="0" marL="0">
              <a:buNone/>
            </a:pPr>
            <a:r>
              <a:rPr lang="en-US" sz="1200" u="sng" dirty="0">
                <a:solidFill>
                  <a:srgbClr val="0563C1"/>
                </a:solidFill>
                <a:latin typeface="Gartner Sans" pitchFamily="34" charset="0"/>
                <a:ea typeface="Gartner Sans" pitchFamily="34" charset="-122"/>
                <a:cs typeface="Gartner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Source: Blueprint for Platform-Centric I&amp;O</a:t>
            </a:r>
            <a:endParaRPr lang="en-US" sz="1200" dirty="0"/>
          </a:p>
        </p:txBody>
      </p:sp>
      <p:sp>
        <p:nvSpPr>
          <p:cNvPr id="5" name="Text 2"/>
          <p:cNvSpPr/>
          <p:nvPr/>
        </p:nvSpPr>
        <p:spPr>
          <a:xfrm>
            <a:off x="457200" y="6391656"/>
            <a:ext cx="502920" cy="155448"/>
          </a:xfrm>
          <a:prstGeom prst="rect">
            <a:avLst/>
          </a:prstGeom>
          <a:noFill/>
          <a:ln/>
        </p:spPr>
        <p:txBody>
          <a:bodyPr wrap="square" rtlCol="0" anchor="ctr"/>
          <a:lstStyle/>
          <a:p>
            <a:pPr algn="l" indent="0" marL="0">
              <a:buNone/>
            </a:pPr>
            <a:r>
              <a:rPr lang="en-US" sz="700" dirty="0">
                <a:solidFill>
                  <a:srgbClr val="000000"/>
                </a:solidFill>
                <a:latin typeface="Gartner Sans" pitchFamily="34" charset="0"/>
                <a:ea typeface="Gartner Sans" pitchFamily="34" charset="-122"/>
                <a:cs typeface="Gartner Sans" pitchFamily="34" charset="-120"/>
              </a:rPr>
              <a:t>15</a:t>
            </a:r>
            <a:endParaRPr lang="en-US" sz="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365760"/>
            <a:ext cx="12191695" cy="448056"/>
          </a:xfrm>
          <a:prstGeom prst="rect">
            <a:avLst/>
          </a:prstGeom>
          <a:noFill/>
          <a:ln/>
        </p:spPr>
        <p:txBody>
          <a:bodyPr wrap="square" rtlCol="0" anchor="t"/>
          <a:lstStyle/>
          <a:p>
            <a:pPr algn="l" indent="0" marL="0">
              <a:buNone/>
            </a:pPr>
            <a:r>
              <a:rPr lang="en-US" sz="2800" dirty="0">
                <a:solidFill>
                  <a:srgbClr val="002869"/>
                </a:solidFill>
                <a:latin typeface="Gartner Sans Semibold" pitchFamily="34" charset="0"/>
                <a:ea typeface="Gartner Sans Semibold" pitchFamily="34" charset="-122"/>
                <a:cs typeface="Gartner Sans Semibold" pitchFamily="34" charset="-120"/>
              </a:rPr>
              <a:t>Image Appendix</a:t>
            </a:r>
            <a:endParaRPr lang="en-US" sz="2800" dirty="0"/>
          </a:p>
        </p:txBody>
      </p:sp>
      <p:pic>
        <p:nvPicPr>
          <p:cNvPr id="3" name="Image 0" descr="preencoded.png">    </p:cNvPr>
          <p:cNvPicPr>
            <a:picLocks noChangeAspect="1"/>
          </p:cNvPicPr>
          <p:nvPr/>
        </p:nvPicPr>
        <p:blipFill>
          <a:blip r:embed="rId1"/>
          <a:stretch>
            <a:fillRect/>
          </a:stretch>
        </p:blipFill>
        <p:spPr>
          <a:xfrm>
            <a:off x="457200" y="1097280"/>
            <a:ext cx="7291471" cy="4370832"/>
          </a:xfrm>
          <a:prstGeom prst="rect">
            <a:avLst/>
          </a:prstGeom>
        </p:spPr>
      </p:pic>
      <p:sp>
        <p:nvSpPr>
          <p:cNvPr id="4" name="Text 1"/>
          <p:cNvSpPr/>
          <p:nvPr/>
        </p:nvSpPr>
        <p:spPr>
          <a:xfrm>
            <a:off x="457200" y="5513832"/>
            <a:ext cx="11277295" cy="457200"/>
          </a:xfrm>
          <a:prstGeom prst="rect">
            <a:avLst/>
          </a:prstGeom>
          <a:noFill/>
          <a:ln/>
        </p:spPr>
        <p:txBody>
          <a:bodyPr wrap="square" rtlCol="0" anchor="t"/>
          <a:lstStyle/>
          <a:p>
            <a:pPr algn="l" indent="0" marL="0">
              <a:buNone/>
            </a:pPr>
            <a:r>
              <a:rPr lang="en-US" sz="1200" dirty="0">
                <a:solidFill>
                  <a:srgbClr val="000000"/>
                </a:solidFill>
                <a:latin typeface="Gartner Sans" pitchFamily="34" charset="0"/>
                <a:ea typeface="Gartner Sans" pitchFamily="34" charset="-122"/>
                <a:cs typeface="Gartner Sans" pitchFamily="34" charset="-120"/>
              </a:rPr>
              <a:t>Image source: </a:t>
            </a:r>
            <a:pPr algn="l" indent="0" marL="0">
              <a:buNone/>
            </a:pPr>
            <a:r>
              <a:rPr lang="en-US" sz="1200" u="sng" dirty="0">
                <a:solidFill>
                  <a:srgbClr val="0563C1"/>
                </a:solidFill>
                <a:latin typeface="Gartner Sans" pitchFamily="34" charset="0"/>
                <a:ea typeface="Gartner Sans" pitchFamily="34" charset="-122"/>
                <a:cs typeface="Gartner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Source: Invest “Just Enough” in Infrastructure Platform Engineering to Deliver Sustaina...</a:t>
            </a:r>
            <a:endParaRPr lang="en-US" sz="1200" dirty="0"/>
          </a:p>
        </p:txBody>
      </p:sp>
      <p:sp>
        <p:nvSpPr>
          <p:cNvPr id="5" name="Text 2"/>
          <p:cNvSpPr/>
          <p:nvPr/>
        </p:nvSpPr>
        <p:spPr>
          <a:xfrm>
            <a:off x="457200" y="6391656"/>
            <a:ext cx="502920" cy="155448"/>
          </a:xfrm>
          <a:prstGeom prst="rect">
            <a:avLst/>
          </a:prstGeom>
          <a:noFill/>
          <a:ln/>
        </p:spPr>
        <p:txBody>
          <a:bodyPr wrap="square" rtlCol="0" anchor="ctr"/>
          <a:lstStyle/>
          <a:p>
            <a:pPr algn="l" indent="0" marL="0">
              <a:buNone/>
            </a:pPr>
            <a:r>
              <a:rPr lang="en-US" sz="700" dirty="0">
                <a:solidFill>
                  <a:srgbClr val="000000"/>
                </a:solidFill>
                <a:latin typeface="Gartner Sans" pitchFamily="34" charset="0"/>
                <a:ea typeface="Gartner Sans" pitchFamily="34" charset="-122"/>
                <a:cs typeface="Gartner Sans" pitchFamily="34" charset="-120"/>
              </a:rPr>
              <a:t>16</a:t>
            </a:r>
            <a:endParaRPr lang="en-US" sz="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365760"/>
            <a:ext cx="12191695" cy="448056"/>
          </a:xfrm>
          <a:prstGeom prst="rect">
            <a:avLst/>
          </a:prstGeom>
          <a:noFill/>
          <a:ln/>
        </p:spPr>
        <p:txBody>
          <a:bodyPr wrap="square" rtlCol="0" anchor="t"/>
          <a:lstStyle/>
          <a:p>
            <a:pPr algn="l" indent="0" marL="0">
              <a:buNone/>
            </a:pPr>
            <a:r>
              <a:rPr lang="en-US" sz="2800" dirty="0">
                <a:solidFill>
                  <a:srgbClr val="002869"/>
                </a:solidFill>
                <a:latin typeface="Gartner Sans Semibold" pitchFamily="34" charset="0"/>
                <a:ea typeface="Gartner Sans Semibold" pitchFamily="34" charset="-122"/>
                <a:cs typeface="Gartner Sans Semibold" pitchFamily="34" charset="-120"/>
              </a:rPr>
              <a:t>Image Appendix</a:t>
            </a:r>
            <a:endParaRPr lang="en-US" sz="2800" dirty="0"/>
          </a:p>
        </p:txBody>
      </p:sp>
      <p:pic>
        <p:nvPicPr>
          <p:cNvPr id="3" name="Image 0" descr="preencoded.png">    </p:cNvPr>
          <p:cNvPicPr>
            <a:picLocks noChangeAspect="1"/>
          </p:cNvPicPr>
          <p:nvPr/>
        </p:nvPicPr>
        <p:blipFill>
          <a:blip r:embed="rId1"/>
          <a:stretch>
            <a:fillRect/>
          </a:stretch>
        </p:blipFill>
        <p:spPr>
          <a:xfrm>
            <a:off x="457200" y="1097280"/>
            <a:ext cx="7770368" cy="4370832"/>
          </a:xfrm>
          <a:prstGeom prst="rect">
            <a:avLst/>
          </a:prstGeom>
        </p:spPr>
      </p:pic>
      <p:sp>
        <p:nvSpPr>
          <p:cNvPr id="4" name="Text 1"/>
          <p:cNvSpPr/>
          <p:nvPr/>
        </p:nvSpPr>
        <p:spPr>
          <a:xfrm>
            <a:off x="457200" y="5513832"/>
            <a:ext cx="11277295" cy="457200"/>
          </a:xfrm>
          <a:prstGeom prst="rect">
            <a:avLst/>
          </a:prstGeom>
          <a:noFill/>
          <a:ln/>
        </p:spPr>
        <p:txBody>
          <a:bodyPr wrap="square" rtlCol="0" anchor="t"/>
          <a:lstStyle/>
          <a:p>
            <a:pPr algn="l" indent="0" marL="0">
              <a:buNone/>
            </a:pPr>
            <a:r>
              <a:rPr lang="en-US" sz="1200" dirty="0">
                <a:solidFill>
                  <a:srgbClr val="000000"/>
                </a:solidFill>
                <a:latin typeface="Gartner Sans" pitchFamily="34" charset="0"/>
                <a:ea typeface="Gartner Sans" pitchFamily="34" charset="-122"/>
                <a:cs typeface="Gartner Sans" pitchFamily="34" charset="-120"/>
              </a:rPr>
              <a:t>Image source: </a:t>
            </a:r>
            <a:pPr algn="l" indent="0" marL="0">
              <a:buNone/>
            </a:pPr>
            <a:r>
              <a:rPr lang="en-US" sz="1200" u="sng" dirty="0">
                <a:solidFill>
                  <a:srgbClr val="0563C1"/>
                </a:solidFill>
                <a:latin typeface="Gartner Sans" pitchFamily="34" charset="0"/>
                <a:ea typeface="Gartner Sans" pitchFamily="34" charset="-122"/>
                <a:cs typeface="Gartner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Source: The Infrastructure You Need for Platform-Centric I&amp;O</a:t>
            </a:r>
            <a:endParaRPr lang="en-US" sz="1200" dirty="0"/>
          </a:p>
        </p:txBody>
      </p:sp>
      <p:sp>
        <p:nvSpPr>
          <p:cNvPr id="5" name="Text 2"/>
          <p:cNvSpPr/>
          <p:nvPr/>
        </p:nvSpPr>
        <p:spPr>
          <a:xfrm>
            <a:off x="457200" y="6391656"/>
            <a:ext cx="502920" cy="155448"/>
          </a:xfrm>
          <a:prstGeom prst="rect">
            <a:avLst/>
          </a:prstGeom>
          <a:noFill/>
          <a:ln/>
        </p:spPr>
        <p:txBody>
          <a:bodyPr wrap="square" rtlCol="0" anchor="ctr"/>
          <a:lstStyle/>
          <a:p>
            <a:pPr algn="l" indent="0" marL="0">
              <a:buNone/>
            </a:pPr>
            <a:r>
              <a:rPr lang="en-US" sz="700" dirty="0">
                <a:solidFill>
                  <a:srgbClr val="000000"/>
                </a:solidFill>
                <a:latin typeface="Gartner Sans" pitchFamily="34" charset="0"/>
                <a:ea typeface="Gartner Sans" pitchFamily="34" charset="-122"/>
                <a:cs typeface="Gartner Sans" pitchFamily="34" charset="-120"/>
              </a:rPr>
              <a:t>17</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Gartner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Ask Gartner</dc:title>
  <dc:subject>Ask Gartner Presentation</dc:subject>
  <dc:creator>Gartner</dc:creator>
  <cp:lastModifiedBy>Gartner</cp:lastModifiedBy>
  <cp:revision>1</cp:revision>
  <dcterms:created xsi:type="dcterms:W3CDTF">2026-08-10T03:05:05Z</dcterms:created>
  <dcterms:modified xsi:type="dcterms:W3CDTF">2026-08-10T03:05:05Z</dcterms:modified>
</cp:coreProperties>
</file>