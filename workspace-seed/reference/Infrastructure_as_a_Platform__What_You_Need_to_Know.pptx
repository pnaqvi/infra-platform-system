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1695" cy="6858000"/>
  <p:notesSz cx="6858000" cy="12191695"/>
  <p:embeddedFontLst>
    <p:embeddedFont>
      <p:font typeface="Gartner Sans"/>
      <p:regular r:id="rId201314"/>
      <p:bold r:id="rId201315"/>
      <p:italic r:id="rId201316"/>
      <p:boldItalic r:id="rId201317"/>
    </p:embeddedFont>
    <p:embeddedFont>
      <p:font typeface="Gartner Sans Semibold"/>
      <p:regular r:id="rId201318"/>
      <p:italic r:id="rId2013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MASTER">
    <p:bg>
      <p:bgPr>
        <a:solidFill>
          <a:srgbClr val="002869"/>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preencoded.png">    </p:cNvPr>
          <p:cNvPicPr>
            <a:picLocks noChangeAspect="1"/>
          </p:cNvPicPr>
          <p:nvPr/>
        </p:nvPicPr>
        <p:blipFill>
          <a:blip r:embed="rId2"/>
          <a:stretch>
            <a:fillRect/>
          </a:stretch>
        </p:blipFill>
        <p:spPr>
          <a:xfrm>
            <a:off x="685800" y="685800"/>
            <a:ext cx="1728216" cy="393192"/>
          </a:xfrm>
          <a:prstGeom prst="rect">
            <a:avLst/>
          </a:prstGeom>
        </p:spPr>
      </p:pic>
      <p:sp>
        <p:nvSpPr>
          <p:cNvPr id="4" name="Shape 0"/>
          <p:cNvSpPr/>
          <p:nvPr/>
        </p:nvSpPr>
        <p:spPr>
          <a:xfrm>
            <a:off x="1498600" y="2148840"/>
            <a:ext cx="101600" cy="2185416"/>
          </a:xfrm>
          <a:prstGeom prst="rect">
            <a:avLst/>
          </a:prstGeom>
          <a:solidFill>
            <a:srgbClr val="1F96FF"/>
          </a:solidFill>
          <a:ln/>
        </p:spPr>
      </p:sp>
      <p:sp>
        <p:nvSpPr>
          <p:cNvPr id="5" name="Shape 1"/>
          <p:cNvSpPr/>
          <p:nvPr/>
        </p:nvSpPr>
        <p:spPr>
          <a:xfrm>
            <a:off x="8961120" y="2148840"/>
            <a:ext cx="101600" cy="2185416"/>
          </a:xfrm>
          <a:prstGeom prst="rect">
            <a:avLst/>
          </a:prstGeom>
          <a:solidFill>
            <a:srgbClr val="1F96FF"/>
          </a:solidFill>
          <a:ln/>
        </p:spPr>
      </p:sp>
      <p:sp>
        <p:nvSpPr>
          <p:cNvPr id="6" name="Text 2"/>
          <p:cNvSpPr/>
          <p:nvPr/>
        </p:nvSpPr>
        <p:spPr>
          <a:xfrm>
            <a:off x="685800" y="6199632"/>
            <a:ext cx="8686800" cy="320040"/>
          </a:xfrm>
          <a:prstGeom prst="rect">
            <a:avLst/>
          </a:prstGeom>
          <a:noFill/>
          <a:ln/>
        </p:spPr>
        <p:txBody>
          <a:bodyPr wrap="square" rtlCol="0" anchor="t"/>
          <a:lstStyle/>
          <a:p>
            <a:pPr algn="l" indent="0" marL="0">
              <a:buNone/>
            </a:pPr>
            <a:r>
              <a:rPr lang="en-US" sz="700" dirty="0">
                <a:solidFill>
                  <a:srgbClr val="FFFFFF"/>
                </a:solidFill>
                <a:latin typeface="Gartner Sans" pitchFamily="34" charset="0"/>
                <a:ea typeface="Gartner Sans" pitchFamily="34" charset="-122"/>
                <a:cs typeface="Gartner Sans" pitchFamily="34" charset="-120"/>
              </a:rPr>
              <a:t>© 2026 Gartner, Inc. and/or its affiliates. All rights reserved. Gartner is a registered trademark of Gartner, Inc. or its affiliates. This presentation, including all supporting materials, 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endParaRPr lang="en-US" sz="7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MASTER">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6391656"/>
            <a:ext cx="7104888" cy="155448"/>
          </a:xfrm>
          <a:prstGeom prst="rect">
            <a:avLst/>
          </a:prstGeom>
          <a:noFill/>
          <a:ln/>
        </p:spPr>
        <p:txBody>
          <a:bodyPr wrap="square" rtlCol="0" anchor="ctr"/>
          <a:lstStyle/>
          <a:p>
            <a:pPr algn="l" indent="0" marL="0">
              <a:buNone/>
            </a:pPr>
            <a:r>
              <a:rPr lang="en-US" sz="700" dirty="0">
                <a:solidFill>
                  <a:srgbClr val="000000"/>
                </a:solidFill>
                <a:latin typeface="Gartner Sans" pitchFamily="34" charset="0"/>
                <a:ea typeface="Gartner Sans" pitchFamily="34" charset="-122"/>
                <a:cs typeface="Gartner Sans" pitchFamily="34" charset="-120"/>
              </a:rPr>
              <a:t>Content is generated from Gartner's AskGartner tool and should be checked against its source on www.gartner.com.</a:t>
            </a:r>
            <a:endParaRPr lang="en-US" sz="700" dirty="0"/>
          </a:p>
        </p:txBody>
      </p:sp>
      <p:pic>
        <p:nvPicPr>
          <p:cNvPr id="3" name="Image 0" descr="preencoded.png">    </p:cNvPr>
          <p:cNvPicPr>
            <a:picLocks noChangeAspect="1"/>
          </p:cNvPicPr>
          <p:nvPr/>
        </p:nvPicPr>
        <p:blipFill>
          <a:blip r:embed="rId1"/>
          <a:stretch>
            <a:fillRect/>
          </a:stretch>
        </p:blipFill>
        <p:spPr>
          <a:xfrm>
            <a:off x="10451592" y="6236208"/>
            <a:ext cx="1362456" cy="310896"/>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EGAL_MASTER">
    <p:bg>
      <p:bgPr>
        <a:solidFill>
          <a:srgbClr val="E0F1FF"/>
        </a:solidFill>
      </p:bgPr>
    </p:bg>
    <p:spTree>
      <p:nvGrpSpPr>
        <p:cNvPr id="1" name=""/>
        <p:cNvGrpSpPr/>
        <p:nvPr/>
      </p:nvGrpSpPr>
      <p:grpSpPr>
        <a:xfrm>
          <a:off x="0" y="0"/>
          <a:ext cx="0" cy="0"/>
          <a:chOff x="0" y="0"/>
          <a:chExt cx="0" cy="0"/>
        </a:xfrm>
      </p:grpSpPr>
      <p:sp>
        <p:nvSpPr>
          <p:cNvPr id="2" name="Text 0"/>
          <p:cNvSpPr/>
          <p:nvPr/>
        </p:nvSpPr>
        <p:spPr>
          <a:xfrm>
            <a:off x="658368" y="6391656"/>
            <a:ext cx="7104888" cy="155448"/>
          </a:xfrm>
          <a:prstGeom prst="rect">
            <a:avLst/>
          </a:prstGeom>
          <a:noFill/>
          <a:ln/>
        </p:spPr>
        <p:txBody>
          <a:bodyPr wrap="square" rtlCol="0" anchor="ctr"/>
          <a:lstStyle/>
          <a:p>
            <a:pPr algn="l" indent="0" marL="0">
              <a:buNone/>
            </a:pPr>
            <a:r>
              <a:rPr lang="en-US" sz="700" dirty="0">
                <a:solidFill>
                  <a:srgbClr val="000000"/>
                </a:solidFill>
                <a:latin typeface="Gartner Sans" pitchFamily="34" charset="0"/>
                <a:ea typeface="Gartner Sans" pitchFamily="34" charset="-122"/>
                <a:cs typeface="Gartner Sans" pitchFamily="34" charset="-120"/>
              </a:rPr>
              <a:t>Content is generated from Gartner's AskGartner tool and should be checked against its source on www.gartner.com.</a:t>
            </a:r>
            <a:endParaRPr lang="en-US" sz="700" dirty="0"/>
          </a:p>
        </p:txBody>
      </p:sp>
      <p:pic>
        <p:nvPicPr>
          <p:cNvPr id="3" name="Image 0" descr="preencoded.png">    </p:cNvPr>
          <p:cNvPicPr>
            <a:picLocks noChangeAspect="1"/>
          </p:cNvPicPr>
          <p:nvPr/>
        </p:nvPicPr>
        <p:blipFill>
          <a:blip r:embed="rId1"/>
          <a:stretch>
            <a:fillRect/>
          </a:stretch>
        </p:blipFill>
        <p:spPr>
          <a:xfrm>
            <a:off x="10451592" y="6236208"/>
            <a:ext cx="1362456" cy="310896"/>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IVIDER_MASTER">
    <p:bg>
      <p:bgPr>
        <a:solidFill>
          <a:srgbClr val="002869"/>
        </a:solidFill>
      </p:bgPr>
    </p:bg>
    <p:spTree>
      <p:nvGrpSpPr>
        <p:cNvPr id="1" name=""/>
        <p:cNvGrpSpPr/>
        <p:nvPr/>
      </p:nvGrpSpPr>
      <p:grpSpPr>
        <a:xfrm>
          <a:off x="0" y="0"/>
          <a:ext cx="0" cy="0"/>
          <a:chOff x="0" y="0"/>
          <a:chExt cx="0" cy="0"/>
        </a:xfrm>
      </p:grpSpPr>
      <p:sp>
        <p:nvSpPr>
          <p:cNvPr id="2" name="Shape 0"/>
          <p:cNvSpPr/>
          <p:nvPr/>
        </p:nvSpPr>
        <p:spPr>
          <a:xfrm>
            <a:off x="1498600" y="2148840"/>
            <a:ext cx="101600" cy="2185416"/>
          </a:xfrm>
          <a:prstGeom prst="rect">
            <a:avLst/>
          </a:prstGeom>
          <a:solidFill>
            <a:srgbClr val="1F96FF"/>
          </a:solidFill>
          <a:ln/>
        </p:spPr>
      </p:sp>
      <p:sp>
        <p:nvSpPr>
          <p:cNvPr id="3" name="Shape 1"/>
          <p:cNvSpPr/>
          <p:nvPr/>
        </p:nvSpPr>
        <p:spPr>
          <a:xfrm>
            <a:off x="8961120" y="2148840"/>
            <a:ext cx="101600" cy="2185416"/>
          </a:xfrm>
          <a:prstGeom prst="rect">
            <a:avLst/>
          </a:prstGeom>
          <a:solidFill>
            <a:srgbClr val="1F96FF"/>
          </a:solidFill>
          <a:ln/>
        </p:spPr>
      </p:sp>
      <p:sp>
        <p:nvSpPr>
          <p:cNvPr id="4" name="Text 2"/>
          <p:cNvSpPr/>
          <p:nvPr/>
        </p:nvSpPr>
        <p:spPr>
          <a:xfrm>
            <a:off x="658368" y="6391656"/>
            <a:ext cx="7104888" cy="155448"/>
          </a:xfrm>
          <a:prstGeom prst="rect">
            <a:avLst/>
          </a:prstGeom>
          <a:noFill/>
          <a:ln/>
        </p:spPr>
        <p:txBody>
          <a:bodyPr wrap="square" rtlCol="0" anchor="ctr"/>
          <a:lstStyle/>
          <a:p>
            <a:pPr algn="l" indent="0" marL="0">
              <a:buNone/>
            </a:pPr>
            <a:r>
              <a:rPr lang="en-US" sz="700" dirty="0">
                <a:solidFill>
                  <a:srgbClr val="FFFFFF"/>
                </a:solidFill>
                <a:latin typeface="Gartner Sans" pitchFamily="34" charset="0"/>
                <a:ea typeface="Gartner Sans" pitchFamily="34" charset="-122"/>
                <a:cs typeface="Gartner Sans" pitchFamily="34" charset="-120"/>
              </a:rPr>
              <a:t>Content is generated from Gartner's AskGartner tool and should be checked against its source on www.gartner.com.</a:t>
            </a:r>
            <a:endParaRPr lang="en-US" sz="700" dirty="0"/>
          </a:p>
        </p:txBody>
      </p:sp>
      <p:pic>
        <p:nvPicPr>
          <p:cNvPr id="5" name="Image 0" descr="preencoded.png">    </p:cNvPr>
          <p:cNvPicPr>
            <a:picLocks noChangeAspect="1"/>
          </p:cNvPicPr>
          <p:nvPr/>
        </p:nvPicPr>
        <p:blipFill>
          <a:blip r:embed="rId1"/>
          <a:stretch>
            <a:fillRect/>
          </a:stretch>
        </p:blipFill>
        <p:spPr>
          <a:xfrm>
            <a:off x="10451592" y="6236208"/>
            <a:ext cx="1362456" cy="310896"/>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www.gartner.com/en/about/policies/usage-policy" TargetMode="External"/><Relationship Id="rId2" Type="http://schemas.openxmlformats.org/officeDocument/2006/relationships/hyperlink" Target="https://www.gartner.com/reviews/guidelines" TargetMode="External"/><Relationship Id="rId3" Type="http://schemas.openxmlformats.org/officeDocument/2006/relationships/slideLayout" Target="../slideLayouts/slideLayout4.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gartner.com/document-reader/document/7184930?ref=askgartner-ppt" TargetMode="External"/><Relationship Id="rId2" Type="http://schemas.openxmlformats.org/officeDocument/2006/relationships/hyperlink" Target="https://www.gartner.com/document-reader/document/7090530?ref=askgartner-ppt" TargetMode="External"/><Relationship Id="rId3" Type="http://schemas.openxmlformats.org/officeDocument/2006/relationships/hyperlink" Target="https://www.gartner.com/document-reader/document/7025598?ref=askgartner-ppt" TargetMode="External"/><Relationship Id="rId4" Type="http://schemas.openxmlformats.org/officeDocument/2006/relationships/hyperlink" Target="https://www.gartner.com/document-reader/document/7184930?ref=askgartner-ppt" TargetMode="External"/><Relationship Id="rId5" Type="http://schemas.openxmlformats.org/officeDocument/2006/relationships/hyperlink" Target="https://www.gartner.com/document-reader/document/7184930?ref=askgartner-ppt" TargetMode="External"/><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www.gartner.com/document-reader/document/7025598?ref=askgartner-ppt" TargetMode="External"/><Relationship Id="rId2" Type="http://schemas.openxmlformats.org/officeDocument/2006/relationships/hyperlink" Target="https://www.gartner.com/document-reader/document/7141130?ref=askgartner-ppt" TargetMode="External"/><Relationship Id="rId3" Type="http://schemas.openxmlformats.org/officeDocument/2006/relationships/hyperlink" Target="https://www.gartner.com/document-reader/document/6454707?ref=askgartner-ppt" TargetMode="External"/><Relationship Id="rId4" Type="http://schemas.openxmlformats.org/officeDocument/2006/relationships/hyperlink" Target="https://www.gartner.com/document-reader/document/7141130?ref=askgartner-ppt" TargetMode="External"/><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www.gartner.com/document-reader/document/7699025?ref=askgartner-ppt" TargetMode="External"/><Relationship Id="rId2" Type="http://schemas.openxmlformats.org/officeDocument/2006/relationships/hyperlink" Target="https://www.gartner.com/document-reader/document/7699025?ref=askgartner-ppt" TargetMode="External"/><Relationship Id="rId3" Type="http://schemas.openxmlformats.org/officeDocument/2006/relationships/hyperlink" Target="https://www.gartner.com/document-reader/document/7699025?ref=askgartner-ppt" TargetMode="External"/><Relationship Id="rId4" Type="http://schemas.openxmlformats.org/officeDocument/2006/relationships/hyperlink" Target="https://www.gartner.com/document-reader/document/7699025?ref=askgartner-ppt" TargetMode="External"/><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www.gartner.com/document-reader/document/7141130?ref=askgartner-ppt" TargetMode="External"/><Relationship Id="rId2" Type="http://schemas.openxmlformats.org/officeDocument/2006/relationships/hyperlink" Target="https://www.gartner.com/document-reader/document/7090530?ref=askgartner-ppt" TargetMode="External"/><Relationship Id="rId3" Type="http://schemas.openxmlformats.org/officeDocument/2006/relationships/hyperlink" Target="https://www.gartner.com/document-reader/document/7090530?ref=askgartner-ppt" TargetMode="External"/><Relationship Id="rId4" Type="http://schemas.openxmlformats.org/officeDocument/2006/relationships/hyperlink" Target="https://www.gartner.com/document-reader/document/5352063?ref=askgartner-ppt" TargetMode="External"/><Relationship Id="rId5" Type="http://schemas.openxmlformats.org/officeDocument/2006/relationships/hyperlink" Target="https://www.gartner.com/document-reader/document/5352063?ref=askgartner-ppt" TargetMode="External"/><Relationship Id="rId6" Type="http://schemas.openxmlformats.org/officeDocument/2006/relationships/hyperlink" Target="https://www.gartner.com/document-reader/document/5352063?ref=askgartner-ppt" TargetMode="External"/><Relationship Id="rId7" Type="http://schemas.openxmlformats.org/officeDocument/2006/relationships/hyperlink" Target="https://www.gartner.com/document-reader/document/6022135?ref=askgartner-ppt" TargetMode="External"/><Relationship Id="rId8" Type="http://schemas.openxmlformats.org/officeDocument/2006/relationships/slideLayout" Target="../slideLayouts/slideLayout3.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www.gartner.com/document-reader/document/7699025?ref=askgartner-ppt" TargetMode="External"/><Relationship Id="rId2" Type="http://schemas.openxmlformats.org/officeDocument/2006/relationships/hyperlink" Target="https://www.gartner.com/document-reader/document/7699025?ref=askgartner-ppt" TargetMode="External"/><Relationship Id="rId3" Type="http://schemas.openxmlformats.org/officeDocument/2006/relationships/hyperlink" Target="https://www.gartner.com/document-reader/document/7025598?ref=askgartner-ppt" TargetMode="External"/><Relationship Id="rId4" Type="http://schemas.openxmlformats.org/officeDocument/2006/relationships/hyperlink" Target="https://www.gartner.com/document-reader/document/7141130?ref=askgartner-ppt" TargetMode="External"/><Relationship Id="rId5" Type="http://schemas.openxmlformats.org/officeDocument/2006/relationships/hyperlink" Target="https://www.gartner.com/document-reader/document/7141130?ref=askgartner-ppt" TargetMode="External"/><Relationship Id="rId6" Type="http://schemas.openxmlformats.org/officeDocument/2006/relationships/hyperlink" Target="https://www.gartner.com/document-reader/document/7699025?ref=askgartner-ppt" TargetMode="External"/><Relationship Id="rId7" Type="http://schemas.openxmlformats.org/officeDocument/2006/relationships/slideLayout" Target="../slideLayouts/slideLayout3.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www.gartner.com/document-reader/document/7141130?ref=askgartner-ppt" TargetMode="External"/><Relationship Id="rId2" Type="http://schemas.openxmlformats.org/officeDocument/2006/relationships/hyperlink" Target="https://www.gartner.com/document-reader/document/7141130?ref=askgartner-ppt" TargetMode="External"/><Relationship Id="rId3" Type="http://schemas.openxmlformats.org/officeDocument/2006/relationships/hyperlink" Target="https://www.gartner.com/document-reader/document/7141130?ref=askgartner-ppt" TargetMode="External"/><Relationship Id="rId4" Type="http://schemas.openxmlformats.org/officeDocument/2006/relationships/hyperlink" Target="https://www.gartner.com/document-reader/document/7141130?ref=askgartner-ppt" TargetMode="External"/><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www.gartner.com/document-reader/document/6454707?ref=askgartner-ppt" TargetMode="External"/><Relationship Id="rId2" Type="http://schemas.openxmlformats.org/officeDocument/2006/relationships/hyperlink" Target="https://www.gartner.com/document-reader/document/6454707?ref=askgartner-ppt" TargetMode="External"/><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www.gartner.com/document-reader/document/7184930?ref=askgartner-ppt" TargetMode="External"/><Relationship Id="rId2" Type="http://schemas.openxmlformats.org/officeDocument/2006/relationships/hyperlink" Target="https://www.gartner.com/document-reader/document/7699025?ref=askgartner-ppt" TargetMode="External"/><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www.gartner.com/document-reader/document/7184930?ref=askgartner-ppt" TargetMode="External"/><Relationship Id="rId2" Type="http://schemas.openxmlformats.org/officeDocument/2006/relationships/hyperlink" Target="https://www.gartner.com/document-reader/document/7090530?ref=askgartner-ppt" TargetMode="External"/><Relationship Id="rId3" Type="http://schemas.openxmlformats.org/officeDocument/2006/relationships/hyperlink" Target="https://www.gartner.com/document-reader/document/7025598?ref=askgartner-ppt" TargetMode="External"/><Relationship Id="rId4" Type="http://schemas.openxmlformats.org/officeDocument/2006/relationships/hyperlink" Target="https://www.gartner.com/document-reader/document/7141130?ref=askgartner-ppt" TargetMode="External"/><Relationship Id="rId5" Type="http://schemas.openxmlformats.org/officeDocument/2006/relationships/hyperlink" Target="https://www.gartner.com/document-reader/document/6454707?ref=askgartner-ppt" TargetMode="External"/><Relationship Id="rId6" Type="http://schemas.openxmlformats.org/officeDocument/2006/relationships/hyperlink" Target="https://www.gartner.com/document-reader/document/7699025?ref=askgartner-ppt" TargetMode="External"/><Relationship Id="rId7" Type="http://schemas.openxmlformats.org/officeDocument/2006/relationships/hyperlink" Target="https://www.gartner.com/document-reader/document/5352063?ref=askgartner-ppt" TargetMode="External"/><Relationship Id="rId8" Type="http://schemas.openxmlformats.org/officeDocument/2006/relationships/hyperlink" Target="https://www.gartner.com/document-reader/document/6022135?ref=askgartner-ppt" TargetMode="External"/><Relationship Id="rId9" Type="http://schemas.openxmlformats.org/officeDocument/2006/relationships/slideLayout" Target="../slideLayouts/slideLayout3.xml"/><Relationship Id="rId10"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2" Type="http://schemas.openxmlformats.org/officeDocument/2006/relationships/hyperlink" Target="https://www.gartner.com/document-reader/document/6022135?ref=askgartner-ppt" TargetMode="External"/><Relationship Id="rId1" Type="http://schemas.openxmlformats.org/officeDocument/2006/relationships/image" Target="../media/image-19-1.png"/><Relationship Id="rId3" Type="http://schemas.openxmlformats.org/officeDocument/2006/relationships/slideLayout" Target="../slideLayouts/slideLayout3.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2" Type="http://schemas.openxmlformats.org/officeDocument/2006/relationships/hyperlink" Target="https://www.gartner.com/document-reader/document/7025598?ref=askgartner-ppt" TargetMode="External"/><Relationship Id="rId1" Type="http://schemas.openxmlformats.org/officeDocument/2006/relationships/image" Target="../media/image-20-1.png"/><Relationship Id="rId3" Type="http://schemas.openxmlformats.org/officeDocument/2006/relationships/slideLayout" Target="../slideLayouts/slideLayout3.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2" Type="http://schemas.openxmlformats.org/officeDocument/2006/relationships/hyperlink" Target="https://www.gartner.com/document-reader/document/5352063?ref=askgartner-ppt" TargetMode="External"/><Relationship Id="rId1" Type="http://schemas.openxmlformats.org/officeDocument/2006/relationships/image" Target="../media/image-21-1.png"/><Relationship Id="rId3" Type="http://schemas.openxmlformats.org/officeDocument/2006/relationships/slideLayout" Target="../slideLayouts/slideLayout3.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2" Type="http://schemas.openxmlformats.org/officeDocument/2006/relationships/hyperlink" Target="https://www.gartner.com/document-reader/document/7141130?ref=askgartner-ppt" TargetMode="External"/><Relationship Id="rId1" Type="http://schemas.openxmlformats.org/officeDocument/2006/relationships/image" Target="../media/image-22-1.png"/><Relationship Id="rId3" Type="http://schemas.openxmlformats.org/officeDocument/2006/relationships/slideLayout" Target="../slideLayouts/slideLayout3.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2" Type="http://schemas.openxmlformats.org/officeDocument/2006/relationships/hyperlink" Target="https://www.gartner.com/document-reader/document/5352063?ref=askgartner-ppt" TargetMode="External"/><Relationship Id="rId1" Type="http://schemas.openxmlformats.org/officeDocument/2006/relationships/image" Target="../media/image-23-1.png"/><Relationship Id="rId3" Type="http://schemas.openxmlformats.org/officeDocument/2006/relationships/slideLayout" Target="../slideLayouts/slideLayout3.xml"/><Relationship Id="rId4"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1600200" y="2240280"/>
            <a:ext cx="7360920" cy="2002536"/>
          </a:xfrm>
          <a:prstGeom prst="rect">
            <a:avLst/>
          </a:prstGeom>
          <a:noFill/>
          <a:ln/>
        </p:spPr>
        <p:txBody>
          <a:bodyPr wrap="square" rtlCol="0" anchor="ctr"/>
          <a:lstStyle/>
          <a:p>
            <a:pPr algn="l" indent="0" marL="0">
              <a:buNone/>
            </a:pPr>
            <a:r>
              <a:rPr lang="en-US" sz="4400" dirty="0">
                <a:solidFill>
                  <a:srgbClr val="FFFFFF"/>
                </a:solidFill>
                <a:latin typeface="Gartner Sans Semibold" pitchFamily="34" charset="0"/>
                <a:ea typeface="Gartner Sans Semibold" pitchFamily="34" charset="-122"/>
                <a:cs typeface="Gartner Sans Semibold" pitchFamily="34" charset="-120"/>
              </a:rPr>
              <a:t>Infrastructure as a Platform: What You Need to Know</a:t>
            </a:r>
            <a:endParaRPr lang="en-US" sz="4400" dirty="0"/>
          </a:p>
        </p:txBody>
      </p:sp>
      <p:sp>
        <p:nvSpPr>
          <p:cNvPr id="3" name="Text 1"/>
          <p:cNvSpPr/>
          <p:nvPr/>
        </p:nvSpPr>
        <p:spPr>
          <a:xfrm>
            <a:off x="1600200" y="4471416"/>
            <a:ext cx="7360920" cy="548640"/>
          </a:xfrm>
          <a:prstGeom prst="rect">
            <a:avLst/>
          </a:prstGeom>
          <a:noFill/>
          <a:ln/>
        </p:spPr>
        <p:txBody>
          <a:bodyPr wrap="square" rtlCol="0" anchor="t"/>
          <a:lstStyle/>
          <a:p>
            <a:pPr algn="l" indent="0" marL="0">
              <a:buNone/>
            </a:pPr>
            <a:r>
              <a:rPr lang="en-US" sz="1600" dirty="0">
                <a:solidFill>
                  <a:srgbClr val="FFFFFF"/>
                </a:solidFill>
                <a:latin typeface="Gartner Sans" pitchFamily="34" charset="0"/>
                <a:ea typeface="Gartner Sans" pitchFamily="34" charset="-122"/>
                <a:cs typeface="Gartner Sans" pitchFamily="34" charset="-120"/>
              </a:rPr>
              <a:t>From ticket-driven to product-centric infrastructure | 10 August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365760"/>
            <a:ext cx="12191695" cy="448056"/>
          </a:xfrm>
          <a:prstGeom prst="rect">
            <a:avLst/>
          </a:prstGeom>
          <a:noFill/>
          <a:ln/>
        </p:spPr>
        <p:txBody>
          <a:bodyPr wrap="square" rtlCol="0" anchor="t"/>
          <a:lstStyle/>
          <a:p>
            <a:pPr algn="l" indent="0" marL="0">
              <a:buNone/>
            </a:pPr>
            <a:r>
              <a:rPr lang="en-US" sz="2800" dirty="0">
                <a:solidFill>
                  <a:srgbClr val="002869"/>
                </a:solidFill>
                <a:latin typeface="Gartner Sans Semibold" pitchFamily="34" charset="0"/>
                <a:ea typeface="Gartner Sans Semibold" pitchFamily="34" charset="-122"/>
                <a:cs typeface="Gartner Sans Semibold" pitchFamily="34" charset="-120"/>
              </a:rPr>
              <a:t>Usage Guidance</a:t>
            </a:r>
            <a:endParaRPr lang="en-US" sz="2800" dirty="0"/>
          </a:p>
        </p:txBody>
      </p:sp>
      <p:sp>
        <p:nvSpPr>
          <p:cNvPr id="3" name="Text 1"/>
          <p:cNvSpPr/>
          <p:nvPr/>
        </p:nvSpPr>
        <p:spPr>
          <a:xfrm>
            <a:off x="457200" y="1527048"/>
            <a:ext cx="11277295" cy="4462272"/>
          </a:xfrm>
          <a:prstGeom prst="rect">
            <a:avLst/>
          </a:prstGeom>
          <a:noFill/>
          <a:ln/>
        </p:spPr>
        <p:txBody>
          <a:bodyPr wrap="square" rtlCol="0" anchor="t">
            <a:normAutofit/>
          </a:bodyPr>
          <a:lstStyle/>
          <a:p>
            <a:pPr indent="0" marL="0">
              <a:buNone/>
            </a:pPr>
            <a:r>
              <a:rPr lang="en-US" sz="2000" dirty="0">
                <a:solidFill>
                  <a:srgbClr val="000000"/>
                </a:solidFill>
                <a:latin typeface="Gartner Sans" pitchFamily="34" charset="0"/>
                <a:ea typeface="Gartner Sans" pitchFamily="34" charset="-122"/>
                <a:cs typeface="Gartner Sans" pitchFamily="34" charset="-120"/>
              </a:rPr>
              <a:t>The following text was generated using Gartner's AskGartner Generative AI tool. Due to the nature of this technology, some answers may be </a:t>
            </a:r>
            <a:pPr indent="0" marL="0">
              <a:buNone/>
            </a:pPr>
            <a:r>
              <a:rPr lang="en-US" sz="2000" u="sng" dirty="0">
                <a:solidFill>
                  <a:srgbClr val="000000"/>
                </a:solidFill>
                <a:latin typeface="Gartner Sans" pitchFamily="34" charset="0"/>
                <a:ea typeface="Gartner Sans" pitchFamily="34" charset="-122"/>
                <a:cs typeface="Gartner Sans" pitchFamily="34" charset="-120"/>
              </a:rPr>
              <a:t>incomplete or incorrect</a:t>
            </a:r>
            <a:pPr indent="0" marL="0">
              <a:buNone/>
            </a:pPr>
            <a:r>
              <a:rPr lang="en-US" sz="2000" dirty="0">
                <a:solidFill>
                  <a:srgbClr val="000000"/>
                </a:solidFill>
                <a:latin typeface="Gartner Sans" pitchFamily="34" charset="0"/>
                <a:ea typeface="Gartner Sans" pitchFamily="34" charset="-122"/>
                <a:cs typeface="Gartner Sans" pitchFamily="34" charset="-120"/>
              </a:rPr>
              <a:t>. Please verify sources. Gartner does not endorse any provider, product, or service.</a:t>
            </a:r>
            <a:pPr indent="0" marL="0">
              <a:buNone/>
            </a:pPr>
            <a:r>
              <a:rPr lang="en-US" sz="1100" dirty="0">
                <a:solidFill>
                  <a:srgbClr val="000000"/>
                </a:solidFill>
                <a:latin typeface="Gartner Sans" pitchFamily="34" charset="0"/>
                <a:ea typeface="Gartner Sans" pitchFamily="34" charset="-122"/>
                <a:cs typeface="Gartner Sans" pitchFamily="34" charset="-120"/>
              </a:rPr>
              <a:t>
</a:t>
            </a:r>
            <a:pPr indent="0" marL="0">
              <a:buNone/>
            </a:pPr>
            <a:r>
              <a:rPr lang="en-US" sz="2000" dirty="0">
                <a:solidFill>
                  <a:srgbClr val="000000"/>
                </a:solidFill>
                <a:latin typeface="Gartner Sans" pitchFamily="34" charset="0"/>
                <a:ea typeface="Gartner Sans" pitchFamily="34" charset="-122"/>
                <a:cs typeface="Gartner Sans" pitchFamily="34" charset="-120"/>
              </a:rPr>
              <a:t>AskGartner answers cannot be quoted externally and may only be shared within your organization, in line with the Licensed User limits in the </a:t>
            </a:r>
            <a:pPr indent="0" marL="0">
              <a:buNone/>
            </a:pPr>
            <a:r>
              <a:rPr lang="en-US" sz="2000" u="sng" dirty="0">
                <a:solidFill>
                  <a:srgbClr val="006AC7"/>
                </a:solidFill>
                <a:latin typeface="Gartner Sans" pitchFamily="34" charset="0"/>
                <a:ea typeface="Gartner Sans" pitchFamily="34" charset="-122"/>
                <a:cs typeface="Gartner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Gartner Usage Policy</a:t>
            </a:r>
            <a:pPr indent="0" marL="0">
              <a:buNone/>
            </a:pPr>
            <a:r>
              <a:rPr lang="en-US" sz="2000" dirty="0">
                <a:solidFill>
                  <a:srgbClr val="000000"/>
                </a:solidFill>
                <a:latin typeface="Gartner Sans" pitchFamily="34" charset="0"/>
                <a:ea typeface="Gartner Sans" pitchFamily="34" charset="-122"/>
                <a:cs typeface="Gartner Sans" pitchFamily="34" charset="-120"/>
              </a:rPr>
              <a:t> and with the accompanying cite "based on AskGartner Generative AI tool".</a:t>
            </a:r>
            <a:pPr indent="0" marL="0">
              <a:buNone/>
            </a:pPr>
            <a:r>
              <a:rPr lang="en-US" sz="1100" dirty="0">
                <a:solidFill>
                  <a:srgbClr val="000000"/>
                </a:solidFill>
                <a:latin typeface="Gartner Sans" pitchFamily="34" charset="0"/>
                <a:ea typeface="Gartner Sans" pitchFamily="34" charset="-122"/>
                <a:cs typeface="Gartner Sans" pitchFamily="34" charset="-120"/>
              </a:rPr>
              <a:t>
</a:t>
            </a:r>
            <a:pPr indent="0" marL="0">
              <a:buNone/>
            </a:pPr>
            <a:r>
              <a:rPr lang="en-US" sz="2000" i="1" dirty="0">
                <a:solidFill>
                  <a:srgbClr val="000000"/>
                </a:solidFill>
                <a:latin typeface="Gartner Sans" pitchFamily="34" charset="0"/>
                <a:ea typeface="Gartner Sans" pitchFamily="34" charset="-122"/>
                <a:cs typeface="Gartner Sans" pitchFamily="34" charset="-120"/>
              </a:rPr>
              <a:t>Information sourced from Gartner Peer Insights is drawn from Peer Insights summaries and software reviews submitted by validated technology end-users in accordance with the Peer Insights </a:t>
            </a:r>
            <a:pPr indent="0" marL="0">
              <a:buNone/>
            </a:pPr>
            <a:r>
              <a:rPr lang="en-US" sz="2000" i="1" u="sng" dirty="0">
                <a:solidFill>
                  <a:srgbClr val="006AC7"/>
                </a:solidFill>
                <a:latin typeface="Gartner Sans" pitchFamily="34" charset="0"/>
                <a:ea typeface="Gartner Sans" pitchFamily="34" charset="-122"/>
                <a:cs typeface="Gartner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Community Guidelines</a:t>
            </a:r>
            <a:pPr indent="0" marL="0">
              <a:buNone/>
            </a:pPr>
            <a:r>
              <a:rPr lang="en-US" sz="2000" i="1" dirty="0">
                <a:solidFill>
                  <a:srgbClr val="000000"/>
                </a:solidFill>
                <a:latin typeface="Gartner Sans" pitchFamily="34" charset="0"/>
                <a:ea typeface="Gartner Sans" pitchFamily="34" charset="-122"/>
                <a:cs typeface="Gartner Sans" pitchFamily="34" charset="-120"/>
              </a:rPr>
              <a:t> and does not represent Gartner opinion.</a:t>
            </a:r>
            <a:endParaRPr lang="en-US" sz="2000" dirty="0"/>
          </a:p>
        </p:txBody>
      </p:sp>
      <p:sp>
        <p:nvSpPr>
          <p:cNvPr id="4" name="Text 2"/>
          <p:cNvSpPr/>
          <p:nvPr/>
        </p:nvSpPr>
        <p:spPr>
          <a:xfrm>
            <a:off x="457200" y="6391656"/>
            <a:ext cx="502920" cy="155448"/>
          </a:xfrm>
          <a:prstGeom prst="rect">
            <a:avLst/>
          </a:prstGeom>
          <a:noFill/>
          <a:ln/>
        </p:spPr>
        <p:txBody>
          <a:bodyPr wrap="square" rtlCol="0" anchor="ctr"/>
          <a:lstStyle/>
          <a:p>
            <a:pPr algn="l" indent="0" marL="0">
              <a:buNone/>
            </a:pPr>
            <a:r>
              <a:rPr lang="en-US" sz="700" dirty="0">
                <a:solidFill>
                  <a:srgbClr val="000000"/>
                </a:solidFill>
                <a:latin typeface="Gartner Sans" pitchFamily="34" charset="0"/>
                <a:ea typeface="Gartner Sans" pitchFamily="34" charset="-122"/>
                <a:cs typeface="Gartner Sans" pitchFamily="34" charset="-120"/>
              </a:rPr>
              <a:t>2</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1600200" y="2240280"/>
            <a:ext cx="7360920" cy="2002536"/>
          </a:xfrm>
          <a:prstGeom prst="rect">
            <a:avLst/>
          </a:prstGeom>
          <a:noFill/>
          <a:ln/>
        </p:spPr>
        <p:txBody>
          <a:bodyPr wrap="square" rtlCol="0" anchor="ctr"/>
          <a:lstStyle/>
          <a:p>
            <a:pPr algn="l" indent="0" marL="0">
              <a:buNone/>
            </a:pPr>
            <a:r>
              <a:rPr lang="en-US" sz="4400" dirty="0">
                <a:solidFill>
                  <a:srgbClr val="FFFFFF"/>
                </a:solidFill>
                <a:latin typeface="Gartner Sans Semibold" pitchFamily="34" charset="0"/>
                <a:ea typeface="Gartner Sans Semibold" pitchFamily="34" charset="-122"/>
                <a:cs typeface="Gartner Sans Semibold" pitchFamily="34" charset="-120"/>
              </a:rPr>
              <a:t>What Infrastructure as a Platform Really Means</a:t>
            </a:r>
            <a:endParaRPr lang="en-US" sz="4400" dirty="0"/>
          </a:p>
        </p:txBody>
      </p:sp>
      <p:sp>
        <p:nvSpPr>
          <p:cNvPr id="3" name="Text 1"/>
          <p:cNvSpPr/>
          <p:nvPr/>
        </p:nvSpPr>
        <p:spPr>
          <a:xfrm>
            <a:off x="457200" y="6391656"/>
            <a:ext cx="502920" cy="155448"/>
          </a:xfrm>
          <a:prstGeom prst="rect">
            <a:avLst/>
          </a:prstGeom>
          <a:noFill/>
          <a:ln/>
        </p:spPr>
        <p:txBody>
          <a:bodyPr wrap="square" rtlCol="0" anchor="ctr"/>
          <a:lstStyle/>
          <a:p>
            <a:pPr algn="l" indent="0" marL="0">
              <a:buNone/>
            </a:pPr>
            <a:r>
              <a:rPr lang="en-US" sz="700" dirty="0">
                <a:solidFill>
                  <a:srgbClr val="FFFFFF"/>
                </a:solidFill>
                <a:latin typeface="Gartner Sans" pitchFamily="34" charset="0"/>
                <a:ea typeface="Gartner Sans" pitchFamily="34" charset="-122"/>
                <a:cs typeface="Gartner Sans" pitchFamily="34" charset="-120"/>
              </a:rPr>
              <a:t>3</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365760"/>
            <a:ext cx="12191695" cy="448056"/>
          </a:xfrm>
          <a:prstGeom prst="rect">
            <a:avLst/>
          </a:prstGeom>
          <a:noFill/>
          <a:ln/>
        </p:spPr>
        <p:txBody>
          <a:bodyPr wrap="square" rtlCol="0" anchor="t"/>
          <a:lstStyle/>
          <a:p>
            <a:pPr algn="l" indent="0" marL="0">
              <a:buNone/>
            </a:pPr>
            <a:r>
              <a:rPr lang="en-US" sz="2800" dirty="0">
                <a:solidFill>
                  <a:srgbClr val="002869"/>
                </a:solidFill>
                <a:latin typeface="Gartner Sans Semibold" pitchFamily="34" charset="0"/>
                <a:ea typeface="Gartner Sans Semibold" pitchFamily="34" charset="-122"/>
                <a:cs typeface="Gartner Sans Semibold" pitchFamily="34" charset="-120"/>
              </a:rPr>
              <a:t>IaP: Internal Software Product, Not Just Services</a:t>
            </a:r>
            <a:endParaRPr lang="en-US" sz="2800" dirty="0"/>
          </a:p>
        </p:txBody>
      </p:sp>
      <p:sp>
        <p:nvSpPr>
          <p:cNvPr id="3" name="Text 1"/>
          <p:cNvSpPr/>
          <p:nvPr/>
        </p:nvSpPr>
        <p:spPr>
          <a:xfrm>
            <a:off x="457200" y="1527048"/>
            <a:ext cx="11277295" cy="4462272"/>
          </a:xfrm>
          <a:prstGeom prst="rect">
            <a:avLst/>
          </a:prstGeom>
          <a:noFill/>
          <a:ln/>
        </p:spPr>
        <p:txBody>
          <a:bodyPr wrap="square" rtlCol="0" anchor="t">
            <a:normAutofit/>
          </a:bodyPr>
          <a:lstStyle/>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Users:</a:t>
            </a:r>
            <a:pPr indent="0" marL="0">
              <a:buNone/>
            </a:pPr>
            <a:r>
              <a:rPr lang="en-US" sz="2000" dirty="0">
                <a:solidFill>
                  <a:srgbClr val="000000"/>
                </a:solidFill>
                <a:latin typeface="Gartner Sans" pitchFamily="34" charset="0"/>
                <a:ea typeface="Gartner Sans" pitchFamily="34" charset="-122"/>
                <a:cs typeface="Gartner Sans" pitchFamily="34" charset="-120"/>
              </a:rPr>
              <a:t> Product teams, developers, data scientists consume infrastructure via portals, APIs, CLIs without deep expertise.</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[1]</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[2]</a:t>
            </a:r>
            <a:endParaRPr lang="en-US" sz="2000" dirty="0"/>
          </a:p>
          <a:p>
            <a:pPr marL="342900" indent="-342900">
              <a:spcAft>
                <a:spcPts val="400"/>
              </a:spcAft>
              <a:buSzPct val="100000"/>
              <a:buChar char="•"/>
            </a:pPr>
            <a:r>
              <a:rPr lang="en-US" sz="2000" dirty="0">
                <a:solidFill>
                  <a:srgbClr val="000000"/>
                </a:solidFill>
                <a:latin typeface="Gartner Sans" pitchFamily="34" charset="0"/>
                <a:ea typeface="Gartner Sans" pitchFamily="34" charset="-122"/>
                <a:cs typeface="Gartner Sans" pitchFamily="34" charset="-120"/>
              </a:rPr>
              <a:t>I&amp;O teams embed </a:t>
            </a:r>
            <a:pPr indent="0" marL="0">
              <a:buNone/>
            </a:pPr>
            <a:r>
              <a:rPr lang="en-US" sz="2000" b="1" dirty="0">
                <a:solidFill>
                  <a:srgbClr val="000000"/>
                </a:solidFill>
                <a:latin typeface="Gartner Sans" pitchFamily="34" charset="0"/>
                <a:ea typeface="Gartner Sans" pitchFamily="34" charset="-122"/>
                <a:cs typeface="Gartner Sans" pitchFamily="34" charset="-120"/>
              </a:rPr>
              <a:t>governance, security, and compliance</a:t>
            </a:r>
            <a:pPr indent="0" marL="0">
              <a:buNone/>
            </a:pPr>
            <a:r>
              <a:rPr lang="en-US" sz="2000" dirty="0">
                <a:solidFill>
                  <a:srgbClr val="000000"/>
                </a:solidFill>
                <a:latin typeface="Gartner Sans" pitchFamily="34" charset="0"/>
                <a:ea typeface="Gartner Sans" pitchFamily="34" charset="-122"/>
                <a:cs typeface="Gartner Sans" pitchFamily="34" charset="-120"/>
              </a:rPr>
              <a:t> directly into the platform—no manual gates.</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[3]</a:t>
            </a:r>
            <a:endParaRPr lang="en-US" sz="2000" dirty="0"/>
          </a:p>
          <a:p>
            <a:pPr marL="342900" indent="-342900">
              <a:spcAft>
                <a:spcPts val="400"/>
              </a:spcAft>
              <a:buSzPct val="100000"/>
              <a:buChar char="•"/>
            </a:pPr>
            <a:r>
              <a:rPr lang="en-US" sz="2000" dirty="0">
                <a:solidFill>
                  <a:srgbClr val="000000"/>
                </a:solidFill>
                <a:latin typeface="Gartner Sans" pitchFamily="34" charset="0"/>
                <a:ea typeface="Gartner Sans" pitchFamily="34" charset="-122"/>
                <a:cs typeface="Gartner Sans" pitchFamily="34" charset="-120"/>
              </a:rPr>
              <a:t>Consumers </a:t>
            </a:r>
            <a:pPr indent="0" marL="0">
              <a:buNone/>
            </a:pPr>
            <a:r>
              <a:rPr lang="en-US" sz="2000" b="1" dirty="0">
                <a:solidFill>
                  <a:srgbClr val="000000"/>
                </a:solidFill>
                <a:latin typeface="Gartner Sans" pitchFamily="34" charset="0"/>
                <a:ea typeface="Gartner Sans" pitchFamily="34" charset="-122"/>
                <a:cs typeface="Gartner Sans" pitchFamily="34" charset="-120"/>
              </a:rPr>
              <a:t>self-manage infrastructure</a:t>
            </a:r>
            <a:pPr indent="0" marL="0">
              <a:buNone/>
            </a:pPr>
            <a:r>
              <a:rPr lang="en-US" sz="2000" dirty="0">
                <a:solidFill>
                  <a:srgbClr val="000000"/>
                </a:solidFill>
                <a:latin typeface="Gartner Sans" pitchFamily="34" charset="0"/>
                <a:ea typeface="Gartner Sans" pitchFamily="34" charset="-122"/>
                <a:cs typeface="Gartner Sans" pitchFamily="34" charset="-120"/>
              </a:rPr>
              <a:t>; teams create guardrails and enablement.</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[1]</a:t>
            </a:r>
            <a:endParaRPr lang="en-US" sz="2000" dirty="0"/>
          </a:p>
          <a:p>
            <a:pPr marL="342900" indent="-342900">
              <a:spcAft>
                <a:spcPts val="400"/>
              </a:spcAft>
              <a:buSzPct val="100000"/>
              <a:buChar char="•"/>
            </a:pPr>
            <a:r>
              <a:rPr lang="en-US" sz="2000" dirty="0">
                <a:solidFill>
                  <a:srgbClr val="000000"/>
                </a:solidFill>
                <a:latin typeface="Gartner Sans" pitchFamily="34" charset="0"/>
                <a:ea typeface="Gartner Sans" pitchFamily="34" charset="-122"/>
                <a:cs typeface="Gartner Sans" pitchFamily="34" charset="-120"/>
              </a:rPr>
              <a:t>IaP transforms IT from managing infrastructure </a:t>
            </a:r>
            <a:pPr indent="0" marL="0">
              <a:buNone/>
            </a:pPr>
            <a:r>
              <a:rPr lang="en-US" sz="2000" i="1" dirty="0">
                <a:solidFill>
                  <a:srgbClr val="000000"/>
                </a:solidFill>
                <a:latin typeface="Gartner Sans" pitchFamily="34" charset="0"/>
                <a:ea typeface="Gartner Sans" pitchFamily="34" charset="-122"/>
                <a:cs typeface="Gartner Sans" pitchFamily="34" charset="-120"/>
              </a:rPr>
              <a:t>for</a:t>
            </a:r>
            <a:pPr indent="0" marL="0">
              <a:buNone/>
            </a:pPr>
            <a:r>
              <a:rPr lang="en-US" sz="2000" dirty="0">
                <a:solidFill>
                  <a:srgbClr val="000000"/>
                </a:solidFill>
                <a:latin typeface="Gartner Sans" pitchFamily="34" charset="0"/>
                <a:ea typeface="Gartner Sans" pitchFamily="34" charset="-122"/>
                <a:cs typeface="Gartner Sans" pitchFamily="34" charset="-120"/>
              </a:rPr>
              <a:t> consumers to empowering them </a:t>
            </a:r>
            <a:pPr indent="0" marL="0">
              <a:buNone/>
            </a:pPr>
            <a:r>
              <a:rPr lang="en-US" sz="2000" u="sng" dirty="0">
                <a:solidFill>
                  <a:srgbClr val="000000"/>
                </a:solidFill>
                <a:latin typeface="Gartner Sans" pitchFamily="34" charset="0"/>
                <a:ea typeface="Gartner Sans" pitchFamily="34" charset="-122"/>
                <a:cs typeface="Gartner Sans" pitchFamily="34" charset="-120"/>
              </a:rPr>
              <a:t>within guardrails</a:t>
            </a:r>
            <a:pPr indent="0" marL="0">
              <a:buNone/>
            </a:pPr>
            <a:r>
              <a:rPr lang="en-US" sz="2000" dirty="0">
                <a:solidFill>
                  <a:srgbClr val="000000"/>
                </a:solidFill>
                <a:latin typeface="Gartner Sans" pitchFamily="34" charset="0"/>
                <a:ea typeface="Gartner Sans" pitchFamily="34" charset="-122"/>
                <a:cs typeface="Gartner Sans" pitchFamily="34" charset="-120"/>
              </a:rPr>
              <a:t>.</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5" invalidUrl="" action="" tgtFrame="" tooltip="" history="1" highlightClick="0" endSnd="0">
                  <a:extLst>
                    <a:ext uri="{A12FA001-AC4F-418D-AE19-62706E023703}">
                      <ahyp:hlinkClr xmlns:ahyp="http://schemas.microsoft.com/office/drawing/2018/hyperlinkcolor" val="tx"/>
                    </a:ext>
                  </a:extLst>
                </a:hlinkClick>
              </a:rPr>
              <a:t>[1]</a:t>
            </a:r>
            <a:endParaRPr lang="en-US" sz="2000" dirty="0"/>
          </a:p>
        </p:txBody>
      </p:sp>
      <p:sp>
        <p:nvSpPr>
          <p:cNvPr id="4" name="Text 2"/>
          <p:cNvSpPr/>
          <p:nvPr/>
        </p:nvSpPr>
        <p:spPr>
          <a:xfrm>
            <a:off x="457200" y="6391656"/>
            <a:ext cx="502920" cy="155448"/>
          </a:xfrm>
          <a:prstGeom prst="rect">
            <a:avLst/>
          </a:prstGeom>
          <a:noFill/>
          <a:ln/>
        </p:spPr>
        <p:txBody>
          <a:bodyPr wrap="square" rtlCol="0" anchor="ctr"/>
          <a:lstStyle/>
          <a:p>
            <a:pPr algn="l" indent="0" marL="0">
              <a:buNone/>
            </a:pPr>
            <a:r>
              <a:rPr lang="en-US" sz="700" dirty="0">
                <a:solidFill>
                  <a:srgbClr val="000000"/>
                </a:solidFill>
                <a:latin typeface="Gartner Sans" pitchFamily="34" charset="0"/>
                <a:ea typeface="Gartner Sans" pitchFamily="34" charset="-122"/>
                <a:cs typeface="Gartner Sans" pitchFamily="34" charset="-120"/>
              </a:rPr>
              <a:t>4</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1600200" y="2240280"/>
            <a:ext cx="7360920" cy="2002536"/>
          </a:xfrm>
          <a:prstGeom prst="rect">
            <a:avLst/>
          </a:prstGeom>
          <a:noFill/>
          <a:ln/>
        </p:spPr>
        <p:txBody>
          <a:bodyPr wrap="square" rtlCol="0" anchor="ctr"/>
          <a:lstStyle/>
          <a:p>
            <a:pPr algn="l" indent="0" marL="0">
              <a:buNone/>
            </a:pPr>
            <a:r>
              <a:rPr lang="en-US" sz="4400" dirty="0">
                <a:solidFill>
                  <a:srgbClr val="FFFFFF"/>
                </a:solidFill>
                <a:latin typeface="Gartner Sans Semibold" pitchFamily="34" charset="0"/>
                <a:ea typeface="Gartner Sans Semibold" pitchFamily="34" charset="-122"/>
                <a:cs typeface="Gartner Sans Semibold" pitchFamily="34" charset="-120"/>
              </a:rPr>
              <a:t>Core Principles That Drive Success</a:t>
            </a:r>
            <a:endParaRPr lang="en-US" sz="4400" dirty="0"/>
          </a:p>
        </p:txBody>
      </p:sp>
      <p:sp>
        <p:nvSpPr>
          <p:cNvPr id="3" name="Text 1"/>
          <p:cNvSpPr/>
          <p:nvPr/>
        </p:nvSpPr>
        <p:spPr>
          <a:xfrm>
            <a:off x="457200" y="6391656"/>
            <a:ext cx="502920" cy="155448"/>
          </a:xfrm>
          <a:prstGeom prst="rect">
            <a:avLst/>
          </a:prstGeom>
          <a:noFill/>
          <a:ln/>
        </p:spPr>
        <p:txBody>
          <a:bodyPr wrap="square" rtlCol="0" anchor="ctr"/>
          <a:lstStyle/>
          <a:p>
            <a:pPr algn="l" indent="0" marL="0">
              <a:buNone/>
            </a:pPr>
            <a:r>
              <a:rPr lang="en-US" sz="700" dirty="0">
                <a:solidFill>
                  <a:srgbClr val="FFFFFF"/>
                </a:solidFill>
                <a:latin typeface="Gartner Sans" pitchFamily="34" charset="0"/>
                <a:ea typeface="Gartner Sans" pitchFamily="34" charset="-122"/>
                <a:cs typeface="Gartner Sans" pitchFamily="34" charset="-120"/>
              </a:rPr>
              <a:t>5</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365760"/>
            <a:ext cx="12191695" cy="448056"/>
          </a:xfrm>
          <a:prstGeom prst="rect">
            <a:avLst/>
          </a:prstGeom>
          <a:noFill/>
          <a:ln/>
        </p:spPr>
        <p:txBody>
          <a:bodyPr wrap="square" rtlCol="0" anchor="t"/>
          <a:lstStyle/>
          <a:p>
            <a:pPr algn="l" indent="0" marL="0">
              <a:buNone/>
            </a:pPr>
            <a:r>
              <a:rPr lang="en-US" sz="2800" dirty="0">
                <a:solidFill>
                  <a:srgbClr val="002869"/>
                </a:solidFill>
                <a:latin typeface="Gartner Sans Semibold" pitchFamily="34" charset="0"/>
                <a:ea typeface="Gartner Sans Semibold" pitchFamily="34" charset="-122"/>
                <a:cs typeface="Gartner Sans Semibold" pitchFamily="34" charset="-120"/>
              </a:rPr>
              <a:t>IaP Principles: Self-Service, Automation, Product Mindset</a:t>
            </a:r>
            <a:endParaRPr lang="en-US" sz="2800" dirty="0"/>
          </a:p>
        </p:txBody>
      </p:sp>
      <p:sp>
        <p:nvSpPr>
          <p:cNvPr id="3" name="Text 1"/>
          <p:cNvSpPr/>
          <p:nvPr/>
        </p:nvSpPr>
        <p:spPr>
          <a:xfrm>
            <a:off x="457200" y="1527048"/>
            <a:ext cx="11277295" cy="4462272"/>
          </a:xfrm>
          <a:prstGeom prst="rect">
            <a:avLst/>
          </a:prstGeom>
          <a:noFill/>
          <a:ln/>
        </p:spPr>
        <p:txBody>
          <a:bodyPr wrap="square" rtlCol="0" anchor="t">
            <a:normAutofit/>
          </a:bodyPr>
          <a:lstStyle/>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Self-service with embedded governance:</a:t>
            </a:r>
            <a:pPr indent="0" marL="0">
              <a:buNone/>
            </a:pPr>
            <a:r>
              <a:rPr lang="en-US" sz="2000" dirty="0">
                <a:solidFill>
                  <a:srgbClr val="000000"/>
                </a:solidFill>
                <a:latin typeface="Gartner Sans" pitchFamily="34" charset="0"/>
                <a:ea typeface="Gartner Sans" pitchFamily="34" charset="-122"/>
                <a:cs typeface="Gartner Sans" pitchFamily="34" charset="-120"/>
              </a:rPr>
              <a:t> Users provision resources independently; compliance and security are baked in.</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[3]</a:t>
            </a:r>
            <a:endParaRPr lang="en-US" sz="2000" dirty="0"/>
          </a:p>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Interoperability, automation, and programmability:</a:t>
            </a:r>
            <a:pPr indent="0" marL="0">
              <a:buNone/>
            </a:pPr>
            <a:r>
              <a:rPr lang="en-US" sz="2000" dirty="0">
                <a:solidFill>
                  <a:srgbClr val="000000"/>
                </a:solidFill>
                <a:latin typeface="Gartner Sans" pitchFamily="34" charset="0"/>
                <a:ea typeface="Gartner Sans" pitchFamily="34" charset="-122"/>
                <a:cs typeface="Gartner Sans" pitchFamily="34" charset="-120"/>
              </a:rPr>
              <a:t> Infrastructure assets minimize manual touchpoints; APIs enable orchestration; intelligence optimizes workloads.</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[4]</a:t>
            </a:r>
            <a:endParaRPr lang="en-US" sz="2000" dirty="0"/>
          </a:p>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Product-oriented mindset:</a:t>
            </a:r>
            <a:pPr indent="0" marL="0">
              <a:buNone/>
            </a:pPr>
            <a:r>
              <a:rPr lang="en-US" sz="2000" dirty="0">
                <a:solidFill>
                  <a:srgbClr val="000000"/>
                </a:solidFill>
                <a:latin typeface="Gartner Sans" pitchFamily="34" charset="0"/>
                <a:ea typeface="Gartner Sans" pitchFamily="34" charset="-122"/>
                <a:cs typeface="Gartner Sans" pitchFamily="34" charset="-120"/>
              </a:rPr>
              <a:t> Treat infrastructure teams as software product teams—</a:t>
            </a:r>
            <a:pPr indent="0" marL="0">
              <a:buNone/>
            </a:pPr>
            <a:r>
              <a:rPr lang="en-US" sz="2000" b="1" dirty="0">
                <a:solidFill>
                  <a:srgbClr val="000000"/>
                </a:solidFill>
                <a:latin typeface="Gartner Sans" pitchFamily="34" charset="0"/>
                <a:ea typeface="Gartner Sans" pitchFamily="34" charset="-122"/>
                <a:cs typeface="Gartner Sans" pitchFamily="34" charset="-120"/>
              </a:rPr>
              <a:t>vision, feedback, adoption, iteration</a:t>
            </a:r>
            <a:pPr indent="0" marL="0">
              <a:buNone/>
            </a:pPr>
            <a:r>
              <a:rPr lang="en-US" sz="2000" dirty="0">
                <a:solidFill>
                  <a:srgbClr val="000000"/>
                </a:solidFill>
                <a:latin typeface="Gartner Sans" pitchFamily="34" charset="0"/>
                <a:ea typeface="Gartner Sans" pitchFamily="34" charset="-122"/>
                <a:cs typeface="Gartner Sans" pitchFamily="34" charset="-120"/>
              </a:rPr>
              <a:t>.</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[5]</a:t>
            </a:r>
            <a:endParaRPr lang="en-US" sz="2000" dirty="0"/>
          </a:p>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Modular, reusable components:</a:t>
            </a:r>
            <a:pPr indent="0" marL="0">
              <a:buNone/>
            </a:pPr>
            <a:r>
              <a:rPr lang="en-US" sz="2000" dirty="0">
                <a:solidFill>
                  <a:srgbClr val="000000"/>
                </a:solidFill>
                <a:latin typeface="Gartner Sans" pitchFamily="34" charset="0"/>
                <a:ea typeface="Gartner Sans" pitchFamily="34" charset="-122"/>
                <a:cs typeface="Gartner Sans" pitchFamily="34" charset="-120"/>
              </a:rPr>
              <a:t> Standardize anchor platforms for domains (compute, networking, storage, monitoring); layer complementary capabilities to reduce complexity and cost.</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[4]</a:t>
            </a:r>
            <a:endParaRPr lang="en-US" sz="2000" dirty="0"/>
          </a:p>
        </p:txBody>
      </p:sp>
      <p:sp>
        <p:nvSpPr>
          <p:cNvPr id="4" name="Text 2"/>
          <p:cNvSpPr/>
          <p:nvPr/>
        </p:nvSpPr>
        <p:spPr>
          <a:xfrm>
            <a:off x="457200" y="6391656"/>
            <a:ext cx="502920" cy="155448"/>
          </a:xfrm>
          <a:prstGeom prst="rect">
            <a:avLst/>
          </a:prstGeom>
          <a:noFill/>
          <a:ln/>
        </p:spPr>
        <p:txBody>
          <a:bodyPr wrap="square" rtlCol="0" anchor="ctr"/>
          <a:lstStyle/>
          <a:p>
            <a:pPr algn="l" indent="0" marL="0">
              <a:buNone/>
            </a:pPr>
            <a:r>
              <a:rPr lang="en-US" sz="700" dirty="0">
                <a:solidFill>
                  <a:srgbClr val="000000"/>
                </a:solidFill>
                <a:latin typeface="Gartner Sans" pitchFamily="34" charset="0"/>
                <a:ea typeface="Gartner Sans" pitchFamily="34" charset="-122"/>
                <a:cs typeface="Gartner Sans" pitchFamily="34" charset="-120"/>
              </a:rPr>
              <a:t>6</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1600200" y="2240280"/>
            <a:ext cx="7360920" cy="2002536"/>
          </a:xfrm>
          <a:prstGeom prst="rect">
            <a:avLst/>
          </a:prstGeom>
          <a:noFill/>
          <a:ln/>
        </p:spPr>
        <p:txBody>
          <a:bodyPr wrap="square" rtlCol="0" anchor="ctr"/>
          <a:lstStyle/>
          <a:p>
            <a:pPr algn="l" indent="0" marL="0">
              <a:buNone/>
            </a:pPr>
            <a:r>
              <a:rPr lang="en-US" sz="4400" dirty="0">
                <a:solidFill>
                  <a:srgbClr val="FFFFFF"/>
                </a:solidFill>
                <a:latin typeface="Gartner Sans Semibold" pitchFamily="34" charset="0"/>
                <a:ea typeface="Gartner Sans Semibold" pitchFamily="34" charset="-122"/>
                <a:cs typeface="Gartner Sans Semibold" pitchFamily="34" charset="-120"/>
              </a:rPr>
              <a:t>Why IaP Matters for Capital One</a:t>
            </a:r>
            <a:endParaRPr lang="en-US" sz="4400" dirty="0"/>
          </a:p>
        </p:txBody>
      </p:sp>
      <p:sp>
        <p:nvSpPr>
          <p:cNvPr id="3" name="Text 1"/>
          <p:cNvSpPr/>
          <p:nvPr/>
        </p:nvSpPr>
        <p:spPr>
          <a:xfrm>
            <a:off x="457200" y="6391656"/>
            <a:ext cx="502920" cy="155448"/>
          </a:xfrm>
          <a:prstGeom prst="rect">
            <a:avLst/>
          </a:prstGeom>
          <a:noFill/>
          <a:ln/>
        </p:spPr>
        <p:txBody>
          <a:bodyPr wrap="square" rtlCol="0" anchor="ctr"/>
          <a:lstStyle/>
          <a:p>
            <a:pPr algn="l" indent="0" marL="0">
              <a:buNone/>
            </a:pPr>
            <a:r>
              <a:rPr lang="en-US" sz="700" dirty="0">
                <a:solidFill>
                  <a:srgbClr val="FFFFFF"/>
                </a:solidFill>
                <a:latin typeface="Gartner Sans" pitchFamily="34" charset="0"/>
                <a:ea typeface="Gartner Sans" pitchFamily="34" charset="-122"/>
                <a:cs typeface="Gartner Sans" pitchFamily="34" charset="-120"/>
              </a:rPr>
              <a:t>7</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365760"/>
            <a:ext cx="12191695" cy="448056"/>
          </a:xfrm>
          <a:prstGeom prst="rect">
            <a:avLst/>
          </a:prstGeom>
          <a:noFill/>
          <a:ln/>
        </p:spPr>
        <p:txBody>
          <a:bodyPr wrap="square" rtlCol="0" anchor="t"/>
          <a:lstStyle/>
          <a:p>
            <a:pPr algn="l" indent="0" marL="0">
              <a:buNone/>
            </a:pPr>
            <a:r>
              <a:rPr lang="en-US" sz="2800" dirty="0">
                <a:solidFill>
                  <a:srgbClr val="002869"/>
                </a:solidFill>
                <a:latin typeface="Gartner Sans Semibold" pitchFamily="34" charset="0"/>
                <a:ea typeface="Gartner Sans Semibold" pitchFamily="34" charset="-122"/>
                <a:cs typeface="Gartner Sans Semibold" pitchFamily="34" charset="-120"/>
              </a:rPr>
              <a:t>IaP's Value: Speed, Compliance, Cost Control, Risk Reduction</a:t>
            </a:r>
            <a:endParaRPr lang="en-US" sz="2800" dirty="0"/>
          </a:p>
        </p:txBody>
      </p:sp>
      <p:sp>
        <p:nvSpPr>
          <p:cNvPr id="3" name="Text 1"/>
          <p:cNvSpPr/>
          <p:nvPr/>
        </p:nvSpPr>
        <p:spPr>
          <a:xfrm>
            <a:off x="457200" y="1527048"/>
            <a:ext cx="11277295" cy="4462272"/>
          </a:xfrm>
          <a:prstGeom prst="rect">
            <a:avLst/>
          </a:prstGeom>
          <a:noFill/>
          <a:ln/>
        </p:spPr>
        <p:txBody>
          <a:bodyPr wrap="square" rtlCol="0" anchor="t">
            <a:normAutofit/>
          </a:bodyPr>
          <a:lstStyle/>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Accelerates digital products</a:t>
            </a:r>
            <a:pPr indent="0" marL="0">
              <a:buNone/>
            </a:pPr>
            <a:r>
              <a:rPr lang="en-US" sz="2000" dirty="0">
                <a:solidFill>
                  <a:srgbClr val="000000"/>
                </a:solidFill>
                <a:latin typeface="Gartner Sans" pitchFamily="34" charset="0"/>
                <a:ea typeface="Gartner Sans" pitchFamily="34" charset="-122"/>
                <a:cs typeface="Gartner Sans" pitchFamily="34" charset="-120"/>
              </a:rPr>
              <a:t> without sacrificing controls—governance is invisible, not obstructive.</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[6]</a:t>
            </a:r>
            <a:endParaRPr lang="en-US" sz="2000" dirty="0"/>
          </a:p>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Manages AI infrastructure at scale:</a:t>
            </a:r>
            <a:pPr indent="0" marL="0">
              <a:buNone/>
            </a:pPr>
            <a:r>
              <a:rPr lang="en-US" sz="2000" dirty="0">
                <a:solidFill>
                  <a:srgbClr val="000000"/>
                </a:solidFill>
                <a:latin typeface="Gartner Sans" pitchFamily="34" charset="0"/>
                <a:ea typeface="Gartner Sans" pitchFamily="34" charset="-122"/>
                <a:cs typeface="Gartner Sans" pitchFamily="34" charset="-120"/>
              </a:rPr>
              <a:t> Platform teams specialize in GPU optimization, FinOps, and data fabric—generic I&amp;O cannot.</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[6]</a:t>
            </a:r>
            <a:endParaRPr lang="en-US" sz="2000" dirty="0"/>
          </a:p>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Reduces operational risk:</a:t>
            </a:r>
            <a:pPr indent="0" marL="0">
              <a:buNone/>
            </a:pPr>
            <a:r>
              <a:rPr lang="en-US" sz="2000" dirty="0">
                <a:solidFill>
                  <a:srgbClr val="000000"/>
                </a:solidFill>
                <a:latin typeface="Gartner Sans" pitchFamily="34" charset="0"/>
                <a:ea typeface="Gartner Sans" pitchFamily="34" charset="-122"/>
                <a:cs typeface="Gartner Sans" pitchFamily="34" charset="-120"/>
              </a:rPr>
              <a:t> Policy-as-code and automated guardrails catch misconfigurations before production.</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[6]</a:t>
            </a:r>
            <a:endParaRPr lang="en-US" sz="2000" dirty="0"/>
          </a:p>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Controls costs:</a:t>
            </a:r>
            <a:pPr indent="0" marL="0">
              <a:buNone/>
            </a:pPr>
            <a:r>
              <a:rPr lang="en-US" sz="2000" dirty="0">
                <a:solidFill>
                  <a:srgbClr val="000000"/>
                </a:solidFill>
                <a:latin typeface="Gartner Sans" pitchFamily="34" charset="0"/>
                <a:ea typeface="Gartner Sans" pitchFamily="34" charset="-122"/>
                <a:cs typeface="Gartner Sans" pitchFamily="34" charset="-120"/>
              </a:rPr>
              <a:t> Self-service with embedded visibility and chargeback prevents runaway spending.</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[6]</a:t>
            </a:r>
            <a:endParaRPr lang="en-US" sz="2000" dirty="0"/>
          </a:p>
        </p:txBody>
      </p:sp>
      <p:sp>
        <p:nvSpPr>
          <p:cNvPr id="4" name="Text 2"/>
          <p:cNvSpPr/>
          <p:nvPr/>
        </p:nvSpPr>
        <p:spPr>
          <a:xfrm>
            <a:off x="457200" y="6391656"/>
            <a:ext cx="502920" cy="155448"/>
          </a:xfrm>
          <a:prstGeom prst="rect">
            <a:avLst/>
          </a:prstGeom>
          <a:noFill/>
          <a:ln/>
        </p:spPr>
        <p:txBody>
          <a:bodyPr wrap="square" rtlCol="0" anchor="ctr"/>
          <a:lstStyle/>
          <a:p>
            <a:pPr algn="l" indent="0" marL="0">
              <a:buNone/>
            </a:pPr>
            <a:r>
              <a:rPr lang="en-US" sz="700" dirty="0">
                <a:solidFill>
                  <a:srgbClr val="000000"/>
                </a:solidFill>
                <a:latin typeface="Gartner Sans" pitchFamily="34" charset="0"/>
                <a:ea typeface="Gartner Sans" pitchFamily="34" charset="-122"/>
                <a:cs typeface="Gartner Sans" pitchFamily="34" charset="-120"/>
              </a:rPr>
              <a:t>8</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1600200" y="2240280"/>
            <a:ext cx="7360920" cy="2002536"/>
          </a:xfrm>
          <a:prstGeom prst="rect">
            <a:avLst/>
          </a:prstGeom>
          <a:noFill/>
          <a:ln/>
        </p:spPr>
        <p:txBody>
          <a:bodyPr wrap="square" rtlCol="0" anchor="ctr"/>
          <a:lstStyle/>
          <a:p>
            <a:pPr algn="l" indent="0" marL="0">
              <a:buNone/>
            </a:pPr>
            <a:r>
              <a:rPr lang="en-US" sz="4400" dirty="0">
                <a:solidFill>
                  <a:srgbClr val="FFFFFF"/>
                </a:solidFill>
                <a:latin typeface="Gartner Sans Semibold" pitchFamily="34" charset="0"/>
                <a:ea typeface="Gartner Sans Semibold" pitchFamily="34" charset="-122"/>
                <a:cs typeface="Gartner Sans Semibold" pitchFamily="34" charset="-120"/>
              </a:rPr>
              <a:t>Phased Approach: How to Get Started</a:t>
            </a:r>
            <a:endParaRPr lang="en-US" sz="4400" dirty="0"/>
          </a:p>
        </p:txBody>
      </p:sp>
      <p:sp>
        <p:nvSpPr>
          <p:cNvPr id="3" name="Text 1"/>
          <p:cNvSpPr/>
          <p:nvPr/>
        </p:nvSpPr>
        <p:spPr>
          <a:xfrm>
            <a:off x="457200" y="6391656"/>
            <a:ext cx="502920" cy="155448"/>
          </a:xfrm>
          <a:prstGeom prst="rect">
            <a:avLst/>
          </a:prstGeom>
          <a:noFill/>
          <a:ln/>
        </p:spPr>
        <p:txBody>
          <a:bodyPr wrap="square" rtlCol="0" anchor="ctr"/>
          <a:lstStyle/>
          <a:p>
            <a:pPr algn="l" indent="0" marL="0">
              <a:buNone/>
            </a:pPr>
            <a:r>
              <a:rPr lang="en-US" sz="700" dirty="0">
                <a:solidFill>
                  <a:srgbClr val="FFFFFF"/>
                </a:solidFill>
                <a:latin typeface="Gartner Sans" pitchFamily="34" charset="0"/>
                <a:ea typeface="Gartner Sans" pitchFamily="34" charset="-122"/>
                <a:cs typeface="Gartner Sans" pitchFamily="34" charset="-120"/>
              </a:rPr>
              <a:t>9</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365760"/>
            <a:ext cx="12191695" cy="448056"/>
          </a:xfrm>
          <a:prstGeom prst="rect">
            <a:avLst/>
          </a:prstGeom>
          <a:noFill/>
          <a:ln/>
        </p:spPr>
        <p:txBody>
          <a:bodyPr wrap="square" rtlCol="0" anchor="t"/>
          <a:lstStyle/>
          <a:p>
            <a:pPr algn="l" indent="0" marL="0">
              <a:buNone/>
            </a:pPr>
            <a:r>
              <a:rPr lang="en-US" sz="2800" dirty="0">
                <a:solidFill>
                  <a:srgbClr val="002869"/>
                </a:solidFill>
                <a:latin typeface="Gartner Sans Semibold" pitchFamily="34" charset="0"/>
                <a:ea typeface="Gartner Sans Semibold" pitchFamily="34" charset="-122"/>
                <a:cs typeface="Gartner Sans Semibold" pitchFamily="34" charset="-120"/>
              </a:rPr>
              <a:t>IaP Rollout Phases: Strategy, Team, MVP, Scale</a:t>
            </a:r>
            <a:endParaRPr lang="en-US" sz="2800" dirty="0"/>
          </a:p>
        </p:txBody>
      </p:sp>
      <p:sp>
        <p:nvSpPr>
          <p:cNvPr id="3" name="Text 1"/>
          <p:cNvSpPr/>
          <p:nvPr/>
        </p:nvSpPr>
        <p:spPr>
          <a:xfrm>
            <a:off x="457200" y="1527048"/>
            <a:ext cx="5550408" cy="4462272"/>
          </a:xfrm>
          <a:prstGeom prst="rect">
            <a:avLst/>
          </a:prstGeom>
          <a:noFill/>
          <a:ln/>
        </p:spPr>
        <p:txBody>
          <a:bodyPr wrap="square" rtlCol="0" anchor="t">
            <a:normAutofit/>
          </a:bodyPr>
          <a:lstStyle/>
          <a:p>
            <a:pPr marL="342900" indent="-342900">
              <a:spcAft>
                <a:spcPts val="400"/>
              </a:spcAft>
              <a:buSzPct val="100000"/>
              <a:buFont typeface="+mj-lt"/>
              <a:buAutoNum type="arabicPeriod" startAt="1"/>
            </a:pPr>
            <a:r>
              <a:rPr lang="en-US" sz="2000" b="1" dirty="0">
                <a:solidFill>
                  <a:srgbClr val="000000"/>
                </a:solidFill>
                <a:latin typeface="Gartner Sans" pitchFamily="34" charset="0"/>
                <a:ea typeface="Gartner Sans" pitchFamily="34" charset="-122"/>
                <a:cs typeface="Gartner Sans" pitchFamily="34" charset="-120"/>
              </a:rPr>
              <a:t>Phase 1: Strategy &amp; Assessment (1–2 months)</a:t>
            </a:r>
            <a:endParaRPr lang="en-US" sz="2000" dirty="0"/>
          </a:p>
          <a:p>
            <a:pPr marL="342900" indent="-342900">
              <a:spcAft>
                <a:spcPts val="400"/>
              </a:spcAft>
              <a:buSzPct val="100000"/>
              <a:buFont typeface="+mj-lt"/>
              <a:buAutoNum type="arabicPeriod" startAt="1"/>
            </a:pPr>
            <a:r>
              <a:rPr lang="en-US" sz="2000" dirty="0">
                <a:solidFill>
                  <a:srgbClr val="000000"/>
                </a:solidFill>
                <a:latin typeface="Gartner Sans" pitchFamily="34" charset="0"/>
                <a:ea typeface="Gartner Sans" pitchFamily="34" charset="-122"/>
                <a:cs typeface="Gartner Sans" pitchFamily="34" charset="-120"/>
              </a:rPr>
              <a:t>Define anchor platforms for each domain (compute, networking).</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[4]</a:t>
            </a:r>
            <a:endParaRPr lang="en-US" sz="2000" dirty="0"/>
          </a:p>
          <a:p>
            <a:pPr marL="342900" indent="-342900">
              <a:buSzPct val="100000"/>
              <a:buChar char="•"/>
            </a:pPr>
            <a:r>
              <a:rPr lang="en-US" sz="2000" dirty="0">
                <a:solidFill>
                  <a:srgbClr val="000000"/>
                </a:solidFill>
                <a:latin typeface="Gartner Sans" pitchFamily="34" charset="0"/>
                <a:ea typeface="Gartner Sans" pitchFamily="34" charset="-122"/>
                <a:cs typeface="Gartner Sans" pitchFamily="34" charset="-120"/>
              </a:rPr>
              <a:t>Assess current maturity: agility, observability, IaC.</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[2]</a:t>
            </a:r>
            <a:endParaRPr lang="en-US" sz="2000" dirty="0"/>
          </a:p>
          <a:p>
            <a:pPr marL="342900" indent="-342900">
              <a:buSzPct val="100000"/>
              <a:buChar char="•"/>
            </a:pPr>
            <a:r>
              <a:rPr lang="en-US" sz="2000" dirty="0">
                <a:solidFill>
                  <a:srgbClr val="000000"/>
                </a:solidFill>
                <a:latin typeface="Gartner Sans" pitchFamily="34" charset="0"/>
                <a:ea typeface="Gartner Sans" pitchFamily="34" charset="-122"/>
                <a:cs typeface="Gartner Sans" pitchFamily="34" charset="-120"/>
              </a:rPr>
              <a:t>Map user pain points: interview cloud-native, data science, business teams.</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[2]</a:t>
            </a:r>
            <a:endParaRPr lang="en-US" sz="2000" dirty="0"/>
          </a:p>
        </p:txBody>
      </p:sp>
      <p:sp>
        <p:nvSpPr>
          <p:cNvPr id="4" name="Text 2"/>
          <p:cNvSpPr/>
          <p:nvPr/>
        </p:nvSpPr>
        <p:spPr>
          <a:xfrm>
            <a:off x="6236208" y="1527048"/>
            <a:ext cx="5550408" cy="4462272"/>
          </a:xfrm>
          <a:prstGeom prst="rect">
            <a:avLst/>
          </a:prstGeom>
          <a:noFill/>
          <a:ln/>
        </p:spPr>
        <p:txBody>
          <a:bodyPr wrap="square" rtlCol="0" anchor="t">
            <a:normAutofit/>
          </a:bodyPr>
          <a:lstStyle/>
          <a:p>
            <a:pPr marL="342900" indent="-342900">
              <a:spcAft>
                <a:spcPts val="400"/>
              </a:spcAft>
              <a:buSzPct val="100000"/>
              <a:buFont typeface="+mj-lt"/>
              <a:buAutoNum type="arabicPeriod" startAt="1"/>
            </a:pPr>
            <a:r>
              <a:rPr lang="en-US" sz="2000" b="1" dirty="0">
                <a:solidFill>
                  <a:srgbClr val="000000"/>
                </a:solidFill>
                <a:latin typeface="Gartner Sans" pitchFamily="34" charset="0"/>
                <a:ea typeface="Gartner Sans" pitchFamily="34" charset="-122"/>
                <a:cs typeface="Gartner Sans" pitchFamily="34" charset="-120"/>
              </a:rPr>
              <a:t>Phase 2: Team &amp; Governance (2–4 months)</a:t>
            </a:r>
            <a:endParaRPr lang="en-US" sz="2000" dirty="0"/>
          </a:p>
          <a:p>
            <a:pPr marL="342900" indent="-342900">
              <a:spcAft>
                <a:spcPts val="400"/>
              </a:spcAft>
              <a:buSzPct val="100000"/>
              <a:buFont typeface="+mj-lt"/>
              <a:buAutoNum type="arabicPeriod" startAt="1"/>
            </a:pPr>
            <a:r>
              <a:rPr lang="en-US" sz="2000" dirty="0">
                <a:solidFill>
                  <a:srgbClr val="000000"/>
                </a:solidFill>
                <a:latin typeface="Gartner Sans" pitchFamily="34" charset="0"/>
                <a:ea typeface="Gartner Sans" pitchFamily="34" charset="-122"/>
                <a:cs typeface="Gartner Sans" pitchFamily="34" charset="-120"/>
              </a:rPr>
              <a:t>Form dedicated platform engineering team (full-time roles).</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[7]</a:t>
            </a:r>
            <a:endParaRPr lang="en-US" sz="2000" dirty="0"/>
          </a:p>
          <a:p>
            <a:pPr marL="342900" indent="-342900">
              <a:buSzPct val="100000"/>
              <a:buChar char="•"/>
            </a:pPr>
            <a:r>
              <a:rPr lang="en-US" sz="2000" dirty="0">
                <a:solidFill>
                  <a:srgbClr val="000000"/>
                </a:solidFill>
                <a:latin typeface="Gartner Sans" pitchFamily="34" charset="0"/>
                <a:ea typeface="Gartner Sans" pitchFamily="34" charset="-122"/>
                <a:cs typeface="Gartner Sans" pitchFamily="34" charset="-120"/>
              </a:rPr>
              <a:t>Hire/upskill engineers: IaC, CI/CD, API, cloud-native.</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5" invalidUrl="" action="" tgtFrame="" tooltip="" history="1" highlightClick="0" endSnd="0">
                  <a:extLst>
                    <a:ext uri="{A12FA001-AC4F-418D-AE19-62706E023703}">
                      <ahyp:hlinkClr xmlns:ahyp="http://schemas.microsoft.com/office/drawing/2018/hyperlinkcolor" val="tx"/>
                    </a:ext>
                  </a:extLst>
                </a:hlinkClick>
              </a:rPr>
              <a:t>[7]</a:t>
            </a:r>
            <a:endParaRPr lang="en-US" sz="2000" dirty="0"/>
          </a:p>
          <a:p>
            <a:pPr marL="342900" indent="-342900">
              <a:buSzPct val="100000"/>
              <a:buChar char="•"/>
            </a:pPr>
            <a:r>
              <a:rPr lang="en-US" sz="2000" dirty="0">
                <a:solidFill>
                  <a:srgbClr val="000000"/>
                </a:solidFill>
                <a:latin typeface="Gartner Sans" pitchFamily="34" charset="0"/>
                <a:ea typeface="Gartner Sans" pitchFamily="34" charset="-122"/>
                <a:cs typeface="Gartner Sans" pitchFamily="34" charset="-120"/>
              </a:rPr>
              <a:t>Codify governance principles: security, cost, compliance—become automated policies.</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6" invalidUrl="" action="" tgtFrame="" tooltip="" history="1" highlightClick="0" endSnd="0">
                  <a:extLst>
                    <a:ext uri="{A12FA001-AC4F-418D-AE19-62706E023703}">
                      <ahyp:hlinkClr xmlns:ahyp="http://schemas.microsoft.com/office/drawing/2018/hyperlinkcolor" val="tx"/>
                    </a:ext>
                  </a:extLst>
                </a:hlinkClick>
              </a:rPr>
              <a:t>[7]</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7" invalidUrl="" action="" tgtFrame="" tooltip="" history="1" highlightClick="0" endSnd="0">
                  <a:extLst>
                    <a:ext uri="{A12FA001-AC4F-418D-AE19-62706E023703}">
                      <ahyp:hlinkClr xmlns:ahyp="http://schemas.microsoft.com/office/drawing/2018/hyperlinkcolor" val="tx"/>
                    </a:ext>
                  </a:extLst>
                </a:hlinkClick>
              </a:rPr>
              <a:t>[8]</a:t>
            </a:r>
            <a:endParaRPr lang="en-US" sz="2000" dirty="0"/>
          </a:p>
        </p:txBody>
      </p:sp>
      <p:sp>
        <p:nvSpPr>
          <p:cNvPr id="5" name="Text 3"/>
          <p:cNvSpPr/>
          <p:nvPr/>
        </p:nvSpPr>
        <p:spPr>
          <a:xfrm>
            <a:off x="457200" y="6391656"/>
            <a:ext cx="502920" cy="155448"/>
          </a:xfrm>
          <a:prstGeom prst="rect">
            <a:avLst/>
          </a:prstGeom>
          <a:noFill/>
          <a:ln/>
        </p:spPr>
        <p:txBody>
          <a:bodyPr wrap="square" rtlCol="0" anchor="ctr"/>
          <a:lstStyle/>
          <a:p>
            <a:pPr algn="l" indent="0" marL="0">
              <a:buNone/>
            </a:pPr>
            <a:r>
              <a:rPr lang="en-US" sz="700" dirty="0">
                <a:solidFill>
                  <a:srgbClr val="000000"/>
                </a:solidFill>
                <a:latin typeface="Gartner Sans" pitchFamily="34" charset="0"/>
                <a:ea typeface="Gartner Sans" pitchFamily="34" charset="-122"/>
                <a:cs typeface="Gartner Sans" pitchFamily="34" charset="-120"/>
              </a:rPr>
              <a:t>10</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365760"/>
            <a:ext cx="12191695" cy="448056"/>
          </a:xfrm>
          <a:prstGeom prst="rect">
            <a:avLst/>
          </a:prstGeom>
          <a:noFill/>
          <a:ln/>
        </p:spPr>
        <p:txBody>
          <a:bodyPr wrap="square" rtlCol="0" anchor="t"/>
          <a:lstStyle/>
          <a:p>
            <a:pPr algn="l" indent="0" marL="0">
              <a:buNone/>
            </a:pPr>
            <a:r>
              <a:rPr lang="en-US" sz="2800" dirty="0">
                <a:solidFill>
                  <a:srgbClr val="002869"/>
                </a:solidFill>
                <a:latin typeface="Gartner Sans Semibold" pitchFamily="34" charset="0"/>
                <a:ea typeface="Gartner Sans Semibold" pitchFamily="34" charset="-122"/>
                <a:cs typeface="Gartner Sans Semibold" pitchFamily="34" charset="-120"/>
              </a:rPr>
              <a:t>MVP and Scale: Deliver Value and Optimize</a:t>
            </a:r>
            <a:endParaRPr lang="en-US" sz="2800" dirty="0"/>
          </a:p>
        </p:txBody>
      </p:sp>
      <p:sp>
        <p:nvSpPr>
          <p:cNvPr id="3" name="Text 1"/>
          <p:cNvSpPr/>
          <p:nvPr/>
        </p:nvSpPr>
        <p:spPr>
          <a:xfrm>
            <a:off x="457200" y="1527048"/>
            <a:ext cx="5550408" cy="4462272"/>
          </a:xfrm>
          <a:prstGeom prst="rect">
            <a:avLst/>
          </a:prstGeom>
          <a:noFill/>
          <a:ln/>
        </p:spPr>
        <p:txBody>
          <a:bodyPr wrap="square" rtlCol="0" anchor="t">
            <a:normAutofit/>
          </a:bodyPr>
          <a:lstStyle/>
          <a:p>
            <a:pPr marL="342900" indent="-342900">
              <a:spcAft>
                <a:spcPts val="400"/>
              </a:spcAft>
              <a:buSzPct val="100000"/>
              <a:buFont typeface="+mj-lt"/>
              <a:buAutoNum type="arabicPeriod" startAt="1"/>
            </a:pPr>
            <a:r>
              <a:rPr lang="en-US" sz="2000" b="1" dirty="0">
                <a:solidFill>
                  <a:srgbClr val="000000"/>
                </a:solidFill>
                <a:latin typeface="Gartner Sans" pitchFamily="34" charset="0"/>
                <a:ea typeface="Gartner Sans" pitchFamily="34" charset="-122"/>
                <a:cs typeface="Gartner Sans" pitchFamily="34" charset="-120"/>
              </a:rPr>
              <a:t>Phase 3: Minimum Viable Product (4–6 months)</a:t>
            </a:r>
            <a:endParaRPr lang="en-US" sz="2000" dirty="0"/>
          </a:p>
          <a:p>
            <a:pPr marL="342900" indent="-342900">
              <a:spcAft>
                <a:spcPts val="400"/>
              </a:spcAft>
              <a:buSzPct val="100000"/>
              <a:buFont typeface="+mj-lt"/>
              <a:buAutoNum type="arabicPeriod" startAt="1"/>
            </a:pPr>
            <a:r>
              <a:rPr lang="en-US" sz="2000" dirty="0">
                <a:solidFill>
                  <a:srgbClr val="000000"/>
                </a:solidFill>
                <a:latin typeface="Gartner Sans" pitchFamily="34" charset="0"/>
                <a:ea typeface="Gartner Sans" pitchFamily="34" charset="-122"/>
                <a:cs typeface="Gartner Sans" pitchFamily="34" charset="-120"/>
              </a:rPr>
              <a:t>Pick one high-value use case (cloud accounts, Kubernetes).</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[6]</a:t>
            </a:r>
            <a:endParaRPr lang="en-US" sz="2000" dirty="0"/>
          </a:p>
          <a:p>
            <a:pPr marL="342900" indent="-342900">
              <a:buSzPct val="100000"/>
              <a:buChar char="•"/>
            </a:pPr>
            <a:r>
              <a:rPr lang="en-US" sz="2000" dirty="0">
                <a:solidFill>
                  <a:srgbClr val="000000"/>
                </a:solidFill>
                <a:latin typeface="Gartner Sans" pitchFamily="34" charset="0"/>
                <a:ea typeface="Gartner Sans" pitchFamily="34" charset="-122"/>
                <a:cs typeface="Gartner Sans" pitchFamily="34" charset="-120"/>
              </a:rPr>
              <a:t>Build iteratively; release early, gather feedback, measure adoption.</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[6]</a:t>
            </a:r>
            <a:endParaRPr lang="en-US" sz="2000" dirty="0"/>
          </a:p>
          <a:p>
            <a:pPr marL="342900" indent="-342900">
              <a:buSzPct val="100000"/>
              <a:buChar char="•"/>
            </a:pPr>
            <a:r>
              <a:rPr lang="en-US" sz="2000" dirty="0">
                <a:solidFill>
                  <a:srgbClr val="000000"/>
                </a:solidFill>
                <a:latin typeface="Gartner Sans" pitchFamily="34" charset="0"/>
                <a:ea typeface="Gartner Sans" pitchFamily="34" charset="-122"/>
                <a:cs typeface="Gartner Sans" pitchFamily="34" charset="-120"/>
              </a:rPr>
              <a:t>Track adoption, time-to-provision, user satisfaction.</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[3]</a:t>
            </a:r>
            <a:endParaRPr lang="en-US" sz="2000" dirty="0"/>
          </a:p>
        </p:txBody>
      </p:sp>
      <p:sp>
        <p:nvSpPr>
          <p:cNvPr id="4" name="Text 2"/>
          <p:cNvSpPr/>
          <p:nvPr/>
        </p:nvSpPr>
        <p:spPr>
          <a:xfrm>
            <a:off x="6236208" y="1527048"/>
            <a:ext cx="5550408" cy="4462272"/>
          </a:xfrm>
          <a:prstGeom prst="rect">
            <a:avLst/>
          </a:prstGeom>
          <a:noFill/>
          <a:ln/>
        </p:spPr>
        <p:txBody>
          <a:bodyPr wrap="square" rtlCol="0" anchor="t">
            <a:normAutofit/>
          </a:bodyPr>
          <a:lstStyle/>
          <a:p>
            <a:pPr marL="342900" indent="-342900">
              <a:spcAft>
                <a:spcPts val="400"/>
              </a:spcAft>
              <a:buSzPct val="100000"/>
              <a:buFont typeface="+mj-lt"/>
              <a:buAutoNum type="arabicPeriod" startAt="1"/>
            </a:pPr>
            <a:r>
              <a:rPr lang="en-US" sz="2000" b="1" dirty="0">
                <a:solidFill>
                  <a:srgbClr val="000000"/>
                </a:solidFill>
                <a:latin typeface="Gartner Sans" pitchFamily="34" charset="0"/>
                <a:ea typeface="Gartner Sans" pitchFamily="34" charset="-122"/>
                <a:cs typeface="Gartner Sans" pitchFamily="34" charset="-120"/>
              </a:rPr>
              <a:t>Phase 4: Scale &amp; Optimize (6+ months)</a:t>
            </a:r>
            <a:endParaRPr lang="en-US" sz="2000" dirty="0"/>
          </a:p>
          <a:p>
            <a:pPr marL="342900" indent="-342900">
              <a:spcAft>
                <a:spcPts val="400"/>
              </a:spcAft>
              <a:buSzPct val="100000"/>
              <a:buFont typeface="+mj-lt"/>
              <a:buAutoNum type="arabicPeriod" startAt="1"/>
            </a:pPr>
            <a:r>
              <a:rPr lang="en-US" sz="2000" dirty="0">
                <a:solidFill>
                  <a:srgbClr val="000000"/>
                </a:solidFill>
                <a:latin typeface="Gartner Sans" pitchFamily="34" charset="0"/>
                <a:ea typeface="Gartner Sans" pitchFamily="34" charset="-122"/>
                <a:cs typeface="Gartner Sans" pitchFamily="34" charset="-120"/>
              </a:rPr>
              <a:t>Expand to additional domains (networking, storage, observability).</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[4]</a:t>
            </a:r>
            <a:endParaRPr lang="en-US" sz="2000" dirty="0"/>
          </a:p>
          <a:p>
            <a:pPr marL="342900" indent="-342900">
              <a:buSzPct val="100000"/>
              <a:buChar char="•"/>
            </a:pPr>
            <a:r>
              <a:rPr lang="en-US" sz="2000" dirty="0">
                <a:solidFill>
                  <a:srgbClr val="000000"/>
                </a:solidFill>
                <a:latin typeface="Gartner Sans" pitchFamily="34" charset="0"/>
                <a:ea typeface="Gartner Sans" pitchFamily="34" charset="-122"/>
                <a:cs typeface="Gartner Sans" pitchFamily="34" charset="-120"/>
              </a:rPr>
              <a:t>Mandate platform service reuse for efficiency.</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5" invalidUrl="" action="" tgtFrame="" tooltip="" history="1" highlightClick="0" endSnd="0">
                  <a:extLst>
                    <a:ext uri="{A12FA001-AC4F-418D-AE19-62706E023703}">
                      <ahyp:hlinkClr xmlns:ahyp="http://schemas.microsoft.com/office/drawing/2018/hyperlinkcolor" val="tx"/>
                    </a:ext>
                  </a:extLst>
                </a:hlinkClick>
              </a:rPr>
              <a:t>[4]</a:t>
            </a:r>
            <a:endParaRPr lang="en-US" sz="2000" dirty="0"/>
          </a:p>
          <a:p>
            <a:pPr marL="342900" indent="-342900">
              <a:buSzPct val="100000"/>
              <a:buChar char="•"/>
            </a:pPr>
            <a:r>
              <a:rPr lang="en-US" sz="2000" dirty="0">
                <a:solidFill>
                  <a:srgbClr val="000000"/>
                </a:solidFill>
                <a:latin typeface="Gartner Sans" pitchFamily="34" charset="0"/>
                <a:ea typeface="Gartner Sans" pitchFamily="34" charset="-122"/>
                <a:cs typeface="Gartner Sans" pitchFamily="34" charset="-120"/>
              </a:rPr>
              <a:t>Embed </a:t>
            </a:r>
            <a:endParaRPr lang="en-US" sz="2000" dirty="0"/>
          </a:p>
          <a:p>
            <a:pPr marL="342900" indent="-342900">
              <a:buSzPct val="100000"/>
              <a:buChar char="•"/>
            </a:pPr>
            <a:r>
              <a:rPr lang="en-US" sz="2000" u="sng" dirty="0">
                <a:solidFill>
                  <a:srgbClr val="000000"/>
                </a:solidFill>
                <a:latin typeface="Gartner Sans" pitchFamily="34" charset="0"/>
                <a:ea typeface="Gartner Sans" pitchFamily="34" charset="-122"/>
                <a:cs typeface="Gartner Sans" pitchFamily="34" charset="-120"/>
              </a:rPr>
              <a:t>cost governance</a:t>
            </a:r>
            <a:endParaRPr lang="en-US" sz="2000" dirty="0"/>
          </a:p>
          <a:p>
            <a:pPr marL="342900" indent="-342900">
              <a:buSzPct val="100000"/>
              <a:buChar char="•"/>
            </a:pPr>
            <a:r>
              <a:rPr lang="en-US" sz="2000" dirty="0">
                <a:solidFill>
                  <a:srgbClr val="000000"/>
                </a:solidFill>
                <a:latin typeface="Gartner Sans" pitchFamily="34" charset="0"/>
                <a:ea typeface="Gartner Sans" pitchFamily="34" charset="-122"/>
                <a:cs typeface="Gartner Sans" pitchFamily="34" charset="-120"/>
              </a:rPr>
              <a:t> and chargeback at every layer.</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6" invalidUrl="" action="" tgtFrame="" tooltip="" history="1" highlightClick="0" endSnd="0">
                  <a:extLst>
                    <a:ext uri="{A12FA001-AC4F-418D-AE19-62706E023703}">
                      <ahyp:hlinkClr xmlns:ahyp="http://schemas.microsoft.com/office/drawing/2018/hyperlinkcolor" val="tx"/>
                    </a:ext>
                  </a:extLst>
                </a:hlinkClick>
              </a:rPr>
              <a:t>[6]</a:t>
            </a:r>
            <a:endParaRPr lang="en-US" sz="2000" dirty="0"/>
          </a:p>
        </p:txBody>
      </p:sp>
      <p:sp>
        <p:nvSpPr>
          <p:cNvPr id="5" name="Text 3"/>
          <p:cNvSpPr/>
          <p:nvPr/>
        </p:nvSpPr>
        <p:spPr>
          <a:xfrm>
            <a:off x="457200" y="6391656"/>
            <a:ext cx="502920" cy="155448"/>
          </a:xfrm>
          <a:prstGeom prst="rect">
            <a:avLst/>
          </a:prstGeom>
          <a:noFill/>
          <a:ln/>
        </p:spPr>
        <p:txBody>
          <a:bodyPr wrap="square" rtlCol="0" anchor="ctr"/>
          <a:lstStyle/>
          <a:p>
            <a:pPr algn="l" indent="0" marL="0">
              <a:buNone/>
            </a:pPr>
            <a:r>
              <a:rPr lang="en-US" sz="700" dirty="0">
                <a:solidFill>
                  <a:srgbClr val="000000"/>
                </a:solidFill>
                <a:latin typeface="Gartner Sans" pitchFamily="34" charset="0"/>
                <a:ea typeface="Gartner Sans" pitchFamily="34" charset="-122"/>
                <a:cs typeface="Gartner Sans" pitchFamily="34" charset="-120"/>
              </a:rPr>
              <a:t>11</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1600200" y="2240280"/>
            <a:ext cx="7360920" cy="2002536"/>
          </a:xfrm>
          <a:prstGeom prst="rect">
            <a:avLst/>
          </a:prstGeom>
          <a:noFill/>
          <a:ln/>
        </p:spPr>
        <p:txBody>
          <a:bodyPr wrap="square" rtlCol="0" anchor="ctr"/>
          <a:lstStyle/>
          <a:p>
            <a:pPr algn="l" indent="0" marL="0">
              <a:buNone/>
            </a:pPr>
            <a:r>
              <a:rPr lang="en-US" sz="4400" dirty="0">
                <a:solidFill>
                  <a:srgbClr val="FFFFFF"/>
                </a:solidFill>
                <a:latin typeface="Gartner Sans Semibold" pitchFamily="34" charset="0"/>
                <a:ea typeface="Gartner Sans Semibold" pitchFamily="34" charset="-122"/>
                <a:cs typeface="Gartner Sans Semibold" pitchFamily="34" charset="-120"/>
              </a:rPr>
              <a:t>Key Decisions: Choosing Platform Anchors</a:t>
            </a:r>
            <a:endParaRPr lang="en-US" sz="4400" dirty="0"/>
          </a:p>
        </p:txBody>
      </p:sp>
      <p:sp>
        <p:nvSpPr>
          <p:cNvPr id="3" name="Text 1"/>
          <p:cNvSpPr/>
          <p:nvPr/>
        </p:nvSpPr>
        <p:spPr>
          <a:xfrm>
            <a:off x="457200" y="6391656"/>
            <a:ext cx="502920" cy="155448"/>
          </a:xfrm>
          <a:prstGeom prst="rect">
            <a:avLst/>
          </a:prstGeom>
          <a:noFill/>
          <a:ln/>
        </p:spPr>
        <p:txBody>
          <a:bodyPr wrap="square" rtlCol="0" anchor="ctr"/>
          <a:lstStyle/>
          <a:p>
            <a:pPr algn="l" indent="0" marL="0">
              <a:buNone/>
            </a:pPr>
            <a:r>
              <a:rPr lang="en-US" sz="700" dirty="0">
                <a:solidFill>
                  <a:srgbClr val="FFFFFF"/>
                </a:solidFill>
                <a:latin typeface="Gartner Sans" pitchFamily="34" charset="0"/>
                <a:ea typeface="Gartner Sans" pitchFamily="34" charset="-122"/>
                <a:cs typeface="Gartner Sans" pitchFamily="34" charset="-120"/>
              </a:rPr>
              <a:t>12</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365760"/>
            <a:ext cx="12191695" cy="448056"/>
          </a:xfrm>
          <a:prstGeom prst="rect">
            <a:avLst/>
          </a:prstGeom>
          <a:noFill/>
          <a:ln/>
        </p:spPr>
        <p:txBody>
          <a:bodyPr wrap="square" rtlCol="0" anchor="t"/>
          <a:lstStyle/>
          <a:p>
            <a:pPr algn="l" indent="0" marL="0">
              <a:buNone/>
            </a:pPr>
            <a:r>
              <a:rPr lang="en-US" sz="2800" dirty="0">
                <a:solidFill>
                  <a:srgbClr val="002869"/>
                </a:solidFill>
                <a:latin typeface="Gartner Sans Semibold" pitchFamily="34" charset="0"/>
                <a:ea typeface="Gartner Sans Semibold" pitchFamily="34" charset="-122"/>
                <a:cs typeface="Gartner Sans Semibold" pitchFamily="34" charset="-120"/>
              </a:rPr>
              <a:t>Platform Anchors: Compute, Kubernetes, Networking, Observability</a:t>
            </a:r>
            <a:endParaRPr lang="en-US" sz="2800" dirty="0"/>
          </a:p>
        </p:txBody>
      </p:sp>
      <p:sp>
        <p:nvSpPr>
          <p:cNvPr id="3" name="Text 1"/>
          <p:cNvSpPr/>
          <p:nvPr/>
        </p:nvSpPr>
        <p:spPr>
          <a:xfrm>
            <a:off x="457200" y="1527048"/>
            <a:ext cx="3337560" cy="4462272"/>
          </a:xfrm>
          <a:prstGeom prst="rect">
            <a:avLst/>
          </a:prstGeom>
          <a:noFill/>
          <a:ln/>
        </p:spPr>
        <p:txBody>
          <a:bodyPr wrap="square" rtlCol="0" anchor="t">
            <a:normAutofit/>
          </a:bodyPr>
          <a:lstStyle/>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Compute:</a:t>
            </a:r>
            <a:pPr indent="0" marL="0">
              <a:buNone/>
            </a:pPr>
            <a:r>
              <a:rPr lang="en-US" sz="2000" dirty="0">
                <a:solidFill>
                  <a:srgbClr val="000000"/>
                </a:solidFill>
                <a:latin typeface="Gartner Sans" pitchFamily="34" charset="0"/>
                <a:ea typeface="Gartner Sans" pitchFamily="34" charset="-122"/>
                <a:cs typeface="Gartner Sans" pitchFamily="34" charset="-120"/>
              </a:rPr>
              <a:t> AWS or Azure (or hybrid)—determines IaC tooling, skills, ecosystem.</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[4]</a:t>
            </a:r>
            <a:endParaRPr lang="en-US" sz="2000" dirty="0"/>
          </a:p>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Kubernetes:</a:t>
            </a:r>
            <a:pPr indent="0" marL="0">
              <a:buNone/>
            </a:pPr>
            <a:r>
              <a:rPr lang="en-US" sz="2000" dirty="0">
                <a:solidFill>
                  <a:srgbClr val="000000"/>
                </a:solidFill>
                <a:latin typeface="Gartner Sans" pitchFamily="34" charset="0"/>
                <a:ea typeface="Gartner Sans" pitchFamily="34" charset="-122"/>
                <a:cs typeface="Gartner Sans" pitchFamily="34" charset="-120"/>
              </a:rPr>
              <a:t> EKS, AKS, or on-prem—enables container orchestration at scale.</a:t>
            </a:r>
            <a:endParaRPr lang="en-US" sz="2000" dirty="0"/>
          </a:p>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Networking/Security:</a:t>
            </a:r>
            <a:pPr indent="0" marL="0">
              <a:buNone/>
            </a:pPr>
            <a:r>
              <a:rPr lang="en-US" sz="2000" dirty="0">
                <a:solidFill>
                  <a:srgbClr val="000000"/>
                </a:solidFill>
                <a:latin typeface="Gartner Sans" pitchFamily="34" charset="0"/>
                <a:ea typeface="Gartner Sans" pitchFamily="34" charset="-122"/>
                <a:cs typeface="Gartner Sans" pitchFamily="34" charset="-120"/>
              </a:rPr>
              <a:t> SASE platforms (Prisma, Zscaler)—zero trust and self-service.</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[4]</a:t>
            </a:r>
            <a:endParaRPr lang="en-US" sz="2000" dirty="0"/>
          </a:p>
        </p:txBody>
      </p:sp>
      <p:sp>
        <p:nvSpPr>
          <p:cNvPr id="4" name="Text 2"/>
          <p:cNvSpPr/>
          <p:nvPr/>
        </p:nvSpPr>
        <p:spPr>
          <a:xfrm>
            <a:off x="4425696" y="1527048"/>
            <a:ext cx="3337560" cy="4462272"/>
          </a:xfrm>
          <a:prstGeom prst="rect">
            <a:avLst/>
          </a:prstGeom>
          <a:noFill/>
          <a:ln/>
        </p:spPr>
        <p:txBody>
          <a:bodyPr wrap="square" rtlCol="0" anchor="t">
            <a:normAutofit/>
          </a:bodyPr>
          <a:lstStyle/>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Observability:</a:t>
            </a:r>
            <a:pPr indent="0" marL="0">
              <a:buNone/>
            </a:pPr>
            <a:r>
              <a:rPr lang="en-US" sz="2000" dirty="0">
                <a:solidFill>
                  <a:srgbClr val="000000"/>
                </a:solidFill>
                <a:latin typeface="Gartner Sans" pitchFamily="34" charset="0"/>
                <a:ea typeface="Gartner Sans" pitchFamily="34" charset="-122"/>
                <a:cs typeface="Gartner Sans" pitchFamily="34" charset="-120"/>
              </a:rPr>
              <a:t> Datadog, Splunk, or cloud-native—unified visibility across environments.</a:t>
            </a:r>
            <a:endParaRPr lang="en-US" sz="2000" dirty="0"/>
          </a:p>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IaC &amp; CI/CD:</a:t>
            </a:r>
            <a:pPr indent="0" marL="0">
              <a:buNone/>
            </a:pPr>
            <a:r>
              <a:rPr lang="en-US" sz="2000" dirty="0">
                <a:solidFill>
                  <a:srgbClr val="000000"/>
                </a:solidFill>
                <a:latin typeface="Gartner Sans" pitchFamily="34" charset="0"/>
                <a:ea typeface="Gartner Sans" pitchFamily="34" charset="-122"/>
                <a:cs typeface="Gartner Sans" pitchFamily="34" charset="-120"/>
              </a:rPr>
              <a:t> Terraform/OpenTofu + GitHub/GitLab + ArgoCD—foundation for everything.</a:t>
            </a:r>
            <a:endParaRPr lang="en-US" sz="2000" dirty="0"/>
          </a:p>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Mitigate vendor lock-in:</a:t>
            </a:r>
            <a:pPr indent="0" marL="0">
              <a:buNone/>
            </a:pPr>
            <a:r>
              <a:rPr lang="en-US" sz="2000" dirty="0">
                <a:solidFill>
                  <a:srgbClr val="000000"/>
                </a:solidFill>
                <a:latin typeface="Gartner Sans" pitchFamily="34" charset="0"/>
                <a:ea typeface="Gartner Sans" pitchFamily="34" charset="-122"/>
                <a:cs typeface="Gartner Sans" pitchFamily="34" charset="-120"/>
              </a:rPr>
              <a:t> Identify dependencies and risks; document strategy.</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[4]</a:t>
            </a:r>
            <a:endParaRPr lang="en-US" sz="2000" dirty="0"/>
          </a:p>
        </p:txBody>
      </p:sp>
      <p:sp>
        <p:nvSpPr>
          <p:cNvPr id="5" name="Text 3"/>
          <p:cNvSpPr/>
          <p:nvPr/>
        </p:nvSpPr>
        <p:spPr>
          <a:xfrm>
            <a:off x="8394192" y="1527048"/>
            <a:ext cx="3337560" cy="4462272"/>
          </a:xfrm>
          <a:prstGeom prst="rect">
            <a:avLst/>
          </a:prstGeom>
          <a:noFill/>
          <a:ln/>
        </p:spPr>
        <p:txBody>
          <a:bodyPr wrap="square" rtlCol="0" anchor="t">
            <a:normAutofit/>
          </a:bodyPr>
          <a:lstStyle/>
          <a:p>
            <a:pPr marL="342900" indent="-342900">
              <a:spcAft>
                <a:spcPts val="400"/>
              </a:spcAft>
              <a:buSzPct val="100000"/>
              <a:buChar char="•"/>
            </a:pPr>
            <a:r>
              <a:rPr lang="en-US" sz="2000" u="sng" dirty="0">
                <a:solidFill>
                  <a:srgbClr val="000000"/>
                </a:solidFill>
                <a:latin typeface="Gartner Sans" pitchFamily="34" charset="0"/>
                <a:ea typeface="Gartner Sans" pitchFamily="34" charset="-122"/>
                <a:cs typeface="Gartner Sans" pitchFamily="34" charset="-120"/>
              </a:rPr>
              <a:t>Anchor selection is critical</a:t>
            </a:r>
            <a:pPr indent="0" marL="0">
              <a:buNone/>
            </a:pPr>
            <a:r>
              <a:rPr lang="en-US" sz="2000" dirty="0">
                <a:solidFill>
                  <a:srgbClr val="000000"/>
                </a:solidFill>
                <a:latin typeface="Gartner Sans" pitchFamily="34" charset="0"/>
                <a:ea typeface="Gartner Sans" pitchFamily="34" charset="-122"/>
                <a:cs typeface="Gartner Sans" pitchFamily="34" charset="-120"/>
              </a:rPr>
              <a:t>: influences skills, contract terms, integrations.</a:t>
            </a:r>
            <a:endParaRPr lang="en-US" sz="2000" dirty="0"/>
          </a:p>
          <a:p>
            <a:pPr marL="342900" indent="-342900">
              <a:spcAft>
                <a:spcPts val="400"/>
              </a:spcAft>
              <a:buSzPct val="100000"/>
              <a:buChar char="•"/>
            </a:pPr>
            <a:r>
              <a:rPr lang="en-US" sz="2000" dirty="0">
                <a:solidFill>
                  <a:srgbClr val="000000"/>
                </a:solidFill>
                <a:latin typeface="Gartner Sans" pitchFamily="34" charset="0"/>
                <a:ea typeface="Gartner Sans" pitchFamily="34" charset="-122"/>
                <a:cs typeface="Gartner Sans" pitchFamily="34" charset="-120"/>
              </a:rPr>
              <a:t>Document contractual and ecosystem dependencies early.</a:t>
            </a:r>
            <a:endParaRPr lang="en-US" sz="2000" dirty="0"/>
          </a:p>
          <a:p>
            <a:pPr marL="342900" indent="-342900">
              <a:spcAft>
                <a:spcPts val="400"/>
              </a:spcAft>
              <a:buSzPct val="100000"/>
              <a:buChar char="•"/>
            </a:pPr>
            <a:r>
              <a:rPr lang="en-US" sz="2000" dirty="0">
                <a:solidFill>
                  <a:srgbClr val="000000"/>
                </a:solidFill>
                <a:latin typeface="Gartner Sans" pitchFamily="34" charset="0"/>
                <a:ea typeface="Gartner Sans" pitchFamily="34" charset="-122"/>
                <a:cs typeface="Gartner Sans" pitchFamily="34" charset="-120"/>
              </a:rPr>
              <a:t>Update anchor decisions as usage patterns evolve and new needs emerge.</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[4]</a:t>
            </a:r>
            <a:endParaRPr lang="en-US" sz="2000" dirty="0"/>
          </a:p>
        </p:txBody>
      </p:sp>
      <p:sp>
        <p:nvSpPr>
          <p:cNvPr id="6" name="Text 4"/>
          <p:cNvSpPr/>
          <p:nvPr/>
        </p:nvSpPr>
        <p:spPr>
          <a:xfrm>
            <a:off x="457200" y="6391656"/>
            <a:ext cx="502920" cy="155448"/>
          </a:xfrm>
          <a:prstGeom prst="rect">
            <a:avLst/>
          </a:prstGeom>
          <a:noFill/>
          <a:ln/>
        </p:spPr>
        <p:txBody>
          <a:bodyPr wrap="square" rtlCol="0" anchor="ctr"/>
          <a:lstStyle/>
          <a:p>
            <a:pPr algn="l" indent="0" marL="0">
              <a:buNone/>
            </a:pPr>
            <a:r>
              <a:rPr lang="en-US" sz="700" dirty="0">
                <a:solidFill>
                  <a:srgbClr val="000000"/>
                </a:solidFill>
                <a:latin typeface="Gartner Sans" pitchFamily="34" charset="0"/>
                <a:ea typeface="Gartner Sans" pitchFamily="34" charset="-122"/>
                <a:cs typeface="Gartner Sans" pitchFamily="34" charset="-120"/>
              </a:rPr>
              <a:t>13</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1600200" y="2240280"/>
            <a:ext cx="7360920" cy="2002536"/>
          </a:xfrm>
          <a:prstGeom prst="rect">
            <a:avLst/>
          </a:prstGeom>
          <a:noFill/>
          <a:ln/>
        </p:spPr>
        <p:txBody>
          <a:bodyPr wrap="square" rtlCol="0" anchor="ctr"/>
          <a:lstStyle/>
          <a:p>
            <a:pPr algn="l" indent="0" marL="0">
              <a:buNone/>
            </a:pPr>
            <a:r>
              <a:rPr lang="en-US" sz="4400" dirty="0">
                <a:solidFill>
                  <a:srgbClr val="FFFFFF"/>
                </a:solidFill>
                <a:latin typeface="Gartner Sans Semibold" pitchFamily="34" charset="0"/>
                <a:ea typeface="Gartner Sans Semibold" pitchFamily="34" charset="-122"/>
                <a:cs typeface="Gartner Sans Semibold" pitchFamily="34" charset="-120"/>
              </a:rPr>
              <a:t>What Success Looks Like</a:t>
            </a:r>
            <a:endParaRPr lang="en-US" sz="4400" dirty="0"/>
          </a:p>
        </p:txBody>
      </p:sp>
      <p:sp>
        <p:nvSpPr>
          <p:cNvPr id="3" name="Text 1"/>
          <p:cNvSpPr/>
          <p:nvPr/>
        </p:nvSpPr>
        <p:spPr>
          <a:xfrm>
            <a:off x="457200" y="6391656"/>
            <a:ext cx="502920" cy="155448"/>
          </a:xfrm>
          <a:prstGeom prst="rect">
            <a:avLst/>
          </a:prstGeom>
          <a:noFill/>
          <a:ln/>
        </p:spPr>
        <p:txBody>
          <a:bodyPr wrap="square" rtlCol="0" anchor="ctr"/>
          <a:lstStyle/>
          <a:p>
            <a:pPr algn="l" indent="0" marL="0">
              <a:buNone/>
            </a:pPr>
            <a:r>
              <a:rPr lang="en-US" sz="700" dirty="0">
                <a:solidFill>
                  <a:srgbClr val="FFFFFF"/>
                </a:solidFill>
                <a:latin typeface="Gartner Sans" pitchFamily="34" charset="0"/>
                <a:ea typeface="Gartner Sans" pitchFamily="34" charset="-122"/>
                <a:cs typeface="Gartner Sans" pitchFamily="34" charset="-120"/>
              </a:rPr>
              <a:t>14</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365760"/>
            <a:ext cx="12191695" cy="448056"/>
          </a:xfrm>
          <a:prstGeom prst="rect">
            <a:avLst/>
          </a:prstGeom>
          <a:noFill/>
          <a:ln/>
        </p:spPr>
        <p:txBody>
          <a:bodyPr wrap="square" rtlCol="0" anchor="t"/>
          <a:lstStyle/>
          <a:p>
            <a:pPr algn="l" indent="0" marL="0">
              <a:buNone/>
            </a:pPr>
            <a:r>
              <a:rPr lang="en-US" sz="2800" dirty="0">
                <a:solidFill>
                  <a:srgbClr val="002869"/>
                </a:solidFill>
                <a:latin typeface="Gartner Sans Semibold" pitchFamily="34" charset="0"/>
                <a:ea typeface="Gartner Sans Semibold" pitchFamily="34" charset="-122"/>
                <a:cs typeface="Gartner Sans Semibold" pitchFamily="34" charset="-120"/>
              </a:rPr>
              <a:t>Outcomes: Faster Provisioning, Adoption, Cost Control, Compliance</a:t>
            </a:r>
            <a:endParaRPr lang="en-US" sz="2800" dirty="0"/>
          </a:p>
        </p:txBody>
      </p:sp>
      <p:sp>
        <p:nvSpPr>
          <p:cNvPr id="3" name="Text 1"/>
          <p:cNvSpPr/>
          <p:nvPr/>
        </p:nvSpPr>
        <p:spPr>
          <a:xfrm>
            <a:off x="457200" y="1527048"/>
            <a:ext cx="11277295" cy="4462272"/>
          </a:xfrm>
          <a:prstGeom prst="rect">
            <a:avLst/>
          </a:prstGeom>
          <a:noFill/>
          <a:ln/>
        </p:spPr>
        <p:txBody>
          <a:bodyPr wrap="square" rtlCol="0" anchor="t">
            <a:normAutofit/>
          </a:bodyPr>
          <a:lstStyle/>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Faster provisioning:</a:t>
            </a:r>
            <a:pPr indent="0" marL="0">
              <a:buNone/>
            </a:pPr>
            <a:r>
              <a:rPr lang="en-US" sz="2000" dirty="0">
                <a:solidFill>
                  <a:srgbClr val="000000"/>
                </a:solidFill>
                <a:latin typeface="Gartner Sans" pitchFamily="34" charset="0"/>
                <a:ea typeface="Gartner Sans" pitchFamily="34" charset="-122"/>
                <a:cs typeface="Gartner Sans" pitchFamily="34" charset="-120"/>
              </a:rPr>
              <a:t> Developers get infrastructure in hours, not weeks.</a:t>
            </a:r>
            <a:endParaRPr lang="en-US" sz="2000" dirty="0"/>
          </a:p>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Higher adoption:</a:t>
            </a:r>
            <a:pPr indent="0" marL="0">
              <a:buNone/>
            </a:pPr>
            <a:r>
              <a:rPr lang="en-US" sz="2000" dirty="0">
                <a:solidFill>
                  <a:srgbClr val="000000"/>
                </a:solidFill>
                <a:latin typeface="Gartner Sans" pitchFamily="34" charset="0"/>
                <a:ea typeface="Gartner Sans" pitchFamily="34" charset="-122"/>
                <a:cs typeface="Gartner Sans" pitchFamily="34" charset="-120"/>
              </a:rPr>
              <a:t> Teams use your platform because it's </a:t>
            </a:r>
            <a:pPr indent="0" marL="0">
              <a:buNone/>
            </a:pPr>
            <a:r>
              <a:rPr lang="en-US" sz="2000" i="1" dirty="0">
                <a:solidFill>
                  <a:srgbClr val="000000"/>
                </a:solidFill>
                <a:latin typeface="Gartner Sans" pitchFamily="34" charset="0"/>
                <a:ea typeface="Gartner Sans" pitchFamily="34" charset="-122"/>
                <a:cs typeface="Gartner Sans" pitchFamily="34" charset="-120"/>
              </a:rPr>
              <a:t>easier</a:t>
            </a:r>
            <a:pPr indent="0" marL="0">
              <a:buNone/>
            </a:pPr>
            <a:r>
              <a:rPr lang="en-US" sz="2000" dirty="0">
                <a:solidFill>
                  <a:srgbClr val="000000"/>
                </a:solidFill>
                <a:latin typeface="Gartner Sans" pitchFamily="34" charset="0"/>
                <a:ea typeface="Gartner Sans" pitchFamily="34" charset="-122"/>
                <a:cs typeface="Gartner Sans" pitchFamily="34" charset="-120"/>
              </a:rPr>
              <a:t> than alternatives.</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[5]</a:t>
            </a:r>
            <a:endParaRPr lang="en-US" sz="2000" dirty="0"/>
          </a:p>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Better cost control:</a:t>
            </a:r>
            <a:pPr indent="0" marL="0">
              <a:buNone/>
            </a:pPr>
            <a:r>
              <a:rPr lang="en-US" sz="2000" dirty="0">
                <a:solidFill>
                  <a:srgbClr val="000000"/>
                </a:solidFill>
                <a:latin typeface="Gartner Sans" pitchFamily="34" charset="0"/>
                <a:ea typeface="Gartner Sans" pitchFamily="34" charset="-122"/>
                <a:cs typeface="Gartner Sans" pitchFamily="34" charset="-120"/>
              </a:rPr>
              <a:t> Chargeback &amp; observability reveal waste; platform automation reduces it.</a:t>
            </a:r>
            <a:endParaRPr lang="en-US" sz="2000" dirty="0"/>
          </a:p>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Compliance confidence:</a:t>
            </a:r>
            <a:pPr indent="0" marL="0">
              <a:buNone/>
            </a:pPr>
            <a:r>
              <a:rPr lang="en-US" sz="2000" dirty="0">
                <a:solidFill>
                  <a:srgbClr val="000000"/>
                </a:solidFill>
                <a:latin typeface="Gartner Sans" pitchFamily="34" charset="0"/>
                <a:ea typeface="Gartner Sans" pitchFamily="34" charset="-122"/>
                <a:cs typeface="Gartner Sans" pitchFamily="34" charset="-120"/>
              </a:rPr>
              <a:t> Policy-as-code &amp; automated guardrails decrease audit risk.</a:t>
            </a:r>
            <a:endParaRPr lang="en-US" sz="2000" dirty="0"/>
          </a:p>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Team satisfaction:</a:t>
            </a:r>
            <a:pPr indent="0" marL="0">
              <a:buNone/>
            </a:pPr>
            <a:r>
              <a:rPr lang="en-US" sz="2000" dirty="0">
                <a:solidFill>
                  <a:srgbClr val="000000"/>
                </a:solidFill>
                <a:latin typeface="Gartner Sans" pitchFamily="34" charset="0"/>
                <a:ea typeface="Gartner Sans" pitchFamily="34" charset="-122"/>
                <a:cs typeface="Gartner Sans" pitchFamily="34" charset="-120"/>
              </a:rPr>
              <a:t> I&amp;O engineers solve strategic problems—not just field tickets.</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[5]</a:t>
            </a:r>
            <a:endParaRPr lang="en-US" sz="2000" dirty="0"/>
          </a:p>
        </p:txBody>
      </p:sp>
      <p:sp>
        <p:nvSpPr>
          <p:cNvPr id="4" name="Text 2"/>
          <p:cNvSpPr/>
          <p:nvPr/>
        </p:nvSpPr>
        <p:spPr>
          <a:xfrm>
            <a:off x="457200" y="6391656"/>
            <a:ext cx="502920" cy="155448"/>
          </a:xfrm>
          <a:prstGeom prst="rect">
            <a:avLst/>
          </a:prstGeom>
          <a:noFill/>
          <a:ln/>
        </p:spPr>
        <p:txBody>
          <a:bodyPr wrap="square" rtlCol="0" anchor="ctr"/>
          <a:lstStyle/>
          <a:p>
            <a:pPr algn="l" indent="0" marL="0">
              <a:buNone/>
            </a:pPr>
            <a:r>
              <a:rPr lang="en-US" sz="700" dirty="0">
                <a:solidFill>
                  <a:srgbClr val="000000"/>
                </a:solidFill>
                <a:latin typeface="Gartner Sans" pitchFamily="34" charset="0"/>
                <a:ea typeface="Gartner Sans" pitchFamily="34" charset="-122"/>
                <a:cs typeface="Gartner Sans" pitchFamily="34" charset="-120"/>
              </a:rPr>
              <a:t>15</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1600200" y="2240280"/>
            <a:ext cx="7360920" cy="2002536"/>
          </a:xfrm>
          <a:prstGeom prst="rect">
            <a:avLst/>
          </a:prstGeom>
          <a:noFill/>
          <a:ln/>
        </p:spPr>
        <p:txBody>
          <a:bodyPr wrap="square" rtlCol="0" anchor="ctr"/>
          <a:lstStyle/>
          <a:p>
            <a:pPr algn="l" indent="0" marL="0">
              <a:buNone/>
            </a:pPr>
            <a:r>
              <a:rPr lang="en-US" sz="4400" dirty="0">
                <a:solidFill>
                  <a:srgbClr val="FFFFFF"/>
                </a:solidFill>
                <a:latin typeface="Gartner Sans Semibold" pitchFamily="34" charset="0"/>
                <a:ea typeface="Gartner Sans Semibold" pitchFamily="34" charset="-122"/>
                <a:cs typeface="Gartner Sans Semibold" pitchFamily="34" charset="-120"/>
              </a:rPr>
              <a:t>Your Next Move</a:t>
            </a:r>
            <a:endParaRPr lang="en-US" sz="4400" dirty="0"/>
          </a:p>
        </p:txBody>
      </p:sp>
      <p:sp>
        <p:nvSpPr>
          <p:cNvPr id="3" name="Text 1"/>
          <p:cNvSpPr/>
          <p:nvPr/>
        </p:nvSpPr>
        <p:spPr>
          <a:xfrm>
            <a:off x="457200" y="6391656"/>
            <a:ext cx="502920" cy="155448"/>
          </a:xfrm>
          <a:prstGeom prst="rect">
            <a:avLst/>
          </a:prstGeom>
          <a:noFill/>
          <a:ln/>
        </p:spPr>
        <p:txBody>
          <a:bodyPr wrap="square" rtlCol="0" anchor="ctr"/>
          <a:lstStyle/>
          <a:p>
            <a:pPr algn="l" indent="0" marL="0">
              <a:buNone/>
            </a:pPr>
            <a:r>
              <a:rPr lang="en-US" sz="700" dirty="0">
                <a:solidFill>
                  <a:srgbClr val="FFFFFF"/>
                </a:solidFill>
                <a:latin typeface="Gartner Sans" pitchFamily="34" charset="0"/>
                <a:ea typeface="Gartner Sans" pitchFamily="34" charset="-122"/>
                <a:cs typeface="Gartner Sans" pitchFamily="34" charset="-120"/>
              </a:rPr>
              <a:t>16</a:t>
            </a:r>
            <a:endParaRPr lang="en-US" sz="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365760"/>
            <a:ext cx="12191695" cy="448056"/>
          </a:xfrm>
          <a:prstGeom prst="rect">
            <a:avLst/>
          </a:prstGeom>
          <a:noFill/>
          <a:ln/>
        </p:spPr>
        <p:txBody>
          <a:bodyPr wrap="square" rtlCol="0" anchor="t"/>
          <a:lstStyle/>
          <a:p>
            <a:pPr algn="l" indent="0" marL="0">
              <a:buNone/>
            </a:pPr>
            <a:r>
              <a:rPr lang="en-US" sz="2800" dirty="0">
                <a:solidFill>
                  <a:srgbClr val="002869"/>
                </a:solidFill>
                <a:latin typeface="Gartner Sans Semibold" pitchFamily="34" charset="0"/>
                <a:ea typeface="Gartner Sans Semibold" pitchFamily="34" charset="-122"/>
                <a:cs typeface="Gartner Sans Semibold" pitchFamily="34" charset="-120"/>
              </a:rPr>
              <a:t>Executive Alignment and Rapid Listening Tour</a:t>
            </a:r>
            <a:endParaRPr lang="en-US" sz="2800" dirty="0"/>
          </a:p>
        </p:txBody>
      </p:sp>
      <p:sp>
        <p:nvSpPr>
          <p:cNvPr id="3" name="Text 1"/>
          <p:cNvSpPr/>
          <p:nvPr/>
        </p:nvSpPr>
        <p:spPr>
          <a:xfrm>
            <a:off x="457200" y="1527048"/>
            <a:ext cx="11277295" cy="4462272"/>
          </a:xfrm>
          <a:prstGeom prst="rect">
            <a:avLst/>
          </a:prstGeom>
          <a:noFill/>
          <a:ln/>
        </p:spPr>
        <p:txBody>
          <a:bodyPr wrap="square" rtlCol="0" anchor="t">
            <a:normAutofit/>
          </a:bodyPr>
          <a:lstStyle/>
          <a:p>
            <a:pPr indent="0" marL="0">
              <a:buNone/>
            </a:pPr>
            <a:r>
              <a:rPr lang="en-US" sz="2000" dirty="0">
                <a:solidFill>
                  <a:srgbClr val="000000"/>
                </a:solidFill>
                <a:latin typeface="Gartner Sans" pitchFamily="34" charset="0"/>
                <a:ea typeface="Gartner Sans" pitchFamily="34" charset="-122"/>
                <a:cs typeface="Gartner Sans" pitchFamily="34" charset="-120"/>
              </a:rPr>
              <a:t>Secure </a:t>
            </a:r>
            <a:pPr indent="0" marL="0">
              <a:buNone/>
            </a:pPr>
            <a:r>
              <a:rPr lang="en-US" sz="2000" u="sng" dirty="0">
                <a:solidFill>
                  <a:srgbClr val="000000"/>
                </a:solidFill>
                <a:latin typeface="Gartner Sans" pitchFamily="34" charset="0"/>
                <a:ea typeface="Gartner Sans" pitchFamily="34" charset="-122"/>
                <a:cs typeface="Gartner Sans" pitchFamily="34" charset="-120"/>
              </a:rPr>
              <a:t>executive alignment</a:t>
            </a:r>
            <a:pPr indent="0" marL="0">
              <a:buNone/>
            </a:pPr>
            <a:r>
              <a:rPr lang="en-US" sz="2000" dirty="0">
                <a:solidFill>
                  <a:srgbClr val="000000"/>
                </a:solidFill>
                <a:latin typeface="Gartner Sans" pitchFamily="34" charset="0"/>
                <a:ea typeface="Gartner Sans" pitchFamily="34" charset="-122"/>
                <a:cs typeface="Gartner Sans" pitchFamily="34" charset="-120"/>
              </a:rPr>
              <a:t>—IaP is an organizational shift, not just technical. Run a rapid listening tour with stakeholders (cloud architects, security, finance, product teams) to validate anchor platform choices and MVP use case. This multi-quarter journey delivers speed, control, and resilience for Capital One.</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[1]</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[6]</a:t>
            </a:r>
            <a:endParaRPr lang="en-US" sz="2000" dirty="0"/>
          </a:p>
        </p:txBody>
      </p:sp>
      <p:sp>
        <p:nvSpPr>
          <p:cNvPr id="4" name="Text 2"/>
          <p:cNvSpPr/>
          <p:nvPr/>
        </p:nvSpPr>
        <p:spPr>
          <a:xfrm>
            <a:off x="457200" y="6391656"/>
            <a:ext cx="502920" cy="155448"/>
          </a:xfrm>
          <a:prstGeom prst="rect">
            <a:avLst/>
          </a:prstGeom>
          <a:noFill/>
          <a:ln/>
        </p:spPr>
        <p:txBody>
          <a:bodyPr wrap="square" rtlCol="0" anchor="ctr"/>
          <a:lstStyle/>
          <a:p>
            <a:pPr algn="l" indent="0" marL="0">
              <a:buNone/>
            </a:pPr>
            <a:r>
              <a:rPr lang="en-US" sz="700" dirty="0">
                <a:solidFill>
                  <a:srgbClr val="000000"/>
                </a:solidFill>
                <a:latin typeface="Gartner Sans" pitchFamily="34" charset="0"/>
                <a:ea typeface="Gartner Sans" pitchFamily="34" charset="-122"/>
                <a:cs typeface="Gartner Sans" pitchFamily="34" charset="-120"/>
              </a:rPr>
              <a:t>17</a:t>
            </a:r>
            <a:endParaRPr lang="en-US" sz="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365760"/>
            <a:ext cx="12191695" cy="448056"/>
          </a:xfrm>
          <a:prstGeom prst="rect">
            <a:avLst/>
          </a:prstGeom>
          <a:noFill/>
          <a:ln/>
        </p:spPr>
        <p:txBody>
          <a:bodyPr wrap="square" rtlCol="0" anchor="t"/>
          <a:lstStyle/>
          <a:p>
            <a:pPr algn="l" indent="0" marL="0">
              <a:buNone/>
            </a:pPr>
            <a:r>
              <a:rPr lang="en-US" sz="2800" dirty="0">
                <a:solidFill>
                  <a:srgbClr val="002869"/>
                </a:solidFill>
                <a:latin typeface="Gartner Sans Semibold" pitchFamily="34" charset="0"/>
                <a:ea typeface="Gartner Sans Semibold" pitchFamily="34" charset="-122"/>
                <a:cs typeface="Gartner Sans Semibold" pitchFamily="34" charset="-120"/>
              </a:rPr>
              <a:t>References</a:t>
            </a:r>
            <a:endParaRPr lang="en-US" sz="2800" dirty="0"/>
          </a:p>
        </p:txBody>
      </p:sp>
      <p:sp>
        <p:nvSpPr>
          <p:cNvPr id="3" name="Text 1"/>
          <p:cNvSpPr/>
          <p:nvPr/>
        </p:nvSpPr>
        <p:spPr>
          <a:xfrm>
            <a:off x="457200" y="1527048"/>
            <a:ext cx="11277295" cy="4462272"/>
          </a:xfrm>
          <a:prstGeom prst="rect">
            <a:avLst/>
          </a:prstGeom>
          <a:noFill/>
          <a:ln/>
        </p:spPr>
        <p:txBody>
          <a:bodyPr wrap="square" rtlCol="0" anchor="t">
            <a:normAutofit/>
          </a:bodyPr>
          <a:lstStyle/>
          <a:p>
            <a:pPr marL="342900" indent="-342900">
              <a:spcAft>
                <a:spcPts val="400"/>
              </a:spcAft>
              <a:buSzPct val="100000"/>
              <a:buFont typeface="+mj-lt"/>
              <a:buAutoNum type="arabicPeriod" startAt="1"/>
            </a:pPr>
            <a:r>
              <a:rPr lang="en-US" sz="2000" u="sng" dirty="0">
                <a:solidFill>
                  <a:srgbClr val="006AC7"/>
                </a:solidFill>
                <a:latin typeface="Gartner Sans" pitchFamily="34" charset="0"/>
                <a:ea typeface="Gartner Sans" pitchFamily="34" charset="-122"/>
                <a:cs typeface="Gartner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Strategic Roadmap for Platform-Centric I&amp;O</a:t>
            </a:r>
            <a:endParaRPr lang="en-US" sz="2000" dirty="0"/>
          </a:p>
          <a:p>
            <a:pPr marL="342900" indent="-342900">
              <a:spcAft>
                <a:spcPts val="400"/>
              </a:spcAft>
              <a:buSzPct val="100000"/>
              <a:buFont typeface="+mj-lt"/>
              <a:buAutoNum type="arabicPeriod" startAt="2"/>
            </a:pPr>
            <a:r>
              <a:rPr lang="en-US" sz="2000" u="sng" dirty="0">
                <a:solidFill>
                  <a:srgbClr val="006AC7"/>
                </a:solidFill>
                <a:latin typeface="Gartner Sans" pitchFamily="34" charset="0"/>
                <a:ea typeface="Gartner Sans" pitchFamily="34" charset="-122"/>
                <a:cs typeface="Gartner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Get Your Infrastructure Ready for Platforms</a:t>
            </a:r>
            <a:endParaRPr lang="en-US" sz="2000" dirty="0"/>
          </a:p>
          <a:p>
            <a:pPr marL="342900" indent="-342900">
              <a:spcAft>
                <a:spcPts val="400"/>
              </a:spcAft>
              <a:buSzPct val="100000"/>
              <a:buFont typeface="+mj-lt"/>
              <a:buAutoNum type="arabicPeriod" startAt="3"/>
            </a:pPr>
            <a:r>
              <a:rPr lang="en-US" sz="2000" u="sng" dirty="0">
                <a:solidFill>
                  <a:srgbClr val="006AC7"/>
                </a:solidFill>
                <a:latin typeface="Gartner Sans" pitchFamily="34" charset="0"/>
                <a:ea typeface="Gartner Sans" pitchFamily="34" charset="-122"/>
                <a:cs typeface="Gartner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Infrastructure Platform Engineering Reference Architecture</a:t>
            </a:r>
            <a:endParaRPr lang="en-US" sz="2000" dirty="0"/>
          </a:p>
          <a:p>
            <a:pPr marL="342900" indent="-342900">
              <a:spcAft>
                <a:spcPts val="400"/>
              </a:spcAft>
              <a:buSzPct val="100000"/>
              <a:buFont typeface="+mj-lt"/>
              <a:buAutoNum type="arabicPeriod" startAt="4"/>
            </a:pPr>
            <a:r>
              <a:rPr lang="en-US" sz="2000" u="sng" dirty="0">
                <a:solidFill>
                  <a:srgbClr val="006AC7"/>
                </a:solidFill>
                <a:latin typeface="Gartner Sans" pitchFamily="34" charset="0"/>
                <a:ea typeface="Gartner Sans" pitchFamily="34" charset="-122"/>
                <a:cs typeface="Gartner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The Infrastructure You Need for Platform-Centric I&amp;O</a:t>
            </a:r>
            <a:endParaRPr lang="en-US" sz="2000" dirty="0"/>
          </a:p>
          <a:p>
            <a:pPr marL="342900" indent="-342900">
              <a:spcAft>
                <a:spcPts val="400"/>
              </a:spcAft>
              <a:buSzPct val="100000"/>
              <a:buFont typeface="+mj-lt"/>
              <a:buAutoNum type="arabicPeriod" startAt="5"/>
            </a:pPr>
            <a:r>
              <a:rPr lang="en-US" sz="2000" u="sng" dirty="0">
                <a:solidFill>
                  <a:srgbClr val="006AC7"/>
                </a:solidFill>
                <a:latin typeface="Gartner Sans" pitchFamily="34" charset="0"/>
                <a:ea typeface="Gartner Sans" pitchFamily="34" charset="-122"/>
                <a:cs typeface="Gartner Sans" pitchFamily="34" charset="-120"/>
                <a:hlinkClick r:id="rId5" invalidUrl="" action="" tgtFrame="" tooltip="" history="1" highlightClick="0" endSnd="0">
                  <a:extLst>
                    <a:ext uri="{A12FA001-AC4F-418D-AE19-62706E023703}">
                      <ahyp:hlinkClr xmlns:ahyp="http://schemas.microsoft.com/office/drawing/2018/hyperlinkcolor" val="tx"/>
                    </a:ext>
                  </a:extLst>
                </a:hlinkClick>
              </a:rPr>
              <a:t>Key Actions to Succeed as a Head of Infrastructure Platforms</a:t>
            </a:r>
            <a:endParaRPr lang="en-US" sz="2000" dirty="0"/>
          </a:p>
          <a:p>
            <a:pPr marL="342900" indent="-342900">
              <a:spcAft>
                <a:spcPts val="400"/>
              </a:spcAft>
              <a:buSzPct val="100000"/>
              <a:buFont typeface="+mj-lt"/>
              <a:buAutoNum type="arabicPeriod" startAt="6"/>
            </a:pPr>
            <a:r>
              <a:rPr lang="en-US" sz="2000" u="sng" dirty="0">
                <a:solidFill>
                  <a:srgbClr val="006AC7"/>
                </a:solidFill>
                <a:latin typeface="Gartner Sans" pitchFamily="34" charset="0"/>
                <a:ea typeface="Gartner Sans" pitchFamily="34" charset="-122"/>
                <a:cs typeface="Gartner Sans" pitchFamily="34" charset="-120"/>
                <a:hlinkClick r:id="rId6" invalidUrl="" action="" tgtFrame="" tooltip="" history="1" highlightClick="0" endSnd="0">
                  <a:extLst>
                    <a:ext uri="{A12FA001-AC4F-418D-AE19-62706E023703}">
                      <ahyp:hlinkClr xmlns:ahyp="http://schemas.microsoft.com/office/drawing/2018/hyperlinkcolor" val="tx"/>
                    </a:ext>
                  </a:extLst>
                </a:hlinkClick>
              </a:rPr>
              <a:t>The Organizational Mandate: Adopting Infrastructure Platform Engineering to Accelerate AI Value</a:t>
            </a:r>
            <a:endParaRPr lang="en-US" sz="2000" dirty="0"/>
          </a:p>
          <a:p>
            <a:pPr marL="342900" indent="-342900">
              <a:spcAft>
                <a:spcPts val="400"/>
              </a:spcAft>
              <a:buSzPct val="100000"/>
              <a:buFont typeface="+mj-lt"/>
              <a:buAutoNum type="arabicPeriod" startAt="7"/>
            </a:pPr>
            <a:r>
              <a:rPr lang="en-US" sz="2000" u="sng" dirty="0">
                <a:solidFill>
                  <a:srgbClr val="006AC7"/>
                </a:solidFill>
                <a:latin typeface="Gartner Sans" pitchFamily="34" charset="0"/>
                <a:ea typeface="Gartner Sans" pitchFamily="34" charset="-122"/>
                <a:cs typeface="Gartner Sans" pitchFamily="34" charset="-120"/>
                <a:hlinkClick r:id="rId7" invalidUrl="" action="" tgtFrame="" tooltip="" history="1" highlightClick="0" endSnd="0">
                  <a:extLst>
                    <a:ext uri="{A12FA001-AC4F-418D-AE19-62706E023703}">
                      <ahyp:hlinkClr xmlns:ahyp="http://schemas.microsoft.com/office/drawing/2018/hyperlinkcolor" val="tx"/>
                    </a:ext>
                  </a:extLst>
                </a:hlinkClick>
              </a:rPr>
              <a:t>How to Develop Infrastructure Platform Engineering Teams</a:t>
            </a:r>
            <a:endParaRPr lang="en-US" sz="2000" dirty="0"/>
          </a:p>
          <a:p>
            <a:pPr marL="342900" indent="-342900">
              <a:spcAft>
                <a:spcPts val="400"/>
              </a:spcAft>
              <a:buSzPct val="100000"/>
              <a:buFont typeface="+mj-lt"/>
              <a:buAutoNum type="arabicPeriod" startAt="8"/>
            </a:pPr>
            <a:r>
              <a:rPr lang="en-US" sz="2000" u="sng" dirty="0">
                <a:solidFill>
                  <a:srgbClr val="006AC7"/>
                </a:solidFill>
                <a:latin typeface="Gartner Sans" pitchFamily="34" charset="0"/>
                <a:ea typeface="Gartner Sans" pitchFamily="34" charset="-122"/>
                <a:cs typeface="Gartner Sans" pitchFamily="34" charset="-120"/>
                <a:hlinkClick r:id="rId8" invalidUrl="" action="" tgtFrame="" tooltip="" history="1" highlightClick="0" endSnd="0">
                  <a:extLst>
                    <a:ext uri="{A12FA001-AC4F-418D-AE19-62706E023703}">
                      <ahyp:hlinkClr xmlns:ahyp="http://schemas.microsoft.com/office/drawing/2018/hyperlinkcolor" val="tx"/>
                    </a:ext>
                  </a:extLst>
                </a:hlinkClick>
              </a:rPr>
              <a:t>Quick Answer: How Can I&amp;O Leaders in China Establish Effective Infrastructure Platform Engineering?</a:t>
            </a:r>
            <a:endParaRPr lang="en-US" sz="2000" dirty="0"/>
          </a:p>
        </p:txBody>
      </p:sp>
      <p:sp>
        <p:nvSpPr>
          <p:cNvPr id="4" name="Text 2"/>
          <p:cNvSpPr/>
          <p:nvPr/>
        </p:nvSpPr>
        <p:spPr>
          <a:xfrm>
            <a:off x="457200" y="6391656"/>
            <a:ext cx="502920" cy="155448"/>
          </a:xfrm>
          <a:prstGeom prst="rect">
            <a:avLst/>
          </a:prstGeom>
          <a:noFill/>
          <a:ln/>
        </p:spPr>
        <p:txBody>
          <a:bodyPr wrap="square" rtlCol="0" anchor="ctr"/>
          <a:lstStyle/>
          <a:p>
            <a:pPr algn="l" indent="0" marL="0">
              <a:buNone/>
            </a:pPr>
            <a:r>
              <a:rPr lang="en-US" sz="700" dirty="0">
                <a:solidFill>
                  <a:srgbClr val="000000"/>
                </a:solidFill>
                <a:latin typeface="Gartner Sans" pitchFamily="34" charset="0"/>
                <a:ea typeface="Gartner Sans" pitchFamily="34" charset="-122"/>
                <a:cs typeface="Gartner Sans" pitchFamily="34" charset="-120"/>
              </a:rPr>
              <a:t>18</a:t>
            </a:r>
            <a:endParaRPr lang="en-US" sz="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365760"/>
            <a:ext cx="12191695" cy="448056"/>
          </a:xfrm>
          <a:prstGeom prst="rect">
            <a:avLst/>
          </a:prstGeom>
          <a:noFill/>
          <a:ln/>
        </p:spPr>
        <p:txBody>
          <a:bodyPr wrap="square" rtlCol="0" anchor="t"/>
          <a:lstStyle/>
          <a:p>
            <a:pPr algn="l" indent="0" marL="0">
              <a:buNone/>
            </a:pPr>
            <a:r>
              <a:rPr lang="en-US" sz="2800" dirty="0">
                <a:solidFill>
                  <a:srgbClr val="002869"/>
                </a:solidFill>
                <a:latin typeface="Gartner Sans Semibold" pitchFamily="34" charset="0"/>
                <a:ea typeface="Gartner Sans Semibold" pitchFamily="34" charset="-122"/>
                <a:cs typeface="Gartner Sans Semibold" pitchFamily="34" charset="-120"/>
              </a:rPr>
              <a:t>Image Appendix</a:t>
            </a:r>
            <a:endParaRPr lang="en-US" sz="2800" dirty="0"/>
          </a:p>
        </p:txBody>
      </p:sp>
      <p:pic>
        <p:nvPicPr>
          <p:cNvPr id="3" name="Image 0" descr="preencoded.png">    </p:cNvPr>
          <p:cNvPicPr>
            <a:picLocks noChangeAspect="1"/>
          </p:cNvPicPr>
          <p:nvPr/>
        </p:nvPicPr>
        <p:blipFill>
          <a:blip r:embed="rId1"/>
          <a:stretch>
            <a:fillRect/>
          </a:stretch>
        </p:blipFill>
        <p:spPr>
          <a:xfrm>
            <a:off x="457200" y="1097280"/>
            <a:ext cx="5185046" cy="4370832"/>
          </a:xfrm>
          <a:prstGeom prst="rect">
            <a:avLst/>
          </a:prstGeom>
        </p:spPr>
      </p:pic>
      <p:sp>
        <p:nvSpPr>
          <p:cNvPr id="4" name="Text 1"/>
          <p:cNvSpPr/>
          <p:nvPr/>
        </p:nvSpPr>
        <p:spPr>
          <a:xfrm>
            <a:off x="457200" y="5513832"/>
            <a:ext cx="11277295" cy="457200"/>
          </a:xfrm>
          <a:prstGeom prst="rect">
            <a:avLst/>
          </a:prstGeom>
          <a:noFill/>
          <a:ln/>
        </p:spPr>
        <p:txBody>
          <a:bodyPr wrap="square" rtlCol="0" anchor="t"/>
          <a:lstStyle/>
          <a:p>
            <a:pPr algn="l" indent="0" marL="0">
              <a:buNone/>
            </a:pPr>
            <a:r>
              <a:rPr lang="en-US" sz="1200" dirty="0">
                <a:solidFill>
                  <a:srgbClr val="000000"/>
                </a:solidFill>
                <a:latin typeface="Gartner Sans" pitchFamily="34" charset="0"/>
                <a:ea typeface="Gartner Sans" pitchFamily="34" charset="-122"/>
                <a:cs typeface="Gartner Sans" pitchFamily="34" charset="-120"/>
              </a:rPr>
              <a:t>Image source: </a:t>
            </a:r>
            <a:pPr algn="l" indent="0" marL="0">
              <a:buNone/>
            </a:pPr>
            <a:r>
              <a:rPr lang="en-US" sz="1200" u="sng" dirty="0">
                <a:solidFill>
                  <a:srgbClr val="0563C1"/>
                </a:solidFill>
                <a:latin typeface="Gartner Sans" pitchFamily="34" charset="0"/>
                <a:ea typeface="Gartner Sans" pitchFamily="34" charset="-122"/>
                <a:cs typeface="Gartner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Source: Quick Answer: How Can I&amp;O Leaders in China Establish Effective Infrastructure P...</a:t>
            </a:r>
            <a:endParaRPr lang="en-US" sz="1200" dirty="0"/>
          </a:p>
        </p:txBody>
      </p:sp>
      <p:sp>
        <p:nvSpPr>
          <p:cNvPr id="5" name="Text 2"/>
          <p:cNvSpPr/>
          <p:nvPr/>
        </p:nvSpPr>
        <p:spPr>
          <a:xfrm>
            <a:off x="457200" y="6391656"/>
            <a:ext cx="502920" cy="155448"/>
          </a:xfrm>
          <a:prstGeom prst="rect">
            <a:avLst/>
          </a:prstGeom>
          <a:noFill/>
          <a:ln/>
        </p:spPr>
        <p:txBody>
          <a:bodyPr wrap="square" rtlCol="0" anchor="ctr"/>
          <a:lstStyle/>
          <a:p>
            <a:pPr algn="l" indent="0" marL="0">
              <a:buNone/>
            </a:pPr>
            <a:r>
              <a:rPr lang="en-US" sz="700" dirty="0">
                <a:solidFill>
                  <a:srgbClr val="000000"/>
                </a:solidFill>
                <a:latin typeface="Gartner Sans" pitchFamily="34" charset="0"/>
                <a:ea typeface="Gartner Sans" pitchFamily="34" charset="-122"/>
                <a:cs typeface="Gartner Sans" pitchFamily="34" charset="-120"/>
              </a:rPr>
              <a:t>19</a:t>
            </a:r>
            <a:endParaRPr lang="en-US" sz="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365760"/>
            <a:ext cx="12191695" cy="448056"/>
          </a:xfrm>
          <a:prstGeom prst="rect">
            <a:avLst/>
          </a:prstGeom>
          <a:noFill/>
          <a:ln/>
        </p:spPr>
        <p:txBody>
          <a:bodyPr wrap="square" rtlCol="0" anchor="t"/>
          <a:lstStyle/>
          <a:p>
            <a:pPr algn="l" indent="0" marL="0">
              <a:buNone/>
            </a:pPr>
            <a:r>
              <a:rPr lang="en-US" sz="2800" dirty="0">
                <a:solidFill>
                  <a:srgbClr val="002869"/>
                </a:solidFill>
                <a:latin typeface="Gartner Sans Semibold" pitchFamily="34" charset="0"/>
                <a:ea typeface="Gartner Sans Semibold" pitchFamily="34" charset="-122"/>
                <a:cs typeface="Gartner Sans Semibold" pitchFamily="34" charset="-120"/>
              </a:rPr>
              <a:t>Image Appendix</a:t>
            </a:r>
            <a:endParaRPr lang="en-US" sz="2800" dirty="0"/>
          </a:p>
        </p:txBody>
      </p:sp>
      <p:pic>
        <p:nvPicPr>
          <p:cNvPr id="3" name="Image 0" descr="preencoded.png">    </p:cNvPr>
          <p:cNvPicPr>
            <a:picLocks noChangeAspect="1"/>
          </p:cNvPicPr>
          <p:nvPr/>
        </p:nvPicPr>
        <p:blipFill>
          <a:blip r:embed="rId1"/>
          <a:stretch>
            <a:fillRect/>
          </a:stretch>
        </p:blipFill>
        <p:spPr>
          <a:xfrm>
            <a:off x="457200" y="1097280"/>
            <a:ext cx="7284720" cy="4370832"/>
          </a:xfrm>
          <a:prstGeom prst="rect">
            <a:avLst/>
          </a:prstGeom>
        </p:spPr>
      </p:pic>
      <p:sp>
        <p:nvSpPr>
          <p:cNvPr id="4" name="Text 1"/>
          <p:cNvSpPr/>
          <p:nvPr/>
        </p:nvSpPr>
        <p:spPr>
          <a:xfrm>
            <a:off x="457200" y="5513832"/>
            <a:ext cx="11277295" cy="457200"/>
          </a:xfrm>
          <a:prstGeom prst="rect">
            <a:avLst/>
          </a:prstGeom>
          <a:noFill/>
          <a:ln/>
        </p:spPr>
        <p:txBody>
          <a:bodyPr wrap="square" rtlCol="0" anchor="t"/>
          <a:lstStyle/>
          <a:p>
            <a:pPr algn="l" indent="0" marL="0">
              <a:buNone/>
            </a:pPr>
            <a:r>
              <a:rPr lang="en-US" sz="1200" dirty="0">
                <a:solidFill>
                  <a:srgbClr val="000000"/>
                </a:solidFill>
                <a:latin typeface="Gartner Sans" pitchFamily="34" charset="0"/>
                <a:ea typeface="Gartner Sans" pitchFamily="34" charset="-122"/>
                <a:cs typeface="Gartner Sans" pitchFamily="34" charset="-120"/>
              </a:rPr>
              <a:t>Image source: </a:t>
            </a:r>
            <a:pPr algn="l" indent="0" marL="0">
              <a:buNone/>
            </a:pPr>
            <a:r>
              <a:rPr lang="en-US" sz="1200" u="sng" dirty="0">
                <a:solidFill>
                  <a:srgbClr val="0563C1"/>
                </a:solidFill>
                <a:latin typeface="Gartner Sans" pitchFamily="34" charset="0"/>
                <a:ea typeface="Gartner Sans" pitchFamily="34" charset="-122"/>
                <a:cs typeface="Gartner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Source: Reference Architecture Brief: Infrastructure Platform Engineering</a:t>
            </a:r>
            <a:endParaRPr lang="en-US" sz="1200" dirty="0"/>
          </a:p>
        </p:txBody>
      </p:sp>
      <p:sp>
        <p:nvSpPr>
          <p:cNvPr id="5" name="Text 2"/>
          <p:cNvSpPr/>
          <p:nvPr/>
        </p:nvSpPr>
        <p:spPr>
          <a:xfrm>
            <a:off x="457200" y="6391656"/>
            <a:ext cx="502920" cy="155448"/>
          </a:xfrm>
          <a:prstGeom prst="rect">
            <a:avLst/>
          </a:prstGeom>
          <a:noFill/>
          <a:ln/>
        </p:spPr>
        <p:txBody>
          <a:bodyPr wrap="square" rtlCol="0" anchor="ctr"/>
          <a:lstStyle/>
          <a:p>
            <a:pPr algn="l" indent="0" marL="0">
              <a:buNone/>
            </a:pPr>
            <a:r>
              <a:rPr lang="en-US" sz="700" dirty="0">
                <a:solidFill>
                  <a:srgbClr val="000000"/>
                </a:solidFill>
                <a:latin typeface="Gartner Sans" pitchFamily="34" charset="0"/>
                <a:ea typeface="Gartner Sans" pitchFamily="34" charset="-122"/>
                <a:cs typeface="Gartner Sans" pitchFamily="34" charset="-120"/>
              </a:rPr>
              <a:t>20</a:t>
            </a:r>
            <a:endParaRPr lang="en-US" sz="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365760"/>
            <a:ext cx="12191695" cy="448056"/>
          </a:xfrm>
          <a:prstGeom prst="rect">
            <a:avLst/>
          </a:prstGeom>
          <a:noFill/>
          <a:ln/>
        </p:spPr>
        <p:txBody>
          <a:bodyPr wrap="square" rtlCol="0" anchor="t"/>
          <a:lstStyle/>
          <a:p>
            <a:pPr algn="l" indent="0" marL="0">
              <a:buNone/>
            </a:pPr>
            <a:r>
              <a:rPr lang="en-US" sz="2800" dirty="0">
                <a:solidFill>
                  <a:srgbClr val="002869"/>
                </a:solidFill>
                <a:latin typeface="Gartner Sans Semibold" pitchFamily="34" charset="0"/>
                <a:ea typeface="Gartner Sans Semibold" pitchFamily="34" charset="-122"/>
                <a:cs typeface="Gartner Sans Semibold" pitchFamily="34" charset="-120"/>
              </a:rPr>
              <a:t>Image Appendix</a:t>
            </a:r>
            <a:endParaRPr lang="en-US" sz="2800" dirty="0"/>
          </a:p>
        </p:txBody>
      </p:sp>
      <p:pic>
        <p:nvPicPr>
          <p:cNvPr id="3" name="Image 0" descr="preencoded.png">    </p:cNvPr>
          <p:cNvPicPr>
            <a:picLocks noChangeAspect="1"/>
          </p:cNvPicPr>
          <p:nvPr/>
        </p:nvPicPr>
        <p:blipFill>
          <a:blip r:embed="rId1"/>
          <a:stretch>
            <a:fillRect/>
          </a:stretch>
        </p:blipFill>
        <p:spPr>
          <a:xfrm>
            <a:off x="457200" y="1097280"/>
            <a:ext cx="10116935" cy="4370832"/>
          </a:xfrm>
          <a:prstGeom prst="rect">
            <a:avLst/>
          </a:prstGeom>
        </p:spPr>
      </p:pic>
      <p:sp>
        <p:nvSpPr>
          <p:cNvPr id="4" name="Text 1"/>
          <p:cNvSpPr/>
          <p:nvPr/>
        </p:nvSpPr>
        <p:spPr>
          <a:xfrm>
            <a:off x="457200" y="5513832"/>
            <a:ext cx="11277295" cy="457200"/>
          </a:xfrm>
          <a:prstGeom prst="rect">
            <a:avLst/>
          </a:prstGeom>
          <a:noFill/>
          <a:ln/>
        </p:spPr>
        <p:txBody>
          <a:bodyPr wrap="square" rtlCol="0" anchor="t"/>
          <a:lstStyle/>
          <a:p>
            <a:pPr algn="l" indent="0" marL="0">
              <a:buNone/>
            </a:pPr>
            <a:r>
              <a:rPr lang="en-US" sz="1200" dirty="0">
                <a:solidFill>
                  <a:srgbClr val="000000"/>
                </a:solidFill>
                <a:latin typeface="Gartner Sans" pitchFamily="34" charset="0"/>
                <a:ea typeface="Gartner Sans" pitchFamily="34" charset="-122"/>
                <a:cs typeface="Gartner Sans" pitchFamily="34" charset="-120"/>
              </a:rPr>
              <a:t>Image source: </a:t>
            </a:r>
            <a:pPr algn="l" indent="0" marL="0">
              <a:buNone/>
            </a:pPr>
            <a:r>
              <a:rPr lang="en-US" sz="1200" u="sng" dirty="0">
                <a:solidFill>
                  <a:srgbClr val="0563C1"/>
                </a:solidFill>
                <a:latin typeface="Gartner Sans" pitchFamily="34" charset="0"/>
                <a:ea typeface="Gartner Sans" pitchFamily="34" charset="-122"/>
                <a:cs typeface="Gartner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Source: How to Develop Infrastructure Platform Engineering Teams</a:t>
            </a:r>
            <a:endParaRPr lang="en-US" sz="1200" dirty="0"/>
          </a:p>
        </p:txBody>
      </p:sp>
      <p:sp>
        <p:nvSpPr>
          <p:cNvPr id="5" name="Text 2"/>
          <p:cNvSpPr/>
          <p:nvPr/>
        </p:nvSpPr>
        <p:spPr>
          <a:xfrm>
            <a:off x="457200" y="6391656"/>
            <a:ext cx="502920" cy="155448"/>
          </a:xfrm>
          <a:prstGeom prst="rect">
            <a:avLst/>
          </a:prstGeom>
          <a:noFill/>
          <a:ln/>
        </p:spPr>
        <p:txBody>
          <a:bodyPr wrap="square" rtlCol="0" anchor="ctr"/>
          <a:lstStyle/>
          <a:p>
            <a:pPr algn="l" indent="0" marL="0">
              <a:buNone/>
            </a:pPr>
            <a:r>
              <a:rPr lang="en-US" sz="700" dirty="0">
                <a:solidFill>
                  <a:srgbClr val="000000"/>
                </a:solidFill>
                <a:latin typeface="Gartner Sans" pitchFamily="34" charset="0"/>
                <a:ea typeface="Gartner Sans" pitchFamily="34" charset="-122"/>
                <a:cs typeface="Gartner Sans" pitchFamily="34" charset="-120"/>
              </a:rPr>
              <a:t>21</a:t>
            </a:r>
            <a:endParaRPr lang="en-US" sz="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365760"/>
            <a:ext cx="12191695" cy="448056"/>
          </a:xfrm>
          <a:prstGeom prst="rect">
            <a:avLst/>
          </a:prstGeom>
          <a:noFill/>
          <a:ln/>
        </p:spPr>
        <p:txBody>
          <a:bodyPr wrap="square" rtlCol="0" anchor="t"/>
          <a:lstStyle/>
          <a:p>
            <a:pPr algn="l" indent="0" marL="0">
              <a:buNone/>
            </a:pPr>
            <a:r>
              <a:rPr lang="en-US" sz="2800" dirty="0">
                <a:solidFill>
                  <a:srgbClr val="002869"/>
                </a:solidFill>
                <a:latin typeface="Gartner Sans Semibold" pitchFamily="34" charset="0"/>
                <a:ea typeface="Gartner Sans Semibold" pitchFamily="34" charset="-122"/>
                <a:cs typeface="Gartner Sans Semibold" pitchFamily="34" charset="-120"/>
              </a:rPr>
              <a:t>Image Appendix</a:t>
            </a:r>
            <a:endParaRPr lang="en-US" sz="2800" dirty="0"/>
          </a:p>
        </p:txBody>
      </p:sp>
      <p:pic>
        <p:nvPicPr>
          <p:cNvPr id="3" name="Image 0" descr="preencoded.png">    </p:cNvPr>
          <p:cNvPicPr>
            <a:picLocks noChangeAspect="1"/>
          </p:cNvPicPr>
          <p:nvPr/>
        </p:nvPicPr>
        <p:blipFill>
          <a:blip r:embed="rId1"/>
          <a:stretch>
            <a:fillRect/>
          </a:stretch>
        </p:blipFill>
        <p:spPr>
          <a:xfrm>
            <a:off x="457200" y="1097280"/>
            <a:ext cx="7770368" cy="4370832"/>
          </a:xfrm>
          <a:prstGeom prst="rect">
            <a:avLst/>
          </a:prstGeom>
        </p:spPr>
      </p:pic>
      <p:sp>
        <p:nvSpPr>
          <p:cNvPr id="4" name="Text 1"/>
          <p:cNvSpPr/>
          <p:nvPr/>
        </p:nvSpPr>
        <p:spPr>
          <a:xfrm>
            <a:off x="457200" y="5513832"/>
            <a:ext cx="11277295" cy="457200"/>
          </a:xfrm>
          <a:prstGeom prst="rect">
            <a:avLst/>
          </a:prstGeom>
          <a:noFill/>
          <a:ln/>
        </p:spPr>
        <p:txBody>
          <a:bodyPr wrap="square" rtlCol="0" anchor="t"/>
          <a:lstStyle/>
          <a:p>
            <a:pPr algn="l" indent="0" marL="0">
              <a:buNone/>
            </a:pPr>
            <a:r>
              <a:rPr lang="en-US" sz="1200" dirty="0">
                <a:solidFill>
                  <a:srgbClr val="000000"/>
                </a:solidFill>
                <a:latin typeface="Gartner Sans" pitchFamily="34" charset="0"/>
                <a:ea typeface="Gartner Sans" pitchFamily="34" charset="-122"/>
                <a:cs typeface="Gartner Sans" pitchFamily="34" charset="-120"/>
              </a:rPr>
              <a:t>Image source: </a:t>
            </a:r>
            <a:pPr algn="l" indent="0" marL="0">
              <a:buNone/>
            </a:pPr>
            <a:r>
              <a:rPr lang="en-US" sz="1200" u="sng" dirty="0">
                <a:solidFill>
                  <a:srgbClr val="0563C1"/>
                </a:solidFill>
                <a:latin typeface="Gartner Sans" pitchFamily="34" charset="0"/>
                <a:ea typeface="Gartner Sans" pitchFamily="34" charset="-122"/>
                <a:cs typeface="Gartner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Source: The Infrastructure You Need for Platform-Centric I&amp;O</a:t>
            </a:r>
            <a:endParaRPr lang="en-US" sz="1200" dirty="0"/>
          </a:p>
        </p:txBody>
      </p:sp>
      <p:sp>
        <p:nvSpPr>
          <p:cNvPr id="5" name="Text 2"/>
          <p:cNvSpPr/>
          <p:nvPr/>
        </p:nvSpPr>
        <p:spPr>
          <a:xfrm>
            <a:off x="457200" y="6391656"/>
            <a:ext cx="502920" cy="155448"/>
          </a:xfrm>
          <a:prstGeom prst="rect">
            <a:avLst/>
          </a:prstGeom>
          <a:noFill/>
          <a:ln/>
        </p:spPr>
        <p:txBody>
          <a:bodyPr wrap="square" rtlCol="0" anchor="ctr"/>
          <a:lstStyle/>
          <a:p>
            <a:pPr algn="l" indent="0" marL="0">
              <a:buNone/>
            </a:pPr>
            <a:r>
              <a:rPr lang="en-US" sz="700" dirty="0">
                <a:solidFill>
                  <a:srgbClr val="000000"/>
                </a:solidFill>
                <a:latin typeface="Gartner Sans" pitchFamily="34" charset="0"/>
                <a:ea typeface="Gartner Sans" pitchFamily="34" charset="-122"/>
                <a:cs typeface="Gartner Sans" pitchFamily="34" charset="-120"/>
              </a:rPr>
              <a:t>22</a:t>
            </a:r>
            <a:endParaRPr lang="en-US" sz="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365760"/>
            <a:ext cx="12191695" cy="448056"/>
          </a:xfrm>
          <a:prstGeom prst="rect">
            <a:avLst/>
          </a:prstGeom>
          <a:noFill/>
          <a:ln/>
        </p:spPr>
        <p:txBody>
          <a:bodyPr wrap="square" rtlCol="0" anchor="t"/>
          <a:lstStyle/>
          <a:p>
            <a:pPr algn="l" indent="0" marL="0">
              <a:buNone/>
            </a:pPr>
            <a:r>
              <a:rPr lang="en-US" sz="2800" dirty="0">
                <a:solidFill>
                  <a:srgbClr val="002869"/>
                </a:solidFill>
                <a:latin typeface="Gartner Sans Semibold" pitchFamily="34" charset="0"/>
                <a:ea typeface="Gartner Sans Semibold" pitchFamily="34" charset="-122"/>
                <a:cs typeface="Gartner Sans Semibold" pitchFamily="34" charset="-120"/>
              </a:rPr>
              <a:t>Image Appendix</a:t>
            </a:r>
            <a:endParaRPr lang="en-US" sz="2800" dirty="0"/>
          </a:p>
        </p:txBody>
      </p:sp>
      <p:pic>
        <p:nvPicPr>
          <p:cNvPr id="3" name="Image 0" descr="preencoded.png">    </p:cNvPr>
          <p:cNvPicPr>
            <a:picLocks noChangeAspect="1"/>
          </p:cNvPicPr>
          <p:nvPr/>
        </p:nvPicPr>
        <p:blipFill>
          <a:blip r:embed="rId1"/>
          <a:stretch>
            <a:fillRect/>
          </a:stretch>
        </p:blipFill>
        <p:spPr>
          <a:xfrm>
            <a:off x="457200" y="1097280"/>
            <a:ext cx="5970827" cy="4370832"/>
          </a:xfrm>
          <a:prstGeom prst="rect">
            <a:avLst/>
          </a:prstGeom>
        </p:spPr>
      </p:pic>
      <p:sp>
        <p:nvSpPr>
          <p:cNvPr id="4" name="Text 1"/>
          <p:cNvSpPr/>
          <p:nvPr/>
        </p:nvSpPr>
        <p:spPr>
          <a:xfrm>
            <a:off x="457200" y="5513832"/>
            <a:ext cx="11277295" cy="457200"/>
          </a:xfrm>
          <a:prstGeom prst="rect">
            <a:avLst/>
          </a:prstGeom>
          <a:noFill/>
          <a:ln/>
        </p:spPr>
        <p:txBody>
          <a:bodyPr wrap="square" rtlCol="0" anchor="t"/>
          <a:lstStyle/>
          <a:p>
            <a:pPr algn="l" indent="0" marL="0">
              <a:buNone/>
            </a:pPr>
            <a:r>
              <a:rPr lang="en-US" sz="1200" dirty="0">
                <a:solidFill>
                  <a:srgbClr val="000000"/>
                </a:solidFill>
                <a:latin typeface="Gartner Sans" pitchFamily="34" charset="0"/>
                <a:ea typeface="Gartner Sans" pitchFamily="34" charset="-122"/>
                <a:cs typeface="Gartner Sans" pitchFamily="34" charset="-120"/>
              </a:rPr>
              <a:t>Image source: </a:t>
            </a:r>
            <a:pPr algn="l" indent="0" marL="0">
              <a:buNone/>
            </a:pPr>
            <a:r>
              <a:rPr lang="en-US" sz="1200" u="sng" dirty="0">
                <a:solidFill>
                  <a:srgbClr val="0563C1"/>
                </a:solidFill>
                <a:latin typeface="Gartner Sans" pitchFamily="34" charset="0"/>
                <a:ea typeface="Gartner Sans" pitchFamily="34" charset="-122"/>
                <a:cs typeface="Gartner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Source: How to Develop Infrastructure Platform Engineering Teams</a:t>
            </a:r>
            <a:endParaRPr lang="en-US" sz="1200" dirty="0"/>
          </a:p>
        </p:txBody>
      </p:sp>
      <p:sp>
        <p:nvSpPr>
          <p:cNvPr id="5" name="Text 2"/>
          <p:cNvSpPr/>
          <p:nvPr/>
        </p:nvSpPr>
        <p:spPr>
          <a:xfrm>
            <a:off x="457200" y="6391656"/>
            <a:ext cx="502920" cy="155448"/>
          </a:xfrm>
          <a:prstGeom prst="rect">
            <a:avLst/>
          </a:prstGeom>
          <a:noFill/>
          <a:ln/>
        </p:spPr>
        <p:txBody>
          <a:bodyPr wrap="square" rtlCol="0" anchor="ctr"/>
          <a:lstStyle/>
          <a:p>
            <a:pPr algn="l" indent="0" marL="0">
              <a:buNone/>
            </a:pPr>
            <a:r>
              <a:rPr lang="en-US" sz="700" dirty="0">
                <a:solidFill>
                  <a:srgbClr val="000000"/>
                </a:solidFill>
                <a:latin typeface="Gartner Sans" pitchFamily="34" charset="0"/>
                <a:ea typeface="Gartner Sans" pitchFamily="34" charset="-122"/>
                <a:cs typeface="Gartner Sans" pitchFamily="34" charset="-120"/>
              </a:rPr>
              <a:t>23</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Gartner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Ask Gartner</dc:title>
  <dc:subject>Ask Gartner Presentation</dc:subject>
  <dc:creator>Gartner</dc:creator>
  <cp:lastModifiedBy>Gartner</cp:lastModifiedBy>
  <cp:revision>1</cp:revision>
  <dcterms:created xsi:type="dcterms:W3CDTF">2026-08-10T02:57:38Z</dcterms:created>
  <dcterms:modified xsi:type="dcterms:W3CDTF">2026-08-10T02:57:38Z</dcterms:modified>
</cp:coreProperties>
</file>