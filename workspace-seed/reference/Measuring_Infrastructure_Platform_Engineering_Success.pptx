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embeddedFontLst>
    <p:embeddedFont>
      <p:font typeface="Gartner Sans"/>
      <p:regular r:id="rId201314"/>
      <p:bold r:id="rId201315"/>
      <p:italic r:id="rId201316"/>
      <p:boldItalic r:id="rId201317"/>
    </p:embeddedFont>
    <p:embeddedFont>
      <p:font typeface="Gartner Sans Semibold"/>
      <p:regular r:id="rId201318"/>
      <p:italic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MASTER">
    <p:bg>
      <p:bgPr>
        <a:solidFill>
          <a:srgbClr val="00286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p:cNvPr>
          <p:cNvPicPr>
            <a:picLocks noChangeAspect="1"/>
          </p:cNvPicPr>
          <p:nvPr/>
        </p:nvPicPr>
        <p:blipFill>
          <a:blip r:embed="rId2"/>
          <a:stretch>
            <a:fillRect/>
          </a:stretch>
        </p:blipFill>
        <p:spPr>
          <a:xfrm>
            <a:off x="685800" y="685800"/>
            <a:ext cx="1728216" cy="393192"/>
          </a:xfrm>
          <a:prstGeom prst="rect">
            <a:avLst/>
          </a:prstGeom>
        </p:spPr>
      </p:pic>
      <p:sp>
        <p:nvSpPr>
          <p:cNvPr id="4" name="Shape 0"/>
          <p:cNvSpPr/>
          <p:nvPr/>
        </p:nvSpPr>
        <p:spPr>
          <a:xfrm>
            <a:off x="1498600" y="2148840"/>
            <a:ext cx="101600" cy="2185416"/>
          </a:xfrm>
          <a:prstGeom prst="rect">
            <a:avLst/>
          </a:prstGeom>
          <a:solidFill>
            <a:srgbClr val="1F96FF"/>
          </a:solidFill>
          <a:ln/>
        </p:spPr>
      </p:sp>
      <p:sp>
        <p:nvSpPr>
          <p:cNvPr id="5" name="Shape 1"/>
          <p:cNvSpPr/>
          <p:nvPr/>
        </p:nvSpPr>
        <p:spPr>
          <a:xfrm>
            <a:off x="8961120" y="2148840"/>
            <a:ext cx="101600" cy="2185416"/>
          </a:xfrm>
          <a:prstGeom prst="rect">
            <a:avLst/>
          </a:prstGeom>
          <a:solidFill>
            <a:srgbClr val="1F96FF"/>
          </a:solidFill>
          <a:ln/>
        </p:spPr>
      </p:sp>
      <p:sp>
        <p:nvSpPr>
          <p:cNvPr id="6" name="Text 2"/>
          <p:cNvSpPr/>
          <p:nvPr/>
        </p:nvSpPr>
        <p:spPr>
          <a:xfrm>
            <a:off x="685800" y="6199632"/>
            <a:ext cx="8686800" cy="320040"/>
          </a:xfrm>
          <a:prstGeom prst="rect">
            <a:avLst/>
          </a:prstGeom>
          <a:noFill/>
          <a:ln/>
        </p:spPr>
        <p:txBody>
          <a:bodyPr wrap="square" rtlCol="0" anchor="t"/>
          <a:lstStyle/>
          <a:p>
            <a:pPr algn="l" indent="0" marL="0">
              <a:buNone/>
            </a:pPr>
            <a:r>
              <a:rPr lang="en-US" sz="700" dirty="0">
                <a:solidFill>
                  <a:srgbClr val="FFFFFF"/>
                </a:solidFill>
                <a:latin typeface="Gartner Sans" pitchFamily="34" charset="0"/>
                <a:ea typeface="Gartner Sans" pitchFamily="34" charset="-122"/>
                <a:cs typeface="Gartner Sans" pitchFamily="34" charset="-120"/>
              </a:rPr>
              <a:t>© 2026 Gartner, Inc. and/or its affiliates. All rights reserved. Gartner is a registered trademark of Gartner, Inc. or its affiliates. This presentation, including all supporting materials, 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endParaRPr lang="en-US" sz="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MASTER">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58368" y="6391656"/>
            <a:ext cx="7104888"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Content is generated from Gartner's AskGartner tool and should be checked against its source on www.gartner.com.</a:t>
            </a:r>
            <a:endParaRPr lang="en-US" sz="700" dirty="0"/>
          </a:p>
        </p:txBody>
      </p:sp>
      <p:pic>
        <p:nvPicPr>
          <p:cNvPr id="3" name="Image 0" descr="preencoded.png">    </p:cNvPr>
          <p:cNvPicPr>
            <a:picLocks noChangeAspect="1"/>
          </p:cNvPicPr>
          <p:nvPr/>
        </p:nvPicPr>
        <p:blipFill>
          <a:blip r:embed="rId1"/>
          <a:stretch>
            <a:fillRect/>
          </a:stretch>
        </p:blipFill>
        <p:spPr>
          <a:xfrm>
            <a:off x="10451592" y="6236208"/>
            <a:ext cx="1362456" cy="310896"/>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GAL_MASTER">
    <p:bg>
      <p:bgPr>
        <a:solidFill>
          <a:srgbClr val="E0F1FF"/>
        </a:solidFill>
      </p:bgPr>
    </p:bg>
    <p:spTree>
      <p:nvGrpSpPr>
        <p:cNvPr id="1" name=""/>
        <p:cNvGrpSpPr/>
        <p:nvPr/>
      </p:nvGrpSpPr>
      <p:grpSpPr>
        <a:xfrm>
          <a:off x="0" y="0"/>
          <a:ext cx="0" cy="0"/>
          <a:chOff x="0" y="0"/>
          <a:chExt cx="0" cy="0"/>
        </a:xfrm>
      </p:grpSpPr>
      <p:sp>
        <p:nvSpPr>
          <p:cNvPr id="2" name="Text 0"/>
          <p:cNvSpPr/>
          <p:nvPr/>
        </p:nvSpPr>
        <p:spPr>
          <a:xfrm>
            <a:off x="658368" y="6391656"/>
            <a:ext cx="7104888"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Content is generated from Gartner's AskGartner tool and should be checked against its source on www.gartner.com.</a:t>
            </a:r>
            <a:endParaRPr lang="en-US" sz="700" dirty="0"/>
          </a:p>
        </p:txBody>
      </p:sp>
      <p:pic>
        <p:nvPicPr>
          <p:cNvPr id="3" name="Image 0" descr="preencoded.png">    </p:cNvPr>
          <p:cNvPicPr>
            <a:picLocks noChangeAspect="1"/>
          </p:cNvPicPr>
          <p:nvPr/>
        </p:nvPicPr>
        <p:blipFill>
          <a:blip r:embed="rId1"/>
          <a:stretch>
            <a:fillRect/>
          </a:stretch>
        </p:blipFill>
        <p:spPr>
          <a:xfrm>
            <a:off x="10451592" y="6236208"/>
            <a:ext cx="1362456" cy="310896"/>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_MASTER">
    <p:bg>
      <p:bgPr>
        <a:solidFill>
          <a:srgbClr val="002869"/>
        </a:solidFill>
      </p:bgPr>
    </p:bg>
    <p:spTree>
      <p:nvGrpSpPr>
        <p:cNvPr id="1" name=""/>
        <p:cNvGrpSpPr/>
        <p:nvPr/>
      </p:nvGrpSpPr>
      <p:grpSpPr>
        <a:xfrm>
          <a:off x="0" y="0"/>
          <a:ext cx="0" cy="0"/>
          <a:chOff x="0" y="0"/>
          <a:chExt cx="0" cy="0"/>
        </a:xfrm>
      </p:grpSpPr>
      <p:sp>
        <p:nvSpPr>
          <p:cNvPr id="2" name="Shape 0"/>
          <p:cNvSpPr/>
          <p:nvPr/>
        </p:nvSpPr>
        <p:spPr>
          <a:xfrm>
            <a:off x="1498600" y="2148840"/>
            <a:ext cx="101600" cy="2185416"/>
          </a:xfrm>
          <a:prstGeom prst="rect">
            <a:avLst/>
          </a:prstGeom>
          <a:solidFill>
            <a:srgbClr val="1F96FF"/>
          </a:solidFill>
          <a:ln/>
        </p:spPr>
      </p:sp>
      <p:sp>
        <p:nvSpPr>
          <p:cNvPr id="3" name="Shape 1"/>
          <p:cNvSpPr/>
          <p:nvPr/>
        </p:nvSpPr>
        <p:spPr>
          <a:xfrm>
            <a:off x="8961120" y="2148840"/>
            <a:ext cx="101600" cy="2185416"/>
          </a:xfrm>
          <a:prstGeom prst="rect">
            <a:avLst/>
          </a:prstGeom>
          <a:solidFill>
            <a:srgbClr val="1F96FF"/>
          </a:solidFill>
          <a:ln/>
        </p:spPr>
      </p:sp>
      <p:sp>
        <p:nvSpPr>
          <p:cNvPr id="4" name="Text 2"/>
          <p:cNvSpPr/>
          <p:nvPr/>
        </p:nvSpPr>
        <p:spPr>
          <a:xfrm>
            <a:off x="658368" y="6391656"/>
            <a:ext cx="7104888" cy="155448"/>
          </a:xfrm>
          <a:prstGeom prst="rect">
            <a:avLst/>
          </a:prstGeom>
          <a:noFill/>
          <a:ln/>
        </p:spPr>
        <p:txBody>
          <a:bodyPr wrap="square" rtlCol="0" anchor="ctr"/>
          <a:lstStyle/>
          <a:p>
            <a:pPr algn="l" indent="0" marL="0">
              <a:buNone/>
            </a:pPr>
            <a:r>
              <a:rPr lang="en-US" sz="700" dirty="0">
                <a:solidFill>
                  <a:srgbClr val="FFFFFF"/>
                </a:solidFill>
                <a:latin typeface="Gartner Sans" pitchFamily="34" charset="0"/>
                <a:ea typeface="Gartner Sans" pitchFamily="34" charset="-122"/>
                <a:cs typeface="Gartner Sans" pitchFamily="34" charset="-120"/>
              </a:rPr>
              <a:t>Content is generated from Gartner's AskGartner tool and should be checked against its source on www.gartner.com.</a:t>
            </a:r>
            <a:endParaRPr lang="en-US" sz="700" dirty="0"/>
          </a:p>
        </p:txBody>
      </p:sp>
      <p:pic>
        <p:nvPicPr>
          <p:cNvPr id="5" name="Image 0" descr="preencoded.png">    </p:cNvPr>
          <p:cNvPicPr>
            <a:picLocks noChangeAspect="1"/>
          </p:cNvPicPr>
          <p:nvPr/>
        </p:nvPicPr>
        <p:blipFill>
          <a:blip r:embed="rId1"/>
          <a:stretch>
            <a:fillRect/>
          </a:stretch>
        </p:blipFill>
        <p:spPr>
          <a:xfrm>
            <a:off x="10451592" y="6236208"/>
            <a:ext cx="1362456" cy="310896"/>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gartner.com/en/about/policies/usage-policy" TargetMode="External"/><Relationship Id="rId2" Type="http://schemas.openxmlformats.org/officeDocument/2006/relationships/hyperlink" Target="https://www.gartner.com/reviews/guidelines" TargetMode="External"/><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gartner.com/document-reader/document/8073465?ref=askgartner-ppt" TargetMode="External"/><Relationship Id="rId2" Type="http://schemas.openxmlformats.org/officeDocument/2006/relationships/hyperlink" Target="https://www.gartner.com/document-reader/document/6187955?ref=askgartner-ppt" TargetMode="External"/><Relationship Id="rId3" Type="http://schemas.openxmlformats.org/officeDocument/2006/relationships/hyperlink" Target="https://www.gartner.com/document-reader/document/8073465?ref=askgartner-ppt" TargetMode="External"/><Relationship Id="rId4" Type="http://schemas.openxmlformats.org/officeDocument/2006/relationships/hyperlink" Target="https://www.gartner.com/document-reader/document/8073465?ref=askgartner-ppt" TargetMode="External"/><Relationship Id="rId5" Type="http://schemas.openxmlformats.org/officeDocument/2006/relationships/hyperlink" Target="https://www.gartner.com/document-reader/document/8073465?ref=askgartner-ppt" TargetMode="External"/><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gartner.com/document-reader/document/7911609?ref=askgartner-ppt" TargetMode="External"/><Relationship Id="rId2" Type="http://schemas.openxmlformats.org/officeDocument/2006/relationships/hyperlink" Target="https://www.gartner.com/document-reader/document/7911609?ref=askgartner-ppt" TargetMode="External"/><Relationship Id="rId3" Type="http://schemas.openxmlformats.org/officeDocument/2006/relationships/hyperlink" Target="https://www.gartner.com/document-reader/document/7911609?ref=askgartner-ppt" TargetMode="External"/><Relationship Id="rId4" Type="http://schemas.openxmlformats.org/officeDocument/2006/relationships/hyperlink" Target="https://www.gartner.com/document-reader/document/8073465?ref=askgartner-ppt" TargetMode="External"/><Relationship Id="rId5" Type="http://schemas.openxmlformats.org/officeDocument/2006/relationships/hyperlink" Target="https://www.gartner.com/document-reader/document/7911609?ref=askgartner-ppt" TargetMode="External"/><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gartner.com/document-reader/document/6187955?ref=askgartner-ppt" TargetMode="External"/><Relationship Id="rId2" Type="http://schemas.openxmlformats.org/officeDocument/2006/relationships/hyperlink" Target="https://www.gartner.com/document-reader/document/7911609?ref=askgartner-ppt" TargetMode="External"/><Relationship Id="rId3" Type="http://schemas.openxmlformats.org/officeDocument/2006/relationships/hyperlink" Target="https://www.gartner.com/document-reader/document/6022135?ref=askgartner-ppt" TargetMode="External"/><Relationship Id="rId4" Type="http://schemas.openxmlformats.org/officeDocument/2006/relationships/hyperlink" Target="https://www.gartner.com/document-reader/document/6022135?ref=askgartner-ppt" TargetMode="External"/><Relationship Id="rId5" Type="http://schemas.openxmlformats.org/officeDocument/2006/relationships/hyperlink" Target="https://www.gartner.com/document-reader/document/6187955?ref=askgartner-ppt" TargetMode="External"/><Relationship Id="rId6" Type="http://schemas.openxmlformats.org/officeDocument/2006/relationships/hyperlink" Target="https://www.gartner.com/document-reader/document/6187955?ref=askgartner-ppt" TargetMode="External"/><Relationship Id="rId7" Type="http://schemas.openxmlformats.org/officeDocument/2006/relationships/hyperlink" Target="https://www.gartner.com/document-reader/document/7911609?ref=askgartner-ppt" TargetMode="External"/><Relationship Id="rId8" Type="http://schemas.openxmlformats.org/officeDocument/2006/relationships/slideLayout" Target="../slideLayouts/slideLayout3.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www.gartner.com/document-reader/document/7911609?ref=askgartner-ppt" TargetMode="External"/><Relationship Id="rId2" Type="http://schemas.openxmlformats.org/officeDocument/2006/relationships/hyperlink" Target="https://www.gartner.com/document-reader/document/5239363?ref=askgartner-ppt" TargetMode="External"/><Relationship Id="rId3" Type="http://schemas.openxmlformats.org/officeDocument/2006/relationships/hyperlink" Target="https://www.gartner.com/document-reader/document/8073465?ref=askgartner-ppt" TargetMode="External"/><Relationship Id="rId4" Type="http://schemas.openxmlformats.org/officeDocument/2006/relationships/hyperlink" Target="https://www.gartner.com/document-reader/document/7365830?ref=askgartner-ppt" TargetMode="External"/><Relationship Id="rId5" Type="http://schemas.openxmlformats.org/officeDocument/2006/relationships/hyperlink" Target="https://www.gartner.com/document-reader/document/7911609?ref=askgartner-ppt" TargetMode="External"/><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www.gartner.com/document-reader/document/8073465?ref=askgartner-ppt" TargetMode="External"/><Relationship Id="rId2" Type="http://schemas.openxmlformats.org/officeDocument/2006/relationships/hyperlink" Target="https://www.gartner.com/document-reader/document/7365830?ref=askgartner-ppt" TargetMode="External"/><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www.gartner.com/document-reader/document/6022135?ref=askgartner-ppt" TargetMode="Externa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www.gartner.com/document-reader/document/8073465?ref=askgartner-ppt" TargetMode="Externa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www.gartner.com/document-reader/document/8073465?ref=askgartner-ppt" TargetMode="External"/><Relationship Id="rId2" Type="http://schemas.openxmlformats.org/officeDocument/2006/relationships/hyperlink" Target="https://www.gartner.com/document-reader/document/6187955?ref=askgartner-ppt" TargetMode="External"/><Relationship Id="rId3" Type="http://schemas.openxmlformats.org/officeDocument/2006/relationships/hyperlink" Target="https://www.gartner.com/document-reader/document/7911609?ref=askgartner-ppt" TargetMode="External"/><Relationship Id="rId4" Type="http://schemas.openxmlformats.org/officeDocument/2006/relationships/hyperlink" Target="https://www.gartner.com/document-reader/document/6022135?ref=askgartner-ppt" TargetMode="External"/><Relationship Id="rId5" Type="http://schemas.openxmlformats.org/officeDocument/2006/relationships/hyperlink" Target="https://www.gartner.com/document-reader/document/5239363?ref=askgartner-ppt" TargetMode="External"/><Relationship Id="rId6" Type="http://schemas.openxmlformats.org/officeDocument/2006/relationships/hyperlink" Target="https://www.gartner.com/document-reader/document/7365830?ref=askgartner-ppt" TargetMode="External"/><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www.gartner.com/document-reader/document/6022135?ref=askgartner-ppt" TargetMode="External"/><Relationship Id="rId1" Type="http://schemas.openxmlformats.org/officeDocument/2006/relationships/image" Target="../media/image-16-1.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hyperlink" Target="https://www.gartner.com/document-reader/document/6187955?ref=askgartner-ppt" TargetMode="External"/><Relationship Id="rId1" Type="http://schemas.openxmlformats.org/officeDocument/2006/relationships/image" Target="../media/image-17-1.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hyperlink" Target="https://www.gartner.com/document-reader/document/8073465?ref=askgartner-ppt" TargetMode="External"/><Relationship Id="rId1" Type="http://schemas.openxmlformats.org/officeDocument/2006/relationships/image" Target="../media/image-18-1.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hyperlink" Target="https://www.gartner.com/document-reader/document/8073465?ref=askgartner-ppt" TargetMode="External"/><Relationship Id="rId1" Type="http://schemas.openxmlformats.org/officeDocument/2006/relationships/image" Target="../media/image-19-1.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hyperlink" Target="https://www.gartner.com/document-reader/document/6022135?ref=askgartner-ppt" TargetMode="External"/><Relationship Id="rId1" Type="http://schemas.openxmlformats.org/officeDocument/2006/relationships/image" Target="../media/image-20-1.png"/><Relationship Id="rId3" Type="http://schemas.openxmlformats.org/officeDocument/2006/relationships/slideLayout" Target="../slideLayouts/slideLayout3.xml"/><Relationship Id="rId4"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600200" y="2240280"/>
            <a:ext cx="7360920" cy="2002536"/>
          </a:xfrm>
          <a:prstGeom prst="rect">
            <a:avLst/>
          </a:prstGeom>
          <a:noFill/>
          <a:ln/>
        </p:spPr>
        <p:txBody>
          <a:bodyPr wrap="square" rtlCol="0" anchor="ctr"/>
          <a:lstStyle/>
          <a:p>
            <a:pPr algn="l" indent="0" marL="0">
              <a:buNone/>
            </a:pPr>
            <a:r>
              <a:rPr lang="en-US" sz="4400" dirty="0">
                <a:solidFill>
                  <a:srgbClr val="FFFFFF"/>
                </a:solidFill>
                <a:latin typeface="Gartner Sans Semibold" pitchFamily="34" charset="0"/>
                <a:ea typeface="Gartner Sans Semibold" pitchFamily="34" charset="-122"/>
                <a:cs typeface="Gartner Sans Semibold" pitchFamily="34" charset="-120"/>
              </a:rPr>
              <a:t>Measuring Infrastructure Platform Engineering Success</a:t>
            </a:r>
            <a:endParaRPr lang="en-US" sz="4400" dirty="0"/>
          </a:p>
        </p:txBody>
      </p:sp>
      <p:sp>
        <p:nvSpPr>
          <p:cNvPr id="3" name="Text 1"/>
          <p:cNvSpPr/>
          <p:nvPr/>
        </p:nvSpPr>
        <p:spPr>
          <a:xfrm>
            <a:off x="1600200" y="4471416"/>
            <a:ext cx="7360920" cy="548640"/>
          </a:xfrm>
          <a:prstGeom prst="rect">
            <a:avLst/>
          </a:prstGeom>
          <a:noFill/>
          <a:ln/>
        </p:spPr>
        <p:txBody>
          <a:bodyPr wrap="square" rtlCol="0" anchor="t"/>
          <a:lstStyle/>
          <a:p>
            <a:pPr algn="l" indent="0" marL="0">
              <a:buNone/>
            </a:pPr>
            <a:r>
              <a:rPr lang="en-US" sz="1600" dirty="0">
                <a:solidFill>
                  <a:srgbClr val="FFFFFF"/>
                </a:solidFill>
                <a:latin typeface="Gartner Sans" pitchFamily="34" charset="0"/>
                <a:ea typeface="Gartner Sans" pitchFamily="34" charset="-122"/>
                <a:cs typeface="Gartner Sans" pitchFamily="34" charset="-120"/>
              </a:rPr>
              <a:t>Balanced metrics for adoption, experience, operations, and o... | 10 August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Usage Guidance</a:t>
            </a:r>
            <a:endParaRPr lang="en-US" sz="2800" dirty="0"/>
          </a:p>
        </p:txBody>
      </p:sp>
      <p:sp>
        <p:nvSpPr>
          <p:cNvPr id="3" name="Text 1"/>
          <p:cNvSpPr/>
          <p:nvPr/>
        </p:nvSpPr>
        <p:spPr>
          <a:xfrm>
            <a:off x="457200" y="1527048"/>
            <a:ext cx="11277295" cy="4462272"/>
          </a:xfrm>
          <a:prstGeom prst="rect">
            <a:avLst/>
          </a:prstGeom>
          <a:noFill/>
          <a:ln/>
        </p:spPr>
        <p:txBody>
          <a:bodyPr wrap="square" rtlCol="0" anchor="t">
            <a:normAutofit/>
          </a:bodyPr>
          <a:lstStyle/>
          <a:p>
            <a:pPr indent="0" marL="0">
              <a:buNone/>
            </a:pPr>
            <a:r>
              <a:rPr lang="en-US" sz="2000" dirty="0">
                <a:solidFill>
                  <a:srgbClr val="000000"/>
                </a:solidFill>
                <a:latin typeface="Gartner Sans" pitchFamily="34" charset="0"/>
                <a:ea typeface="Gartner Sans" pitchFamily="34" charset="-122"/>
                <a:cs typeface="Gartner Sans" pitchFamily="34" charset="-120"/>
              </a:rPr>
              <a:t>The following text was generated using Gartner's AskGartner Generative AI tool. Due to the nature of this technology, some answers may be </a:t>
            </a:r>
            <a:pPr indent="0" marL="0">
              <a:buNone/>
            </a:pPr>
            <a:r>
              <a:rPr lang="en-US" sz="2000" u="sng" dirty="0">
                <a:solidFill>
                  <a:srgbClr val="000000"/>
                </a:solidFill>
                <a:latin typeface="Gartner Sans" pitchFamily="34" charset="0"/>
                <a:ea typeface="Gartner Sans" pitchFamily="34" charset="-122"/>
                <a:cs typeface="Gartner Sans" pitchFamily="34" charset="-120"/>
              </a:rPr>
              <a:t>incomplete or incorrect</a:t>
            </a:r>
            <a:pPr indent="0" marL="0">
              <a:buNone/>
            </a:pPr>
            <a:r>
              <a:rPr lang="en-US" sz="2000" dirty="0">
                <a:solidFill>
                  <a:srgbClr val="000000"/>
                </a:solidFill>
                <a:latin typeface="Gartner Sans" pitchFamily="34" charset="0"/>
                <a:ea typeface="Gartner Sans" pitchFamily="34" charset="-122"/>
                <a:cs typeface="Gartner Sans" pitchFamily="34" charset="-120"/>
              </a:rPr>
              <a:t>. Please verify sources. Gartner does not endorse any provider, product, or service.</a:t>
            </a:r>
            <a:pPr indent="0" marL="0">
              <a:buNone/>
            </a:pPr>
            <a:r>
              <a:rPr lang="en-US" sz="1100" dirty="0">
                <a:solidFill>
                  <a:srgbClr val="000000"/>
                </a:solidFill>
                <a:latin typeface="Gartner Sans" pitchFamily="34" charset="0"/>
                <a:ea typeface="Gartner Sans" pitchFamily="34" charset="-122"/>
                <a:cs typeface="Gartner Sans" pitchFamily="34" charset="-120"/>
              </a:rPr>
              <a:t>
</a:t>
            </a:r>
            <a:pPr indent="0" marL="0">
              <a:buNone/>
            </a:pPr>
            <a:r>
              <a:rPr lang="en-US" sz="2000" dirty="0">
                <a:solidFill>
                  <a:srgbClr val="000000"/>
                </a:solidFill>
                <a:latin typeface="Gartner Sans" pitchFamily="34" charset="0"/>
                <a:ea typeface="Gartner Sans" pitchFamily="34" charset="-122"/>
                <a:cs typeface="Gartner Sans" pitchFamily="34" charset="-120"/>
              </a:rPr>
              <a:t>AskGartner answers cannot be quoted externally and may only be shared within your organization, in line with the Licensed User limits in the </a:t>
            </a:r>
            <a:pPr indent="0" marL="0">
              <a:buNone/>
            </a:pPr>
            <a:r>
              <a:rPr lang="en-US" sz="2000" u="sng" dirty="0">
                <a:solidFill>
                  <a:srgbClr val="006AC7"/>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Gartner Usage Policy</a:t>
            </a:r>
            <a:pPr indent="0" marL="0">
              <a:buNone/>
            </a:pPr>
            <a:r>
              <a:rPr lang="en-US" sz="2000" dirty="0">
                <a:solidFill>
                  <a:srgbClr val="000000"/>
                </a:solidFill>
                <a:latin typeface="Gartner Sans" pitchFamily="34" charset="0"/>
                <a:ea typeface="Gartner Sans" pitchFamily="34" charset="-122"/>
                <a:cs typeface="Gartner Sans" pitchFamily="34" charset="-120"/>
              </a:rPr>
              <a:t> and with the accompanying cite "based on AskGartner Generative AI tool".</a:t>
            </a:r>
            <a:pPr indent="0" marL="0">
              <a:buNone/>
            </a:pPr>
            <a:r>
              <a:rPr lang="en-US" sz="1100" dirty="0">
                <a:solidFill>
                  <a:srgbClr val="000000"/>
                </a:solidFill>
                <a:latin typeface="Gartner Sans" pitchFamily="34" charset="0"/>
                <a:ea typeface="Gartner Sans" pitchFamily="34" charset="-122"/>
                <a:cs typeface="Gartner Sans" pitchFamily="34" charset="-120"/>
              </a:rPr>
              <a:t>
</a:t>
            </a:r>
            <a:pPr indent="0" marL="0">
              <a:buNone/>
            </a:pPr>
            <a:r>
              <a:rPr lang="en-US" sz="2000" i="1" dirty="0">
                <a:solidFill>
                  <a:srgbClr val="000000"/>
                </a:solidFill>
                <a:latin typeface="Gartner Sans" pitchFamily="34" charset="0"/>
                <a:ea typeface="Gartner Sans" pitchFamily="34" charset="-122"/>
                <a:cs typeface="Gartner Sans" pitchFamily="34" charset="-120"/>
              </a:rPr>
              <a:t>Information sourced from Gartner Peer Insights is drawn from Peer Insights summaries and software reviews submitted by validated technology end-users in accordance with the Peer Insights </a:t>
            </a:r>
            <a:pPr indent="0" marL="0">
              <a:buNone/>
            </a:pPr>
            <a:r>
              <a:rPr lang="en-US" sz="2000" i="1" u="sng" dirty="0">
                <a:solidFill>
                  <a:srgbClr val="006AC7"/>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Community Guidelines</a:t>
            </a:r>
            <a:pPr indent="0" marL="0">
              <a:buNone/>
            </a:pPr>
            <a:r>
              <a:rPr lang="en-US" sz="2000" i="1" dirty="0">
                <a:solidFill>
                  <a:srgbClr val="000000"/>
                </a:solidFill>
                <a:latin typeface="Gartner Sans" pitchFamily="34" charset="0"/>
                <a:ea typeface="Gartner Sans" pitchFamily="34" charset="-122"/>
                <a:cs typeface="Gartner Sans" pitchFamily="34" charset="-120"/>
              </a:rPr>
              <a:t> and does not represent Gartner opinion.</a:t>
            </a:r>
            <a:endParaRPr lang="en-US" sz="2000" dirty="0"/>
          </a:p>
        </p:txBody>
      </p:sp>
      <p:sp>
        <p:nvSpPr>
          <p:cNvPr id="4"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600200" y="2240280"/>
            <a:ext cx="7360920" cy="2002536"/>
          </a:xfrm>
          <a:prstGeom prst="rect">
            <a:avLst/>
          </a:prstGeom>
          <a:noFill/>
          <a:ln/>
        </p:spPr>
        <p:txBody>
          <a:bodyPr wrap="square" rtlCol="0" anchor="ctr"/>
          <a:lstStyle/>
          <a:p>
            <a:pPr algn="l" indent="0" marL="0">
              <a:buNone/>
            </a:pPr>
            <a:r>
              <a:rPr lang="en-US" sz="4400" dirty="0">
                <a:solidFill>
                  <a:srgbClr val="FFFFFF"/>
                </a:solidFill>
                <a:latin typeface="Gartner Sans Semibold" pitchFamily="34" charset="0"/>
                <a:ea typeface="Gartner Sans Semibold" pitchFamily="34" charset="-122"/>
                <a:cs typeface="Gartner Sans Semibold" pitchFamily="34" charset="-120"/>
              </a:rPr>
              <a:t>The Four Pillars of IPE Measurement</a:t>
            </a:r>
            <a:endParaRPr lang="en-US" sz="4400" dirty="0"/>
          </a:p>
        </p:txBody>
      </p:sp>
      <p:sp>
        <p:nvSpPr>
          <p:cNvPr id="3" name="Text 1"/>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FFFFFF"/>
                </a:solidFill>
                <a:latin typeface="Gartner Sans" pitchFamily="34" charset="0"/>
                <a:ea typeface="Gartner Sans" pitchFamily="34" charset="-122"/>
                <a:cs typeface="Gartner Sans" pitchFamily="34" charset="-120"/>
              </a:rPr>
              <a:t>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Customer Experience Metrics: How Easy Is It To Use?</a:t>
            </a:r>
            <a:endParaRPr lang="en-US" sz="2800" dirty="0"/>
          </a:p>
        </p:txBody>
      </p:sp>
      <p:sp>
        <p:nvSpPr>
          <p:cNvPr id="3" name="Text 1"/>
          <p:cNvSpPr/>
          <p:nvPr/>
        </p:nvSpPr>
        <p:spPr>
          <a:xfrm>
            <a:off x="457200" y="1527048"/>
            <a:ext cx="11277295" cy="4462272"/>
          </a:xfrm>
          <a:prstGeom prst="rect">
            <a:avLst/>
          </a:prstGeom>
          <a:noFill/>
          <a:ln/>
        </p:spPr>
        <p:txBody>
          <a:bodyPr wrap="square" rtlCol="0" anchor="t">
            <a:normAutofit/>
          </a:bodyPr>
          <a:lstStyle/>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Consumer Effort Score (CES):</a:t>
            </a:r>
            <a:pPr indent="0" marL="0">
              <a:buNone/>
            </a:pPr>
            <a:r>
              <a:rPr lang="en-US" sz="2000" dirty="0">
                <a:solidFill>
                  <a:srgbClr val="000000"/>
                </a:solidFill>
                <a:latin typeface="Gartner Sans" pitchFamily="34" charset="0"/>
                <a:ea typeface="Gartner Sans" pitchFamily="34" charset="-122"/>
                <a:cs typeface="Gartner Sans" pitchFamily="34" charset="-120"/>
              </a:rPr>
              <a:t> Measures ease-of-use for provisioning infrastructure, app deployment, or network configs. High CES signals friction and risk of shadow IT.</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[1]</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[2]</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Customer Satisfaction (CSAT):</a:t>
            </a:r>
            <a:pPr indent="0" marL="0">
              <a:buNone/>
            </a:pPr>
            <a:r>
              <a:rPr lang="en-US" sz="2000" dirty="0">
                <a:solidFill>
                  <a:srgbClr val="000000"/>
                </a:solidFill>
                <a:latin typeface="Gartner Sans" pitchFamily="34" charset="0"/>
                <a:ea typeface="Gartner Sans" pitchFamily="34" charset="-122"/>
                <a:cs typeface="Gartner Sans" pitchFamily="34" charset="-120"/>
              </a:rPr>
              <a:t> Tracks short-term sentiment post-feature release; usually on a 1–5 scale.</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[1]</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Net Promoter Score (NPS):</a:t>
            </a:r>
            <a:pPr indent="0" marL="0">
              <a:buNone/>
            </a:pPr>
            <a:r>
              <a:rPr lang="en-US" sz="2000" dirty="0">
                <a:solidFill>
                  <a:srgbClr val="000000"/>
                </a:solidFill>
                <a:latin typeface="Gartner Sans" pitchFamily="34" charset="0"/>
                <a:ea typeface="Gartner Sans" pitchFamily="34" charset="-122"/>
                <a:cs typeface="Gartner Sans" pitchFamily="34" charset="-120"/>
              </a:rPr>
              <a:t> Gauges loyalty; would users recommend your platform? Assessed quarterly or biannually.</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[1]</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Reporting cadence:</a:t>
            </a:r>
            <a:pPr indent="0" marL="0">
              <a:buNone/>
            </a:pPr>
            <a:r>
              <a:rPr lang="en-US" sz="2000" dirty="0">
                <a:solidFill>
                  <a:srgbClr val="000000"/>
                </a:solidFill>
                <a:latin typeface="Gartner Sans" pitchFamily="34" charset="0"/>
                <a:ea typeface="Gartner Sans" pitchFamily="34" charset="-122"/>
                <a:cs typeface="Gartner Sans" pitchFamily="34" charset="-120"/>
              </a:rPr>
              <a:t> CES: continuous, CSAT: after major changes, NPS: every quarter.</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[1]</a:t>
            </a:r>
            <a:endParaRPr lang="en-US" sz="2000" dirty="0"/>
          </a:p>
        </p:txBody>
      </p:sp>
      <p:sp>
        <p:nvSpPr>
          <p:cNvPr id="4"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Adoption &amp; Engagement Metrics: Are Teams Actually Using It?</a:t>
            </a:r>
            <a:endParaRPr lang="en-US" sz="2800" dirty="0"/>
          </a:p>
        </p:txBody>
      </p:sp>
      <p:sp>
        <p:nvSpPr>
          <p:cNvPr id="3" name="Text 1"/>
          <p:cNvSpPr/>
          <p:nvPr/>
        </p:nvSpPr>
        <p:spPr>
          <a:xfrm>
            <a:off x="457200" y="1527048"/>
            <a:ext cx="11277295" cy="4462272"/>
          </a:xfrm>
          <a:prstGeom prst="rect">
            <a:avLst/>
          </a:prstGeom>
          <a:noFill/>
          <a:ln/>
        </p:spPr>
        <p:txBody>
          <a:bodyPr wrap="square" rtlCol="0" anchor="t">
            <a:normAutofit/>
          </a:bodyPr>
          <a:lstStyle/>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Platform Adoption Rate:</a:t>
            </a:r>
            <a:pPr indent="0" marL="0">
              <a:buNone/>
            </a:pPr>
            <a:r>
              <a:rPr lang="en-US" sz="2000" dirty="0">
                <a:solidFill>
                  <a:srgbClr val="000000"/>
                </a:solidFill>
                <a:latin typeface="Gartner Sans" pitchFamily="34" charset="0"/>
                <a:ea typeface="Gartner Sans" pitchFamily="34" charset="-122"/>
                <a:cs typeface="Gartner Sans" pitchFamily="34" charset="-120"/>
              </a:rPr>
              <a:t> % of eligible teams onboarded: (Onboarded/Eligible) × 100. Vital during rollout.</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[3]</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Platform Consumption Rate:</a:t>
            </a:r>
            <a:pPr indent="0" marL="0">
              <a:buNone/>
            </a:pPr>
            <a:r>
              <a:rPr lang="en-US" sz="2000" dirty="0">
                <a:solidFill>
                  <a:srgbClr val="000000"/>
                </a:solidFill>
                <a:latin typeface="Gartner Sans" pitchFamily="34" charset="0"/>
                <a:ea typeface="Gartner Sans" pitchFamily="34" charset="-122"/>
                <a:cs typeface="Gartner Sans" pitchFamily="34" charset="-120"/>
              </a:rPr>
              <a:t> % of actively engaged teams: (Active/Onboarded) × 100. Shows sustained use.</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[3]</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API Consumption Rate:</a:t>
            </a:r>
            <a:pPr indent="0" marL="0">
              <a:buNone/>
            </a:pPr>
            <a:r>
              <a:rPr lang="en-US" sz="2000" dirty="0">
                <a:solidFill>
                  <a:srgbClr val="000000"/>
                </a:solidFill>
                <a:latin typeface="Gartner Sans" pitchFamily="34" charset="0"/>
                <a:ea typeface="Gartner Sans" pitchFamily="34" charset="-122"/>
                <a:cs typeface="Gartner Sans" pitchFamily="34" charset="-120"/>
              </a:rPr>
              <a:t> APIs consumed vs. available; reflects integration and cross-team collaboration.</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[3]</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Feature Utilization &amp; Abandonment:</a:t>
            </a:r>
            <a:pPr indent="0" marL="0">
              <a:buNone/>
            </a:pPr>
            <a:r>
              <a:rPr lang="en-US" sz="2000" dirty="0">
                <a:solidFill>
                  <a:srgbClr val="000000"/>
                </a:solidFill>
                <a:latin typeface="Gartner Sans" pitchFamily="34" charset="0"/>
                <a:ea typeface="Gartner Sans" pitchFamily="34" charset="-122"/>
                <a:cs typeface="Gartner Sans" pitchFamily="34" charset="-120"/>
              </a:rPr>
              <a:t> Which features see use, and which are ignored or dropped.</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[1]</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Reporting cadence:</a:t>
            </a:r>
            <a:pPr indent="0" marL="0">
              <a:buNone/>
            </a:pPr>
            <a:r>
              <a:rPr lang="en-US" sz="2000" dirty="0">
                <a:solidFill>
                  <a:srgbClr val="000000"/>
                </a:solidFill>
                <a:latin typeface="Gartner Sans" pitchFamily="34" charset="0"/>
                <a:ea typeface="Gartner Sans" pitchFamily="34" charset="-122"/>
                <a:cs typeface="Gartner Sans" pitchFamily="34" charset="-120"/>
              </a:rPr>
              <a:t> Monthly for adoption and consumption; quarterly for API consumption.</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[3]</a:t>
            </a:r>
            <a:endParaRPr lang="en-US" sz="2000" dirty="0"/>
          </a:p>
        </p:txBody>
      </p:sp>
      <p:sp>
        <p:nvSpPr>
          <p:cNvPr id="4"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Operational Performance Metrics: Is It Reliable and Efficient?</a:t>
            </a:r>
            <a:endParaRPr lang="en-US" sz="2800" dirty="0"/>
          </a:p>
        </p:txBody>
      </p:sp>
      <p:sp>
        <p:nvSpPr>
          <p:cNvPr id="3" name="Text 1"/>
          <p:cNvSpPr/>
          <p:nvPr/>
        </p:nvSpPr>
        <p:spPr>
          <a:xfrm>
            <a:off x="457200" y="1527048"/>
            <a:ext cx="5550408" cy="4462272"/>
          </a:xfrm>
          <a:prstGeom prst="rect">
            <a:avLst/>
          </a:prstGeom>
          <a:noFill/>
          <a:ln/>
        </p:spPr>
        <p:txBody>
          <a:bodyPr wrap="square" rtlCol="0" anchor="t">
            <a:normAutofit/>
          </a:bodyPr>
          <a:lstStyle/>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Platform Reliability (Uptime):</a:t>
            </a:r>
            <a:pPr indent="0" marL="0">
              <a:buNone/>
            </a:pPr>
            <a:r>
              <a:rPr lang="en-US" sz="2000" dirty="0">
                <a:solidFill>
                  <a:srgbClr val="000000"/>
                </a:solidFill>
                <a:latin typeface="Gartner Sans" pitchFamily="34" charset="0"/>
                <a:ea typeface="Gartner Sans" pitchFamily="34" charset="-122"/>
                <a:cs typeface="Gartner Sans" pitchFamily="34" charset="-120"/>
              </a:rPr>
              <a:t> % uptime per month. SLA compliance is </a:t>
            </a:r>
            <a:pPr indent="0" marL="0">
              <a:buNone/>
            </a:pPr>
            <a:r>
              <a:rPr lang="en-US" sz="2000" u="sng" dirty="0">
                <a:solidFill>
                  <a:srgbClr val="000000"/>
                </a:solidFill>
                <a:latin typeface="Gartner Sans" pitchFamily="34" charset="0"/>
                <a:ea typeface="Gartner Sans" pitchFamily="34" charset="-122"/>
                <a:cs typeface="Gartner Sans" pitchFamily="34" charset="-120"/>
              </a:rPr>
              <a:t>critical</a:t>
            </a:r>
            <a:pPr indent="0" marL="0">
              <a:buNone/>
            </a:pPr>
            <a:r>
              <a:rPr lang="en-US" sz="2000" dirty="0">
                <a:solidFill>
                  <a:srgbClr val="000000"/>
                </a:solidFill>
                <a:latin typeface="Gartner Sans" pitchFamily="34" charset="0"/>
                <a:ea typeface="Gartner Sans" pitchFamily="34" charset="-122"/>
                <a:cs typeface="Gartner Sans" pitchFamily="34" charset="-120"/>
              </a:rPr>
              <a:t> for financial services.</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[2]</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[3]</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Deployment Speed:</a:t>
            </a:r>
            <a:pPr indent="0" marL="0">
              <a:buNone/>
            </a:pPr>
            <a:r>
              <a:rPr lang="en-US" sz="2000" dirty="0">
                <a:solidFill>
                  <a:srgbClr val="000000"/>
                </a:solidFill>
                <a:latin typeface="Gartner Sans" pitchFamily="34" charset="0"/>
                <a:ea typeface="Gartner Sans" pitchFamily="34" charset="-122"/>
                <a:cs typeface="Gartner Sans" pitchFamily="34" charset="-120"/>
              </a:rPr>
              <a:t> Time from request to provisioning. Compare to baseline for improvement.</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[4]</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Mean Time to Detect (MTTD):</a:t>
            </a:r>
            <a:pPr indent="0" marL="0">
              <a:buNone/>
            </a:pPr>
            <a:r>
              <a:rPr lang="en-US" sz="2000" dirty="0">
                <a:solidFill>
                  <a:srgbClr val="000000"/>
                </a:solidFill>
                <a:latin typeface="Gartner Sans" pitchFamily="34" charset="0"/>
                <a:ea typeface="Gartner Sans" pitchFamily="34" charset="-122"/>
                <a:cs typeface="Gartner Sans" pitchFamily="34" charset="-120"/>
              </a:rPr>
              <a:t> How quickly anomalies are found. Enables proactive prevention.</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[4]</a:t>
            </a:r>
            <a:endParaRPr lang="en-US" sz="2000" dirty="0"/>
          </a:p>
        </p:txBody>
      </p:sp>
      <p:sp>
        <p:nvSpPr>
          <p:cNvPr id="4" name="Text 2"/>
          <p:cNvSpPr/>
          <p:nvPr/>
        </p:nvSpPr>
        <p:spPr>
          <a:xfrm>
            <a:off x="6236208" y="1527048"/>
            <a:ext cx="5550408" cy="4462272"/>
          </a:xfrm>
          <a:prstGeom prst="rect">
            <a:avLst/>
          </a:prstGeom>
          <a:noFill/>
          <a:ln/>
        </p:spPr>
        <p:txBody>
          <a:bodyPr wrap="square" rtlCol="0" anchor="t">
            <a:normAutofit/>
          </a:bodyPr>
          <a:lstStyle/>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DORA Metrics:</a:t>
            </a:r>
            <a:pPr indent="0" marL="0">
              <a:buNone/>
            </a:pPr>
            <a:r>
              <a:rPr lang="en-US" sz="2000" dirty="0">
                <a:solidFill>
                  <a:srgbClr val="000000"/>
                </a:solidFill>
                <a:latin typeface="Gartner Sans" pitchFamily="34" charset="0"/>
                <a:ea typeface="Gartner Sans" pitchFamily="34" charset="-122"/>
                <a:cs typeface="Gartner Sans" pitchFamily="34" charset="-120"/>
              </a:rPr>
              <a:t> Deployment frequency, lead time, change failure rate, MTTR. Indicate delivery pipeline health.</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[2]</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Mean Time to Recover (MTTR):</a:t>
            </a:r>
            <a:pPr indent="0" marL="0">
              <a:buNone/>
            </a:pPr>
            <a:r>
              <a:rPr lang="en-US" sz="2000" dirty="0">
                <a:solidFill>
                  <a:srgbClr val="000000"/>
                </a:solidFill>
                <a:latin typeface="Gartner Sans" pitchFamily="34" charset="0"/>
                <a:ea typeface="Gartner Sans" pitchFamily="34" charset="-122"/>
                <a:cs typeface="Gartner Sans" pitchFamily="34" charset="-120"/>
              </a:rPr>
              <a:t> How fast issues are fixed. Lower is better.</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[2]</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Reporting cadence:</a:t>
            </a:r>
            <a:pPr indent="0" marL="0">
              <a:buNone/>
            </a:pPr>
            <a:r>
              <a:rPr lang="en-US" sz="2000" dirty="0">
                <a:solidFill>
                  <a:srgbClr val="000000"/>
                </a:solidFill>
                <a:latin typeface="Gartner Sans" pitchFamily="34" charset="0"/>
                <a:ea typeface="Gartner Sans" pitchFamily="34" charset="-122"/>
                <a:cs typeface="Gartner Sans" pitchFamily="34" charset="-120"/>
              </a:rPr>
              <a:t> Uptime monthly; DORA metrics monthly or quarterly.</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7" invalidUrl="" action="" tgtFrame="" tooltip="" history="1" highlightClick="0" endSnd="0">
                  <a:extLst>
                    <a:ext uri="{A12FA001-AC4F-418D-AE19-62706E023703}">
                      <ahyp:hlinkClr xmlns:ahyp="http://schemas.microsoft.com/office/drawing/2018/hyperlinkcolor" val="tx"/>
                    </a:ext>
                  </a:extLst>
                </a:hlinkClick>
              </a:rPr>
              <a:t>[3]</a:t>
            </a:r>
            <a:endParaRPr lang="en-US" sz="2000" dirty="0"/>
          </a:p>
        </p:txBody>
      </p:sp>
      <p:sp>
        <p:nvSpPr>
          <p:cNvPr id="5" name="Text 3"/>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Business Outcome Metrics: Is It Moving the Business Forward?</a:t>
            </a:r>
            <a:endParaRPr lang="en-US" sz="2800" dirty="0"/>
          </a:p>
        </p:txBody>
      </p:sp>
      <p:sp>
        <p:nvSpPr>
          <p:cNvPr id="3" name="Text 1"/>
          <p:cNvSpPr/>
          <p:nvPr/>
        </p:nvSpPr>
        <p:spPr>
          <a:xfrm>
            <a:off x="457200" y="1527048"/>
            <a:ext cx="11277295" cy="4462272"/>
          </a:xfrm>
          <a:prstGeom prst="rect">
            <a:avLst/>
          </a:prstGeom>
          <a:noFill/>
          <a:ln/>
        </p:spPr>
        <p:txBody>
          <a:bodyPr wrap="square" rtlCol="0" anchor="t">
            <a:normAutofit/>
          </a:bodyPr>
          <a:lstStyle/>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Technical Debt Reduction:</a:t>
            </a:r>
            <a:pPr indent="0" marL="0">
              <a:buNone/>
            </a:pPr>
            <a:r>
              <a:rPr lang="en-US" sz="2000" dirty="0">
                <a:solidFill>
                  <a:srgbClr val="000000"/>
                </a:solidFill>
                <a:latin typeface="Gartner Sans" pitchFamily="34" charset="0"/>
                <a:ea typeface="Gartner Sans" pitchFamily="34" charset="-122"/>
                <a:cs typeface="Gartner Sans" pitchFamily="34" charset="-120"/>
              </a:rPr>
              <a:t> (Baseline debt – Current debt)/Baseline debt × 100; measured in cost/budget.</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[3]</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Value Enhancement Score:</a:t>
            </a:r>
            <a:pPr indent="0" marL="0">
              <a:buNone/>
            </a:pPr>
            <a:r>
              <a:rPr lang="en-US" sz="2000" dirty="0">
                <a:solidFill>
                  <a:srgbClr val="000000"/>
                </a:solidFill>
                <a:latin typeface="Gartner Sans" pitchFamily="34" charset="0"/>
                <a:ea typeface="Gartner Sans" pitchFamily="34" charset="-122"/>
                <a:cs typeface="Gartner Sans" pitchFamily="34" charset="-120"/>
              </a:rPr>
              <a:t> Does the platform accelerate cloud adoption, cut costs, or mitigate risk? Tie to KPIs.</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[5]</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Self-Service Rate:</a:t>
            </a:r>
            <a:pPr indent="0" marL="0">
              <a:buNone/>
            </a:pPr>
            <a:r>
              <a:rPr lang="en-US" sz="2000" dirty="0">
                <a:solidFill>
                  <a:srgbClr val="000000"/>
                </a:solidFill>
                <a:latin typeface="Gartner Sans" pitchFamily="34" charset="0"/>
                <a:ea typeface="Gartner Sans" pitchFamily="34" charset="-122"/>
                <a:cs typeface="Gartner Sans" pitchFamily="34" charset="-120"/>
              </a:rPr>
              <a:t> % of tasks teams handle without ticketing/manual work. Higher = more efficiency.</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[1]</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Cost Control Metrics:</a:t>
            </a:r>
            <a:pPr indent="0" marL="0">
              <a:buNone/>
            </a:pPr>
            <a:r>
              <a:rPr lang="en-US" sz="2000" dirty="0">
                <a:solidFill>
                  <a:srgbClr val="000000"/>
                </a:solidFill>
                <a:latin typeface="Gartner Sans" pitchFamily="34" charset="0"/>
                <a:ea typeface="Gartner Sans" pitchFamily="34" charset="-122"/>
                <a:cs typeface="Gartner Sans" pitchFamily="34" charset="-120"/>
              </a:rPr>
              <a:t> Track service catalog use, chargeback, budget variance, FinOps effectiveness.</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[6]</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Reporting cadence:</a:t>
            </a:r>
            <a:pPr indent="0" marL="0">
              <a:buNone/>
            </a:pPr>
            <a:r>
              <a:rPr lang="en-US" sz="2000" dirty="0">
                <a:solidFill>
                  <a:srgbClr val="000000"/>
                </a:solidFill>
                <a:latin typeface="Gartner Sans" pitchFamily="34" charset="0"/>
                <a:ea typeface="Gartner Sans" pitchFamily="34" charset="-122"/>
                <a:cs typeface="Gartner Sans" pitchFamily="34" charset="-120"/>
              </a:rPr>
              <a:t> Tech debt quarterly, value &amp; cost metrics monthly to quarterly.</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[3]</a:t>
            </a:r>
            <a:endParaRPr lang="en-US" sz="2000" dirty="0"/>
          </a:p>
        </p:txBody>
      </p:sp>
      <p:sp>
        <p:nvSpPr>
          <p:cNvPr id="4"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600200" y="2240280"/>
            <a:ext cx="7360920" cy="2002536"/>
          </a:xfrm>
          <a:prstGeom prst="rect">
            <a:avLst/>
          </a:prstGeom>
          <a:noFill/>
          <a:ln/>
        </p:spPr>
        <p:txBody>
          <a:bodyPr wrap="square" rtlCol="0" anchor="ctr"/>
          <a:lstStyle/>
          <a:p>
            <a:pPr algn="l" indent="0" marL="0">
              <a:buNone/>
            </a:pPr>
            <a:r>
              <a:rPr lang="en-US" sz="4400" dirty="0">
                <a:solidFill>
                  <a:srgbClr val="FFFFFF"/>
                </a:solidFill>
                <a:latin typeface="Gartner Sans Semibold" pitchFamily="34" charset="0"/>
                <a:ea typeface="Gartner Sans Semibold" pitchFamily="34" charset="-122"/>
                <a:cs typeface="Gartner Sans Semibold" pitchFamily="34" charset="-120"/>
              </a:rPr>
              <a:t>Building Your Measurement Dashboard</a:t>
            </a:r>
            <a:endParaRPr lang="en-US" sz="4400" dirty="0"/>
          </a:p>
        </p:txBody>
      </p:sp>
      <p:sp>
        <p:nvSpPr>
          <p:cNvPr id="3" name="Text 1"/>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FFFFFF"/>
                </a:solidFill>
                <a:latin typeface="Gartner Sans" pitchFamily="34" charset="0"/>
                <a:ea typeface="Gartner Sans" pitchFamily="34" charset="-122"/>
                <a:cs typeface="Gartner Sans" pitchFamily="34" charset="-120"/>
              </a:rPr>
              <a:t>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Integrated Dashboard: Sentiment + Outcomes</a:t>
            </a:r>
            <a:endParaRPr lang="en-US" sz="2800" dirty="0"/>
          </a:p>
        </p:txBody>
      </p:sp>
      <p:sp>
        <p:nvSpPr>
          <p:cNvPr id="3" name="Text 1"/>
          <p:cNvSpPr/>
          <p:nvPr/>
        </p:nvSpPr>
        <p:spPr>
          <a:xfrm>
            <a:off x="457200" y="1527048"/>
            <a:ext cx="3337560" cy="4462272"/>
          </a:xfrm>
          <a:prstGeom prst="rect">
            <a:avLst/>
          </a:prstGeom>
          <a:noFill/>
          <a:ln/>
        </p:spPr>
        <p:txBody>
          <a:bodyPr wrap="square" rtlCol="0" anchor="t">
            <a:normAutofit/>
          </a:bodyPr>
          <a:lstStyle/>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Experience:</a:t>
            </a:r>
            <a:pPr indent="0" marL="0">
              <a:buNone/>
            </a:pPr>
            <a:r>
              <a:rPr lang="en-US" sz="2000" dirty="0">
                <a:solidFill>
                  <a:srgbClr val="000000"/>
                </a:solidFill>
                <a:latin typeface="Gartner Sans" pitchFamily="34" charset="0"/>
                <a:ea typeface="Gartner Sans" pitchFamily="34" charset="-122"/>
                <a:cs typeface="Gartner Sans" pitchFamily="34" charset="-120"/>
              </a:rPr>
              <a:t> CES, CSAT, NPS</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Audience:</a:t>
            </a:r>
            <a:pPr indent="0" marL="0">
              <a:buNone/>
            </a:pPr>
            <a:r>
              <a:rPr lang="en-US" sz="2000" dirty="0">
                <a:solidFill>
                  <a:srgbClr val="000000"/>
                </a:solidFill>
                <a:latin typeface="Gartner Sans" pitchFamily="34" charset="0"/>
                <a:ea typeface="Gartner Sans" pitchFamily="34" charset="-122"/>
                <a:cs typeface="Gartner Sans" pitchFamily="34" charset="-120"/>
              </a:rPr>
              <a:t> Platform team, product leadership</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Cadence:</a:t>
            </a:r>
            <a:pPr indent="0" marL="0">
              <a:buNone/>
            </a:pPr>
            <a:r>
              <a:rPr lang="en-US" sz="2000" dirty="0">
                <a:solidFill>
                  <a:srgbClr val="000000"/>
                </a:solidFill>
                <a:latin typeface="Gartner Sans" pitchFamily="34" charset="0"/>
                <a:ea typeface="Gartner Sans" pitchFamily="34" charset="-122"/>
                <a:cs typeface="Gartner Sans" pitchFamily="34" charset="-120"/>
              </a:rPr>
              <a:t> Monthly/quarterly</a:t>
            </a:r>
            <a:endParaRPr lang="en-US" sz="2000" dirty="0"/>
          </a:p>
        </p:txBody>
      </p:sp>
      <p:sp>
        <p:nvSpPr>
          <p:cNvPr id="4" name="Text 2"/>
          <p:cNvSpPr/>
          <p:nvPr/>
        </p:nvSpPr>
        <p:spPr>
          <a:xfrm>
            <a:off x="4425696" y="1527048"/>
            <a:ext cx="3337560" cy="4462272"/>
          </a:xfrm>
          <a:prstGeom prst="rect">
            <a:avLst/>
          </a:prstGeom>
          <a:noFill/>
          <a:ln/>
        </p:spPr>
        <p:txBody>
          <a:bodyPr wrap="square" rtlCol="0" anchor="t">
            <a:normAutofit/>
          </a:bodyPr>
          <a:lstStyle/>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Adoption:</a:t>
            </a:r>
            <a:pPr indent="0" marL="0">
              <a:buNone/>
            </a:pPr>
            <a:r>
              <a:rPr lang="en-US" sz="2000" dirty="0">
                <a:solidFill>
                  <a:srgbClr val="000000"/>
                </a:solidFill>
                <a:latin typeface="Gartner Sans" pitchFamily="34" charset="0"/>
                <a:ea typeface="Gartner Sans" pitchFamily="34" charset="-122"/>
                <a:cs typeface="Gartner Sans" pitchFamily="34" charset="-120"/>
              </a:rPr>
              <a:t> Adoption, consumption, API usage</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Audience:</a:t>
            </a:r>
            <a:pPr indent="0" marL="0">
              <a:buNone/>
            </a:pPr>
            <a:r>
              <a:rPr lang="en-US" sz="2000" dirty="0">
                <a:solidFill>
                  <a:srgbClr val="000000"/>
                </a:solidFill>
                <a:latin typeface="Gartner Sans" pitchFamily="34" charset="0"/>
                <a:ea typeface="Gartner Sans" pitchFamily="34" charset="-122"/>
                <a:cs typeface="Gartner Sans" pitchFamily="34" charset="-120"/>
              </a:rPr>
              <a:t> Head of I&amp;O, CFO</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Cadence:</a:t>
            </a:r>
            <a:pPr indent="0" marL="0">
              <a:buNone/>
            </a:pPr>
            <a:r>
              <a:rPr lang="en-US" sz="2000" dirty="0">
                <a:solidFill>
                  <a:srgbClr val="000000"/>
                </a:solidFill>
                <a:latin typeface="Gartner Sans" pitchFamily="34" charset="0"/>
                <a:ea typeface="Gartner Sans" pitchFamily="34" charset="-122"/>
                <a:cs typeface="Gartner Sans" pitchFamily="34" charset="-120"/>
              </a:rPr>
              <a:t> Monthly</a:t>
            </a:r>
            <a:endParaRPr lang="en-US" sz="2000" dirty="0"/>
          </a:p>
        </p:txBody>
      </p:sp>
      <p:sp>
        <p:nvSpPr>
          <p:cNvPr id="5" name="Text 3"/>
          <p:cNvSpPr/>
          <p:nvPr/>
        </p:nvSpPr>
        <p:spPr>
          <a:xfrm>
            <a:off x="8394192" y="1527048"/>
            <a:ext cx="3337560" cy="4462272"/>
          </a:xfrm>
          <a:prstGeom prst="rect">
            <a:avLst/>
          </a:prstGeom>
          <a:noFill/>
          <a:ln/>
        </p:spPr>
        <p:txBody>
          <a:bodyPr wrap="square" rtlCol="0" anchor="t">
            <a:normAutofit/>
          </a:bodyPr>
          <a:lstStyle/>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Operations/Business:</a:t>
            </a:r>
            <a:pPr indent="0" marL="0">
              <a:buNone/>
            </a:pPr>
            <a:r>
              <a:rPr lang="en-US" sz="2000" dirty="0">
                <a:solidFill>
                  <a:srgbClr val="000000"/>
                </a:solidFill>
                <a:latin typeface="Gartner Sans" pitchFamily="34" charset="0"/>
                <a:ea typeface="Gartner Sans" pitchFamily="34" charset="-122"/>
                <a:cs typeface="Gartner Sans" pitchFamily="34" charset="-120"/>
              </a:rPr>
              <a:t> Uptime, DORA, tech debt, cost</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Audience:</a:t>
            </a:r>
            <a:pPr indent="0" marL="0">
              <a:buNone/>
            </a:pPr>
            <a:r>
              <a:rPr lang="en-US" sz="2000" dirty="0">
                <a:solidFill>
                  <a:srgbClr val="000000"/>
                </a:solidFill>
                <a:latin typeface="Gartner Sans" pitchFamily="34" charset="0"/>
                <a:ea typeface="Gartner Sans" pitchFamily="34" charset="-122"/>
                <a:cs typeface="Gartner Sans" pitchFamily="34" charset="-120"/>
              </a:rPr>
              <a:t> DevOps, CTO, business units</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Cadence:</a:t>
            </a:r>
            <a:pPr indent="0" marL="0">
              <a:buNone/>
            </a:pPr>
            <a:r>
              <a:rPr lang="en-US" sz="2000" dirty="0">
                <a:solidFill>
                  <a:srgbClr val="000000"/>
                </a:solidFill>
                <a:latin typeface="Gartner Sans" pitchFamily="34" charset="0"/>
                <a:ea typeface="Gartner Sans" pitchFamily="34" charset="-122"/>
                <a:cs typeface="Gartner Sans" pitchFamily="34" charset="-120"/>
              </a:rPr>
              <a:t> Monthly/quarterly</a:t>
            </a:r>
            <a:endParaRPr lang="en-US" sz="2000" dirty="0"/>
          </a:p>
        </p:txBody>
      </p:sp>
      <p:sp>
        <p:nvSpPr>
          <p:cNvPr id="6" name="Text 4"/>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Metric Ownership &amp; Regulated Industry Considerations</a:t>
            </a:r>
            <a:endParaRPr lang="en-US" sz="2800" dirty="0"/>
          </a:p>
        </p:txBody>
      </p:sp>
      <p:sp>
        <p:nvSpPr>
          <p:cNvPr id="3" name="Text 1"/>
          <p:cNvSpPr/>
          <p:nvPr/>
        </p:nvSpPr>
        <p:spPr>
          <a:xfrm>
            <a:off x="457200" y="1527048"/>
            <a:ext cx="11277295" cy="4462272"/>
          </a:xfrm>
          <a:prstGeom prst="rect">
            <a:avLst/>
          </a:prstGeom>
          <a:noFill/>
          <a:ln/>
        </p:spPr>
        <p:txBody>
          <a:bodyPr wrap="square" rtlCol="0" anchor="t">
            <a:normAutofit/>
          </a:bodyPr>
          <a:lstStyle/>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Assign ownership</a:t>
            </a:r>
            <a:pPr indent="0" marL="0">
              <a:buNone/>
            </a:pPr>
            <a:r>
              <a:rPr lang="en-US" sz="2000" dirty="0">
                <a:solidFill>
                  <a:srgbClr val="000000"/>
                </a:solidFill>
                <a:latin typeface="Gartner Sans" pitchFamily="34" charset="0"/>
                <a:ea typeface="Gartner Sans" pitchFamily="34" charset="-122"/>
                <a:cs typeface="Gartner Sans" pitchFamily="34" charset="-120"/>
              </a:rPr>
              <a:t> for each metric category.</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Finance</a:t>
            </a:r>
            <a:pPr indent="0" marL="0">
              <a:buNone/>
            </a:pPr>
            <a:r>
              <a:rPr lang="en-US" sz="2000" dirty="0">
                <a:solidFill>
                  <a:srgbClr val="000000"/>
                </a:solidFill>
                <a:latin typeface="Gartner Sans" pitchFamily="34" charset="0"/>
                <a:ea typeface="Gartner Sans" pitchFamily="34" charset="-122"/>
                <a:cs typeface="Gartner Sans" pitchFamily="34" charset="-120"/>
              </a:rPr>
              <a:t> should own cost metrics; </a:t>
            </a:r>
            <a:pPr indent="0" marL="0">
              <a:buNone/>
            </a:pPr>
            <a:r>
              <a:rPr lang="en-US" sz="2000" u="sng" dirty="0">
                <a:solidFill>
                  <a:srgbClr val="000000"/>
                </a:solidFill>
                <a:latin typeface="Gartner Sans" pitchFamily="34" charset="0"/>
                <a:ea typeface="Gartner Sans" pitchFamily="34" charset="-122"/>
                <a:cs typeface="Gartner Sans" pitchFamily="34" charset="-120"/>
              </a:rPr>
              <a:t>Security</a:t>
            </a:r>
            <a:pPr indent="0" marL="0">
              <a:buNone/>
            </a:pPr>
            <a:r>
              <a:rPr lang="en-US" sz="2000" dirty="0">
                <a:solidFill>
                  <a:srgbClr val="000000"/>
                </a:solidFill>
                <a:latin typeface="Gartner Sans" pitchFamily="34" charset="0"/>
                <a:ea typeface="Gartner Sans" pitchFamily="34" charset="-122"/>
                <a:cs typeface="Gartner Sans" pitchFamily="34" charset="-120"/>
              </a:rPr>
              <a:t> must own risk/compliance KPIs.</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[1]</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[6]</a:t>
            </a:r>
            <a:endParaRPr lang="en-US" sz="2000" dirty="0"/>
          </a:p>
          <a:p>
            <a:pPr marL="342900" indent="-342900">
              <a:spcAft>
                <a:spcPts val="400"/>
              </a:spcAft>
              <a:buSzPct val="100000"/>
              <a:buChar char="•"/>
            </a:pPr>
            <a:r>
              <a:rPr lang="en-US" sz="2000" dirty="0">
                <a:solidFill>
                  <a:srgbClr val="000000"/>
                </a:solidFill>
                <a:latin typeface="Gartner Sans" pitchFamily="34" charset="0"/>
                <a:ea typeface="Gartner Sans" pitchFamily="34" charset="-122"/>
                <a:cs typeface="Gartner Sans" pitchFamily="34" charset="-120"/>
              </a:rPr>
              <a:t>For regulated industries (e.g. banking), ensure reporting aligns with audit and regulatory requirements.</a:t>
            </a:r>
            <a:endParaRPr lang="en-US" sz="2000" dirty="0"/>
          </a:p>
        </p:txBody>
      </p:sp>
      <p:sp>
        <p:nvSpPr>
          <p:cNvPr id="4"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1600200" y="2240280"/>
            <a:ext cx="7360920" cy="2002536"/>
          </a:xfrm>
          <a:prstGeom prst="rect">
            <a:avLst/>
          </a:prstGeom>
          <a:noFill/>
          <a:ln/>
        </p:spPr>
        <p:txBody>
          <a:bodyPr wrap="square" rtlCol="0" anchor="ctr"/>
          <a:lstStyle/>
          <a:p>
            <a:pPr algn="l" indent="0" marL="0">
              <a:buNone/>
            </a:pPr>
            <a:r>
              <a:rPr lang="en-US" sz="4400" dirty="0">
                <a:solidFill>
                  <a:srgbClr val="FFFFFF"/>
                </a:solidFill>
                <a:latin typeface="Gartner Sans Semibold" pitchFamily="34" charset="0"/>
                <a:ea typeface="Gartner Sans Semibold" pitchFamily="34" charset="-122"/>
                <a:cs typeface="Gartner Sans Semibold" pitchFamily="34" charset="-120"/>
              </a:rPr>
              <a:t>Defining Success and Continuous Improvement</a:t>
            </a:r>
            <a:endParaRPr lang="en-US" sz="4400" dirty="0"/>
          </a:p>
        </p:txBody>
      </p:sp>
      <p:sp>
        <p:nvSpPr>
          <p:cNvPr id="3" name="Text 1"/>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FFFFFF"/>
                </a:solidFill>
                <a:latin typeface="Gartner Sans" pitchFamily="34" charset="0"/>
                <a:ea typeface="Gartner Sans" pitchFamily="34" charset="-122"/>
                <a:cs typeface="Gartner Sans" pitchFamily="34" charset="-120"/>
              </a:rPr>
              <a:t>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Targets For Success: What Do Good Metrics Look Like?</a:t>
            </a:r>
            <a:endParaRPr lang="en-US" sz="2800" dirty="0"/>
          </a:p>
        </p:txBody>
      </p:sp>
      <p:sp>
        <p:nvSpPr>
          <p:cNvPr id="3" name="Text 1"/>
          <p:cNvSpPr/>
          <p:nvPr/>
        </p:nvSpPr>
        <p:spPr>
          <a:xfrm>
            <a:off x="457200" y="1527048"/>
            <a:ext cx="11277295" cy="4462272"/>
          </a:xfrm>
          <a:prstGeom prst="rect">
            <a:avLst/>
          </a:prstGeom>
          <a:noFill/>
          <a:ln/>
        </p:spPr>
        <p:txBody>
          <a:bodyPr wrap="square" rtlCol="0" anchor="t">
            <a:normAutofit/>
          </a:bodyPr>
          <a:lstStyle/>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Adoption:</a:t>
            </a:r>
            <a:pPr indent="0" marL="0">
              <a:buNone/>
            </a:pPr>
            <a:r>
              <a:rPr lang="en-US" sz="2000" dirty="0">
                <a:solidFill>
                  <a:srgbClr val="000000"/>
                </a:solidFill>
                <a:latin typeface="Gartner Sans" pitchFamily="34" charset="0"/>
                <a:ea typeface="Gartner Sans" pitchFamily="34" charset="-122"/>
                <a:cs typeface="Gartner Sans" pitchFamily="34" charset="-120"/>
              </a:rPr>
              <a:t> Aim for 60%+ within 6 months; 80%+ in 12 months.</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CSAT/NPS:</a:t>
            </a:r>
            <a:pPr indent="0" marL="0">
              <a:buNone/>
            </a:pPr>
            <a:r>
              <a:rPr lang="en-US" sz="2000" dirty="0">
                <a:solidFill>
                  <a:srgbClr val="000000"/>
                </a:solidFill>
                <a:latin typeface="Gartner Sans" pitchFamily="34" charset="0"/>
                <a:ea typeface="Gartner Sans" pitchFamily="34" charset="-122"/>
                <a:cs typeface="Gartner Sans" pitchFamily="34" charset="-120"/>
              </a:rPr>
              <a:t> Target CSAT ≥ 4/5, NPS ≥ 50 indicates strong advocacy.</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Uptime:</a:t>
            </a:r>
            <a:pPr indent="0" marL="0">
              <a:buNone/>
            </a:pPr>
            <a:r>
              <a:rPr lang="en-US" sz="2000" dirty="0">
                <a:solidFill>
                  <a:srgbClr val="000000"/>
                </a:solidFill>
                <a:latin typeface="Gartner Sans" pitchFamily="34" charset="0"/>
                <a:ea typeface="Gartner Sans" pitchFamily="34" charset="-122"/>
                <a:cs typeface="Gartner Sans" pitchFamily="34" charset="-120"/>
              </a:rPr>
              <a:t> ≥ 99.5% for financial services (</a:t>
            </a:r>
            <a:pPr indent="0" marL="0">
              <a:buNone/>
            </a:pPr>
            <a:r>
              <a:rPr lang="en-US" sz="2000" u="sng" dirty="0">
                <a:solidFill>
                  <a:srgbClr val="000000"/>
                </a:solidFill>
                <a:latin typeface="Gartner Sans" pitchFamily="34" charset="0"/>
                <a:ea typeface="Gartner Sans" pitchFamily="34" charset="-122"/>
                <a:cs typeface="Gartner Sans" pitchFamily="34" charset="-120"/>
              </a:rPr>
              <a:t>regulatory standard</a:t>
            </a:r>
            <a:pPr indent="0" marL="0">
              <a:buNone/>
            </a:pPr>
            <a:r>
              <a:rPr lang="en-US" sz="2000" dirty="0">
                <a:solidFill>
                  <a:srgbClr val="000000"/>
                </a:solidFill>
                <a:latin typeface="Gartner Sans" pitchFamily="34" charset="0"/>
                <a:ea typeface="Gartner Sans" pitchFamily="34" charset="-122"/>
                <a:cs typeface="Gartner Sans" pitchFamily="34" charset="-120"/>
              </a:rPr>
              <a:t>).</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MTTR:</a:t>
            </a:r>
            <a:pPr indent="0" marL="0">
              <a:buNone/>
            </a:pPr>
            <a:r>
              <a:rPr lang="en-US" sz="2000" dirty="0">
                <a:solidFill>
                  <a:srgbClr val="000000"/>
                </a:solidFill>
                <a:latin typeface="Gartner Sans" pitchFamily="34" charset="0"/>
                <a:ea typeface="Gartner Sans" pitchFamily="34" charset="-122"/>
                <a:cs typeface="Gartner Sans" pitchFamily="34" charset="-120"/>
              </a:rPr>
              <a:t> Should trend down steadily, showing platform improvements.</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Self-service rate:</a:t>
            </a:r>
            <a:pPr indent="0" marL="0">
              <a:buNone/>
            </a:pPr>
            <a:r>
              <a:rPr lang="en-US" sz="2000" dirty="0">
                <a:solidFill>
                  <a:srgbClr val="000000"/>
                </a:solidFill>
                <a:latin typeface="Gartner Sans" pitchFamily="34" charset="0"/>
                <a:ea typeface="Gartner Sans" pitchFamily="34" charset="-122"/>
                <a:cs typeface="Gartner Sans" pitchFamily="34" charset="-120"/>
              </a:rPr>
              <a:t> 70%+ of routine tasks resolved without tickets.</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[4]</a:t>
            </a:r>
            <a:endParaRPr lang="en-US" sz="2000" dirty="0"/>
          </a:p>
          <a:p>
            <a:pPr marL="342900" indent="-342900">
              <a:spcAft>
                <a:spcPts val="400"/>
              </a:spcAft>
              <a:buSzPct val="100000"/>
              <a:buChar char="•"/>
            </a:pPr>
            <a:r>
              <a:rPr lang="en-US" sz="2000" i="1" dirty="0">
                <a:solidFill>
                  <a:srgbClr val="000000"/>
                </a:solidFill>
                <a:latin typeface="Gartner Sans" pitchFamily="34" charset="0"/>
                <a:ea typeface="Gartner Sans" pitchFamily="34" charset="-122"/>
                <a:cs typeface="Gartner Sans" pitchFamily="34" charset="-120"/>
              </a:rPr>
              <a:t>Industry benchmarks vary by maturity and domain; directional improvements matter more than static targets.</a:t>
            </a:r>
            <a:endParaRPr lang="en-US" sz="2000" dirty="0"/>
          </a:p>
        </p:txBody>
      </p:sp>
      <p:sp>
        <p:nvSpPr>
          <p:cNvPr id="4"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Establishing Feedback Loops and Action-Oriented Roadmap</a:t>
            </a:r>
            <a:endParaRPr lang="en-US" sz="2800" dirty="0"/>
          </a:p>
        </p:txBody>
      </p:sp>
      <p:sp>
        <p:nvSpPr>
          <p:cNvPr id="3" name="Text 1"/>
          <p:cNvSpPr/>
          <p:nvPr/>
        </p:nvSpPr>
        <p:spPr>
          <a:xfrm>
            <a:off x="457200" y="1527048"/>
            <a:ext cx="11277295" cy="4462272"/>
          </a:xfrm>
          <a:prstGeom prst="rect">
            <a:avLst/>
          </a:prstGeom>
          <a:noFill/>
          <a:ln/>
        </p:spPr>
        <p:txBody>
          <a:bodyPr wrap="square" rtlCol="0" anchor="t">
            <a:normAutofit/>
          </a:bodyPr>
          <a:lstStyle/>
          <a:p>
            <a:pPr marL="342900" indent="-342900">
              <a:spcAft>
                <a:spcPts val="400"/>
              </a:spcAft>
              <a:buSzPct val="100000"/>
              <a:buChar char="•"/>
            </a:pPr>
            <a:r>
              <a:rPr lang="en-US" sz="2000" dirty="0">
                <a:solidFill>
                  <a:srgbClr val="000000"/>
                </a:solidFill>
                <a:latin typeface="Gartner Sans" pitchFamily="34" charset="0"/>
                <a:ea typeface="Gartner Sans" pitchFamily="34" charset="-122"/>
                <a:cs typeface="Gartner Sans" pitchFamily="34" charset="-120"/>
              </a:rPr>
              <a:t>Use a </a:t>
            </a:r>
            <a:pPr indent="0" marL="0">
              <a:buNone/>
            </a:pPr>
            <a:r>
              <a:rPr lang="en-US" sz="2000" b="1" dirty="0">
                <a:solidFill>
                  <a:srgbClr val="000000"/>
                </a:solidFill>
                <a:latin typeface="Gartner Sans" pitchFamily="34" charset="0"/>
                <a:ea typeface="Gartner Sans" pitchFamily="34" charset="-122"/>
                <a:cs typeface="Gartner Sans" pitchFamily="34" charset="-120"/>
              </a:rPr>
              <a:t>centralized dashboard</a:t>
            </a:r>
            <a:pPr indent="0" marL="0">
              <a:buNone/>
            </a:pPr>
            <a:r>
              <a:rPr lang="en-US" sz="2000" dirty="0">
                <a:solidFill>
                  <a:srgbClr val="000000"/>
                </a:solidFill>
                <a:latin typeface="Gartner Sans" pitchFamily="34" charset="0"/>
                <a:ea typeface="Gartner Sans" pitchFamily="34" charset="-122"/>
                <a:cs typeface="Gartner Sans" pitchFamily="34" charset="-120"/>
              </a:rPr>
              <a:t> linking sentiment and business metrics for actionable insights.</a:t>
            </a:r>
            <a:pPr indent="0" marL="0">
              <a:buNone/>
            </a:pPr>
            <a:r>
              <a:rPr lang="en-US" sz="2000" u="sng" baseline="30000" dirty="0">
                <a:solidFill>
                  <a:srgbClr val="0563C1"/>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[1]</a:t>
            </a:r>
            <a:endParaRPr lang="en-US" sz="2000" dirty="0"/>
          </a:p>
          <a:p>
            <a:pPr marL="342900" indent="-342900">
              <a:spcAft>
                <a:spcPts val="400"/>
              </a:spcAft>
              <a:buSzPct val="100000"/>
              <a:buChar char="•"/>
            </a:pPr>
            <a:r>
              <a:rPr lang="en-US" sz="2000" dirty="0">
                <a:solidFill>
                  <a:srgbClr val="000000"/>
                </a:solidFill>
                <a:latin typeface="Gartner Sans" pitchFamily="34" charset="0"/>
                <a:ea typeface="Gartner Sans" pitchFamily="34" charset="-122"/>
                <a:cs typeface="Gartner Sans" pitchFamily="34" charset="-120"/>
              </a:rPr>
              <a:t>Monthly reviews with platform teams and stakeholders </a:t>
            </a:r>
            <a:pPr indent="0" marL="0">
              <a:buNone/>
            </a:pPr>
            <a:r>
              <a:rPr lang="en-US" sz="2000" u="sng" dirty="0">
                <a:solidFill>
                  <a:srgbClr val="000000"/>
                </a:solidFill>
                <a:latin typeface="Gartner Sans" pitchFamily="34" charset="0"/>
                <a:ea typeface="Gartner Sans" pitchFamily="34" charset="-122"/>
                <a:cs typeface="Gartner Sans" pitchFamily="34" charset="-120"/>
              </a:rPr>
              <a:t>close the loop</a:t>
            </a:r>
            <a:pPr indent="0" marL="0">
              <a:buNone/>
            </a:pPr>
            <a:r>
              <a:rPr lang="en-US" sz="2000" dirty="0">
                <a:solidFill>
                  <a:srgbClr val="000000"/>
                </a:solidFill>
                <a:latin typeface="Gartner Sans" pitchFamily="34" charset="0"/>
                <a:ea typeface="Gartner Sans" pitchFamily="34" charset="-122"/>
                <a:cs typeface="Gartner Sans" pitchFamily="34" charset="-120"/>
              </a:rPr>
              <a:t>.</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Adjust priorities</a:t>
            </a:r>
            <a:pPr indent="0" marL="0">
              <a:buNone/>
            </a:pPr>
            <a:r>
              <a:rPr lang="en-US" sz="2000" dirty="0">
                <a:solidFill>
                  <a:srgbClr val="000000"/>
                </a:solidFill>
                <a:latin typeface="Gartner Sans" pitchFamily="34" charset="0"/>
                <a:ea typeface="Gartner Sans" pitchFamily="34" charset="-122"/>
                <a:cs typeface="Gartner Sans" pitchFamily="34" charset="-120"/>
              </a:rPr>
              <a:t> based on feedback — low CES + high adoption = users are using, but struggling.</a:t>
            </a:r>
            <a:endParaRPr lang="en-US" sz="2000" dirty="0"/>
          </a:p>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Example:</a:t>
            </a:r>
            <a:pPr indent="0" marL="0">
              <a:buNone/>
            </a:pPr>
            <a:r>
              <a:rPr lang="en-US" sz="2000" dirty="0">
                <a:solidFill>
                  <a:srgbClr val="000000"/>
                </a:solidFill>
                <a:latin typeface="Gartner Sans" pitchFamily="34" charset="0"/>
                <a:ea typeface="Gartner Sans" pitchFamily="34" charset="-122"/>
                <a:cs typeface="Gartner Sans" pitchFamily="34" charset="-120"/>
              </a:rPr>
              <a:t> Redesign provisioning wizard if cloud account CES is low, even with strong adoption.</a:t>
            </a:r>
            <a:endParaRPr lang="en-US" sz="2000" dirty="0"/>
          </a:p>
        </p:txBody>
      </p:sp>
      <p:sp>
        <p:nvSpPr>
          <p:cNvPr id="4"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Your Next Move: Get Started With Essentials</a:t>
            </a:r>
            <a:endParaRPr lang="en-US" sz="2800" dirty="0"/>
          </a:p>
        </p:txBody>
      </p:sp>
      <p:sp>
        <p:nvSpPr>
          <p:cNvPr id="3" name="Text 1"/>
          <p:cNvSpPr/>
          <p:nvPr/>
        </p:nvSpPr>
        <p:spPr>
          <a:xfrm>
            <a:off x="457200" y="1527048"/>
            <a:ext cx="11277295" cy="4462272"/>
          </a:xfrm>
          <a:prstGeom prst="rect">
            <a:avLst/>
          </a:prstGeom>
          <a:noFill/>
          <a:ln/>
        </p:spPr>
        <p:txBody>
          <a:bodyPr wrap="square" rtlCol="0" anchor="t">
            <a:normAutofit/>
          </a:bodyPr>
          <a:lstStyle/>
          <a:p>
            <a:pPr marL="342900" indent="-342900">
              <a:spcAft>
                <a:spcPts val="400"/>
              </a:spcAft>
              <a:buSzPct val="100000"/>
              <a:buChar char="•"/>
            </a:pPr>
            <a:r>
              <a:rPr lang="en-US" sz="2000" b="1" dirty="0">
                <a:solidFill>
                  <a:srgbClr val="000000"/>
                </a:solidFill>
                <a:latin typeface="Gartner Sans" pitchFamily="34" charset="0"/>
                <a:ea typeface="Gartner Sans" pitchFamily="34" charset="-122"/>
                <a:cs typeface="Gartner Sans" pitchFamily="34" charset="-120"/>
              </a:rPr>
              <a:t>Focus on key metrics:</a:t>
            </a:r>
            <a:pPr indent="0" marL="0">
              <a:buNone/>
            </a:pPr>
            <a:r>
              <a:rPr lang="en-US" sz="2000" dirty="0">
                <a:solidFill>
                  <a:srgbClr val="000000"/>
                </a:solidFill>
                <a:latin typeface="Gartner Sans" pitchFamily="34" charset="0"/>
                <a:ea typeface="Gartner Sans" pitchFamily="34" charset="-122"/>
                <a:cs typeface="Gartner Sans" pitchFamily="34" charset="-120"/>
              </a:rPr>
              <a:t> Adoption rate, CSAT, uptime, and one business metric (e.g., deployment speed or tech debt reduction).</a:t>
            </a:r>
            <a:endParaRPr lang="en-US" sz="2000" dirty="0"/>
          </a:p>
          <a:p>
            <a:pPr marL="342900" indent="-342900">
              <a:spcAft>
                <a:spcPts val="400"/>
              </a:spcAft>
              <a:buSzPct val="100000"/>
              <a:buChar char="•"/>
            </a:pPr>
            <a:r>
              <a:rPr lang="en-US" sz="2000" dirty="0">
                <a:solidFill>
                  <a:srgbClr val="000000"/>
                </a:solidFill>
                <a:latin typeface="Gartner Sans" pitchFamily="34" charset="0"/>
                <a:ea typeface="Gartner Sans" pitchFamily="34" charset="-122"/>
                <a:cs typeface="Gartner Sans" pitchFamily="34" charset="-120"/>
              </a:rPr>
              <a:t>Avoid "boiling the ocean"—start with 4–5 metrics and add depth gradually.</a:t>
            </a:r>
            <a:endParaRPr lang="en-US" sz="2000" dirty="0"/>
          </a:p>
          <a:p>
            <a:pPr marL="342900" indent="-342900">
              <a:spcAft>
                <a:spcPts val="400"/>
              </a:spcAft>
              <a:buSzPct val="100000"/>
              <a:buChar char="•"/>
            </a:pPr>
            <a:r>
              <a:rPr lang="en-US" sz="2000" u="sng" dirty="0">
                <a:solidFill>
                  <a:srgbClr val="000000"/>
                </a:solidFill>
                <a:latin typeface="Gartner Sans" pitchFamily="34" charset="0"/>
                <a:ea typeface="Gartner Sans" pitchFamily="34" charset="-122"/>
                <a:cs typeface="Gartner Sans" pitchFamily="34" charset="-120"/>
              </a:rPr>
              <a:t>Assign owners</a:t>
            </a:r>
            <a:pPr indent="0" marL="0">
              <a:buNone/>
            </a:pPr>
            <a:r>
              <a:rPr lang="en-US" sz="2000" dirty="0">
                <a:solidFill>
                  <a:srgbClr val="000000"/>
                </a:solidFill>
                <a:latin typeface="Gartner Sans" pitchFamily="34" charset="0"/>
                <a:ea typeface="Gartner Sans" pitchFamily="34" charset="-122"/>
                <a:cs typeface="Gartner Sans" pitchFamily="34" charset="-120"/>
              </a:rPr>
              <a:t> for each metric today; begin reporting within 30 days.</a:t>
            </a:r>
            <a:endParaRPr lang="en-US" sz="2000" dirty="0"/>
          </a:p>
        </p:txBody>
      </p:sp>
      <p:sp>
        <p:nvSpPr>
          <p:cNvPr id="4"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14</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References</a:t>
            </a:r>
            <a:endParaRPr lang="en-US" sz="2800" dirty="0"/>
          </a:p>
        </p:txBody>
      </p:sp>
      <p:sp>
        <p:nvSpPr>
          <p:cNvPr id="3" name="Text 1"/>
          <p:cNvSpPr/>
          <p:nvPr/>
        </p:nvSpPr>
        <p:spPr>
          <a:xfrm>
            <a:off x="457200" y="1527048"/>
            <a:ext cx="11277295" cy="4462272"/>
          </a:xfrm>
          <a:prstGeom prst="rect">
            <a:avLst/>
          </a:prstGeom>
          <a:noFill/>
          <a:ln/>
        </p:spPr>
        <p:txBody>
          <a:bodyPr wrap="square" rtlCol="0" anchor="t">
            <a:normAutofit/>
          </a:bodyPr>
          <a:lstStyle/>
          <a:p>
            <a:pPr marL="342900" indent="-342900">
              <a:spcAft>
                <a:spcPts val="400"/>
              </a:spcAft>
              <a:buSzPct val="100000"/>
              <a:buFont typeface="+mj-lt"/>
              <a:buAutoNum type="arabicPeriod" startAt="1"/>
            </a:pPr>
            <a:r>
              <a:rPr lang="en-US" sz="2000" u="sng" dirty="0">
                <a:solidFill>
                  <a:srgbClr val="006AC7"/>
                </a:solidFill>
                <a:latin typeface="Gartner Sans" pitchFamily="34" charset="0"/>
                <a:ea typeface="Gartner Sans" pitchFamily="34" charset="-122"/>
                <a:cs typeface="Gartner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Three Strategies to Improve the Developer Experience in Infrastructure Platforms</a:t>
            </a:r>
            <a:endParaRPr lang="en-US" sz="2000" dirty="0"/>
          </a:p>
          <a:p>
            <a:pPr marL="342900" indent="-342900">
              <a:spcAft>
                <a:spcPts val="400"/>
              </a:spcAft>
              <a:buSzPct val="100000"/>
              <a:buFont typeface="+mj-lt"/>
              <a:buAutoNum type="arabicPeriod" startAt="2"/>
            </a:pPr>
            <a:r>
              <a:rPr lang="en-US" sz="2000" u="sng" dirty="0">
                <a:solidFill>
                  <a:srgbClr val="006AC7"/>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Drive Business Agility With Infrastructure Platform Engineering</a:t>
            </a:r>
            <a:endParaRPr lang="en-US" sz="2000" dirty="0"/>
          </a:p>
          <a:p>
            <a:pPr marL="342900" indent="-342900">
              <a:spcAft>
                <a:spcPts val="400"/>
              </a:spcAft>
              <a:buSzPct val="100000"/>
              <a:buFont typeface="+mj-lt"/>
              <a:buAutoNum type="arabicPeriod" startAt="3"/>
            </a:pPr>
            <a:r>
              <a:rPr lang="en-US" sz="2000" u="sng" dirty="0">
                <a:solidFill>
                  <a:srgbClr val="006AC7"/>
                </a:solidFill>
                <a:latin typeface="Gartner Sans" pitchFamily="34" charset="0"/>
                <a:ea typeface="Gartner Sans" pitchFamily="34" charset="-122"/>
                <a:cs typeface="Gartner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A Head of I&amp;O's Guide to Building and Operating High-Impact Platform Teams</a:t>
            </a:r>
            <a:endParaRPr lang="en-US" sz="2000" dirty="0"/>
          </a:p>
          <a:p>
            <a:pPr marL="342900" indent="-342900">
              <a:spcAft>
                <a:spcPts val="400"/>
              </a:spcAft>
              <a:buSzPct val="100000"/>
              <a:buFont typeface="+mj-lt"/>
              <a:buAutoNum type="arabicPeriod" startAt="4"/>
            </a:pPr>
            <a:r>
              <a:rPr lang="en-US" sz="2000" u="sng" dirty="0">
                <a:solidFill>
                  <a:srgbClr val="006AC7"/>
                </a:solidFill>
                <a:latin typeface="Gartner Sans" pitchFamily="34" charset="0"/>
                <a:ea typeface="Gartner Sans" pitchFamily="34" charset="-122"/>
                <a:cs typeface="Gartner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Quick Answer: How Can I&amp;O Leaders in China Establish Effective Infrastructure Platform Engineering?</a:t>
            </a:r>
            <a:endParaRPr lang="en-US" sz="2000" dirty="0"/>
          </a:p>
          <a:p>
            <a:pPr marL="342900" indent="-342900">
              <a:spcAft>
                <a:spcPts val="400"/>
              </a:spcAft>
              <a:buSzPct val="100000"/>
              <a:buFont typeface="+mj-lt"/>
              <a:buAutoNum type="arabicPeriod" startAt="5"/>
            </a:pPr>
            <a:r>
              <a:rPr lang="en-US" sz="2000" u="sng" dirty="0">
                <a:solidFill>
                  <a:srgbClr val="006AC7"/>
                </a:solidFill>
                <a:latin typeface="Gartner Sans" pitchFamily="34" charset="0"/>
                <a:ea typeface="Gartner Sans" pitchFamily="34" charset="-122"/>
                <a:cs typeface="Gartner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How to Achieve Cloud Platform Operations Success</a:t>
            </a:r>
            <a:endParaRPr lang="en-US" sz="2000" dirty="0"/>
          </a:p>
          <a:p>
            <a:pPr marL="342900" indent="-342900">
              <a:spcAft>
                <a:spcPts val="400"/>
              </a:spcAft>
              <a:buSzPct val="100000"/>
              <a:buFont typeface="+mj-lt"/>
              <a:buAutoNum type="arabicPeriod" startAt="6"/>
            </a:pPr>
            <a:r>
              <a:rPr lang="en-US" sz="2000" u="sng" dirty="0">
                <a:solidFill>
                  <a:srgbClr val="006AC7"/>
                </a:solidFill>
                <a:latin typeface="Gartner Sans" pitchFamily="34" charset="0"/>
                <a:ea typeface="Gartner Sans" pitchFamily="34" charset="-122"/>
                <a:cs typeface="Gartner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Prioritize Employee Experience for Infrastructure Platform Engineering Success</a:t>
            </a:r>
            <a:endParaRPr lang="en-US" sz="2000" dirty="0"/>
          </a:p>
        </p:txBody>
      </p:sp>
      <p:sp>
        <p:nvSpPr>
          <p:cNvPr id="4"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Image Appendix</a:t>
            </a:r>
            <a:endParaRPr lang="en-US" sz="2800" dirty="0"/>
          </a:p>
        </p:txBody>
      </p:sp>
      <p:pic>
        <p:nvPicPr>
          <p:cNvPr id="3" name="Image 0" descr="preencoded.png">    </p:cNvPr>
          <p:cNvPicPr>
            <a:picLocks noChangeAspect="1"/>
          </p:cNvPicPr>
          <p:nvPr/>
        </p:nvPicPr>
        <p:blipFill>
          <a:blip r:embed="rId1"/>
          <a:stretch>
            <a:fillRect/>
          </a:stretch>
        </p:blipFill>
        <p:spPr>
          <a:xfrm>
            <a:off x="457200" y="1097280"/>
            <a:ext cx="5185046" cy="4370832"/>
          </a:xfrm>
          <a:prstGeom prst="rect">
            <a:avLst/>
          </a:prstGeom>
        </p:spPr>
      </p:pic>
      <p:sp>
        <p:nvSpPr>
          <p:cNvPr id="4" name="Text 1"/>
          <p:cNvSpPr/>
          <p:nvPr/>
        </p:nvSpPr>
        <p:spPr>
          <a:xfrm>
            <a:off x="457200" y="5513832"/>
            <a:ext cx="11277295" cy="457200"/>
          </a:xfrm>
          <a:prstGeom prst="rect">
            <a:avLst/>
          </a:prstGeom>
          <a:noFill/>
          <a:ln/>
        </p:spPr>
        <p:txBody>
          <a:bodyPr wrap="square" rtlCol="0" anchor="t"/>
          <a:lstStyle/>
          <a:p>
            <a:pPr algn="l" indent="0" marL="0">
              <a:buNone/>
            </a:pPr>
            <a:r>
              <a:rPr lang="en-US" sz="1200" dirty="0">
                <a:solidFill>
                  <a:srgbClr val="000000"/>
                </a:solidFill>
                <a:latin typeface="Gartner Sans" pitchFamily="34" charset="0"/>
                <a:ea typeface="Gartner Sans" pitchFamily="34" charset="-122"/>
                <a:cs typeface="Gartner Sans" pitchFamily="34" charset="-120"/>
              </a:rPr>
              <a:t>Image source: </a:t>
            </a:r>
            <a:pPr algn="l" indent="0" marL="0">
              <a:buNone/>
            </a:pPr>
            <a:r>
              <a:rPr lang="en-US" sz="1200" u="sng"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Source: Quick Answer: How Can I&amp;O Leaders in China Establish Effective Infrastructure P...</a:t>
            </a:r>
            <a:endParaRPr lang="en-US" sz="1200" dirty="0"/>
          </a:p>
        </p:txBody>
      </p:sp>
      <p:sp>
        <p:nvSpPr>
          <p:cNvPr id="5"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16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Image Appendix</a:t>
            </a:r>
            <a:endParaRPr lang="en-US" sz="2800" dirty="0"/>
          </a:p>
        </p:txBody>
      </p:sp>
      <p:pic>
        <p:nvPicPr>
          <p:cNvPr id="3" name="Image 0" descr="preencoded.png">    </p:cNvPr>
          <p:cNvPicPr>
            <a:picLocks noChangeAspect="1"/>
          </p:cNvPicPr>
          <p:nvPr/>
        </p:nvPicPr>
        <p:blipFill>
          <a:blip r:embed="rId1"/>
          <a:stretch>
            <a:fillRect/>
          </a:stretch>
        </p:blipFill>
        <p:spPr>
          <a:xfrm>
            <a:off x="457200" y="1097280"/>
            <a:ext cx="5442281" cy="4370832"/>
          </a:xfrm>
          <a:prstGeom prst="rect">
            <a:avLst/>
          </a:prstGeom>
        </p:spPr>
      </p:pic>
      <p:sp>
        <p:nvSpPr>
          <p:cNvPr id="4" name="Text 1"/>
          <p:cNvSpPr/>
          <p:nvPr/>
        </p:nvSpPr>
        <p:spPr>
          <a:xfrm>
            <a:off x="457200" y="5513832"/>
            <a:ext cx="11277295" cy="457200"/>
          </a:xfrm>
          <a:prstGeom prst="rect">
            <a:avLst/>
          </a:prstGeom>
          <a:noFill/>
          <a:ln/>
        </p:spPr>
        <p:txBody>
          <a:bodyPr wrap="square" rtlCol="0" anchor="t"/>
          <a:lstStyle/>
          <a:p>
            <a:pPr algn="l" indent="0" marL="0">
              <a:buNone/>
            </a:pPr>
            <a:r>
              <a:rPr lang="en-US" sz="1200" dirty="0">
                <a:solidFill>
                  <a:srgbClr val="000000"/>
                </a:solidFill>
                <a:latin typeface="Gartner Sans" pitchFamily="34" charset="0"/>
                <a:ea typeface="Gartner Sans" pitchFamily="34" charset="-122"/>
                <a:cs typeface="Gartner Sans" pitchFamily="34" charset="-120"/>
              </a:rPr>
              <a:t>Image source: </a:t>
            </a:r>
            <a:pPr algn="l" indent="0" marL="0">
              <a:buNone/>
            </a:pPr>
            <a:r>
              <a:rPr lang="en-US" sz="1200" u="sng"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Source: Drive Business Agility With Infrastructure Platform Engineering</a:t>
            </a:r>
            <a:endParaRPr lang="en-US" sz="1200" dirty="0"/>
          </a:p>
        </p:txBody>
      </p:sp>
      <p:sp>
        <p:nvSpPr>
          <p:cNvPr id="5"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17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Image Appendix</a:t>
            </a:r>
            <a:endParaRPr lang="en-US" sz="2800" dirty="0"/>
          </a:p>
        </p:txBody>
      </p:sp>
      <p:pic>
        <p:nvPicPr>
          <p:cNvPr id="3" name="Image 0" descr="preencoded.png">    </p:cNvPr>
          <p:cNvPicPr>
            <a:picLocks noChangeAspect="1"/>
          </p:cNvPicPr>
          <p:nvPr/>
        </p:nvPicPr>
        <p:blipFill>
          <a:blip r:embed="rId1"/>
          <a:stretch>
            <a:fillRect/>
          </a:stretch>
        </p:blipFill>
        <p:spPr>
          <a:xfrm>
            <a:off x="457200" y="1097280"/>
            <a:ext cx="7291471" cy="4370832"/>
          </a:xfrm>
          <a:prstGeom prst="rect">
            <a:avLst/>
          </a:prstGeom>
        </p:spPr>
      </p:pic>
      <p:sp>
        <p:nvSpPr>
          <p:cNvPr id="4" name="Text 1"/>
          <p:cNvSpPr/>
          <p:nvPr/>
        </p:nvSpPr>
        <p:spPr>
          <a:xfrm>
            <a:off x="457200" y="5513832"/>
            <a:ext cx="11277295" cy="457200"/>
          </a:xfrm>
          <a:prstGeom prst="rect">
            <a:avLst/>
          </a:prstGeom>
          <a:noFill/>
          <a:ln/>
        </p:spPr>
        <p:txBody>
          <a:bodyPr wrap="square" rtlCol="0" anchor="t"/>
          <a:lstStyle/>
          <a:p>
            <a:pPr algn="l" indent="0" marL="0">
              <a:buNone/>
            </a:pPr>
            <a:r>
              <a:rPr lang="en-US" sz="1200" dirty="0">
                <a:solidFill>
                  <a:srgbClr val="000000"/>
                </a:solidFill>
                <a:latin typeface="Gartner Sans" pitchFamily="34" charset="0"/>
                <a:ea typeface="Gartner Sans" pitchFamily="34" charset="-122"/>
                <a:cs typeface="Gartner Sans" pitchFamily="34" charset="-120"/>
              </a:rPr>
              <a:t>Image source: </a:t>
            </a:r>
            <a:pPr algn="l" indent="0" marL="0">
              <a:buNone/>
            </a:pPr>
            <a:r>
              <a:rPr lang="en-US" sz="1200" u="sng"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Source: Improve the Developer Experience in Infrastructure Platforms With Self-Service</a:t>
            </a:r>
            <a:endParaRPr lang="en-US" sz="1200" dirty="0"/>
          </a:p>
        </p:txBody>
      </p:sp>
      <p:sp>
        <p:nvSpPr>
          <p:cNvPr id="5"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18</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Image Appendix</a:t>
            </a:r>
            <a:endParaRPr lang="en-US" sz="2800" dirty="0"/>
          </a:p>
        </p:txBody>
      </p:sp>
      <p:pic>
        <p:nvPicPr>
          <p:cNvPr id="3" name="Image 0" descr="preencoded.png">    </p:cNvPr>
          <p:cNvPicPr>
            <a:picLocks noChangeAspect="1"/>
          </p:cNvPicPr>
          <p:nvPr/>
        </p:nvPicPr>
        <p:blipFill>
          <a:blip r:embed="rId1"/>
          <a:stretch>
            <a:fillRect/>
          </a:stretch>
        </p:blipFill>
        <p:spPr>
          <a:xfrm>
            <a:off x="457200" y="1097280"/>
            <a:ext cx="5017637" cy="4370832"/>
          </a:xfrm>
          <a:prstGeom prst="rect">
            <a:avLst/>
          </a:prstGeom>
        </p:spPr>
      </p:pic>
      <p:sp>
        <p:nvSpPr>
          <p:cNvPr id="4" name="Text 1"/>
          <p:cNvSpPr/>
          <p:nvPr/>
        </p:nvSpPr>
        <p:spPr>
          <a:xfrm>
            <a:off x="457200" y="5513832"/>
            <a:ext cx="11277295" cy="457200"/>
          </a:xfrm>
          <a:prstGeom prst="rect">
            <a:avLst/>
          </a:prstGeom>
          <a:noFill/>
          <a:ln/>
        </p:spPr>
        <p:txBody>
          <a:bodyPr wrap="square" rtlCol="0" anchor="t"/>
          <a:lstStyle/>
          <a:p>
            <a:pPr algn="l" indent="0" marL="0">
              <a:buNone/>
            </a:pPr>
            <a:r>
              <a:rPr lang="en-US" sz="1200" dirty="0">
                <a:solidFill>
                  <a:srgbClr val="000000"/>
                </a:solidFill>
                <a:latin typeface="Gartner Sans" pitchFamily="34" charset="0"/>
                <a:ea typeface="Gartner Sans" pitchFamily="34" charset="-122"/>
                <a:cs typeface="Gartner Sans" pitchFamily="34" charset="-120"/>
              </a:rPr>
              <a:t>Image source: </a:t>
            </a:r>
            <a:pPr algn="l" indent="0" marL="0">
              <a:buNone/>
            </a:pPr>
            <a:r>
              <a:rPr lang="en-US" sz="1200" u="sng"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Source: Improve the Developer Experience in Infrastructure Platforms With Self-Service</a:t>
            </a:r>
            <a:endParaRPr lang="en-US" sz="1200" dirty="0"/>
          </a:p>
        </p:txBody>
      </p:sp>
      <p:sp>
        <p:nvSpPr>
          <p:cNvPr id="5"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19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365760"/>
            <a:ext cx="12191695" cy="448056"/>
          </a:xfrm>
          <a:prstGeom prst="rect">
            <a:avLst/>
          </a:prstGeom>
          <a:noFill/>
          <a:ln/>
        </p:spPr>
        <p:txBody>
          <a:bodyPr wrap="square" rtlCol="0" anchor="t"/>
          <a:lstStyle/>
          <a:p>
            <a:pPr algn="l" indent="0" marL="0">
              <a:buNone/>
            </a:pPr>
            <a:r>
              <a:rPr lang="en-US" sz="2800" dirty="0">
                <a:solidFill>
                  <a:srgbClr val="002869"/>
                </a:solidFill>
                <a:latin typeface="Gartner Sans Semibold" pitchFamily="34" charset="0"/>
                <a:ea typeface="Gartner Sans Semibold" pitchFamily="34" charset="-122"/>
                <a:cs typeface="Gartner Sans Semibold" pitchFamily="34" charset="-120"/>
              </a:rPr>
              <a:t>Image Appendix</a:t>
            </a:r>
            <a:endParaRPr lang="en-US" sz="2800" dirty="0"/>
          </a:p>
        </p:txBody>
      </p:sp>
      <p:pic>
        <p:nvPicPr>
          <p:cNvPr id="3" name="Image 0" descr="preencoded.png">    </p:cNvPr>
          <p:cNvPicPr>
            <a:picLocks noChangeAspect="1"/>
          </p:cNvPicPr>
          <p:nvPr/>
        </p:nvPicPr>
        <p:blipFill>
          <a:blip r:embed="rId1"/>
          <a:stretch>
            <a:fillRect/>
          </a:stretch>
        </p:blipFill>
        <p:spPr>
          <a:xfrm>
            <a:off x="457200" y="1097280"/>
            <a:ext cx="5358874" cy="4370832"/>
          </a:xfrm>
          <a:prstGeom prst="rect">
            <a:avLst/>
          </a:prstGeom>
        </p:spPr>
      </p:pic>
      <p:sp>
        <p:nvSpPr>
          <p:cNvPr id="4" name="Text 1"/>
          <p:cNvSpPr/>
          <p:nvPr/>
        </p:nvSpPr>
        <p:spPr>
          <a:xfrm>
            <a:off x="457200" y="5513832"/>
            <a:ext cx="11277295" cy="457200"/>
          </a:xfrm>
          <a:prstGeom prst="rect">
            <a:avLst/>
          </a:prstGeom>
          <a:noFill/>
          <a:ln/>
        </p:spPr>
        <p:txBody>
          <a:bodyPr wrap="square" rtlCol="0" anchor="t"/>
          <a:lstStyle/>
          <a:p>
            <a:pPr algn="l" indent="0" marL="0">
              <a:buNone/>
            </a:pPr>
            <a:r>
              <a:rPr lang="en-US" sz="1200" dirty="0">
                <a:solidFill>
                  <a:srgbClr val="000000"/>
                </a:solidFill>
                <a:latin typeface="Gartner Sans" pitchFamily="34" charset="0"/>
                <a:ea typeface="Gartner Sans" pitchFamily="34" charset="-122"/>
                <a:cs typeface="Gartner Sans" pitchFamily="34" charset="-120"/>
              </a:rPr>
              <a:t>Image source: </a:t>
            </a:r>
            <a:pPr algn="l" indent="0" marL="0">
              <a:buNone/>
            </a:pPr>
            <a:r>
              <a:rPr lang="en-US" sz="1200" u="sng" dirty="0">
                <a:solidFill>
                  <a:srgbClr val="0563C1"/>
                </a:solidFill>
                <a:latin typeface="Gartner Sans" pitchFamily="34" charset="0"/>
                <a:ea typeface="Gartner Sans" pitchFamily="34" charset="-122"/>
                <a:cs typeface="Gartner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Source: Quick Answer: How Can I&amp;O Leaders in China Establish Effective Infrastructure P...</a:t>
            </a:r>
            <a:endParaRPr lang="en-US" sz="1200" dirty="0"/>
          </a:p>
        </p:txBody>
      </p:sp>
      <p:sp>
        <p:nvSpPr>
          <p:cNvPr id="5" name="Text 2"/>
          <p:cNvSpPr/>
          <p:nvPr/>
        </p:nvSpPr>
        <p:spPr>
          <a:xfrm>
            <a:off x="457200" y="6391656"/>
            <a:ext cx="502920" cy="155448"/>
          </a:xfrm>
          <a:prstGeom prst="rect">
            <a:avLst/>
          </a:prstGeom>
          <a:noFill/>
          <a:ln/>
        </p:spPr>
        <p:txBody>
          <a:bodyPr wrap="square" rtlCol="0" anchor="ctr"/>
          <a:lstStyle/>
          <a:p>
            <a:pPr algn="l" indent="0" marL="0">
              <a:buNone/>
            </a:pPr>
            <a:r>
              <a:rPr lang="en-US" sz="700" dirty="0">
                <a:solidFill>
                  <a:srgbClr val="000000"/>
                </a:solidFill>
                <a:latin typeface="Gartner Sans" pitchFamily="34" charset="0"/>
                <a:ea typeface="Gartner Sans" pitchFamily="34" charset="-122"/>
                <a:cs typeface="Gartner Sans" pitchFamily="34" charset="-120"/>
              </a:rPr>
              <a:t>20</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Gartner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Ask Gartner</dc:title>
  <dc:subject>Ask Gartner Presentation</dc:subject>
  <dc:creator>Gartner</dc:creator>
  <cp:lastModifiedBy>Gartner</cp:lastModifiedBy>
  <cp:revision>1</cp:revision>
  <dcterms:created xsi:type="dcterms:W3CDTF">2026-08-10T02:59:12Z</dcterms:created>
  <dcterms:modified xsi:type="dcterms:W3CDTF">2026-08-10T02:59:12Z</dcterms:modified>
</cp:coreProperties>
</file>