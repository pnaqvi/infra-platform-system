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855"/>
    <a:srgbClr val="FF540A"/>
    <a:srgbClr val="D9D9D9"/>
    <a:srgbClr val="6F7878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D99FA-110B-E44D-9EDD-037540DEAEDF}" v="57" dt="2025-09-24T16:55:05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7"/>
    <p:restoredTop sz="94742"/>
  </p:normalViewPr>
  <p:slideViewPr>
    <p:cSldViewPr snapToGrid="0">
      <p:cViewPr varScale="1">
        <p:scale>
          <a:sx n="143" d="100"/>
          <a:sy n="143" d="100"/>
        </p:scale>
        <p:origin x="22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5B9C0-C560-E74A-BB08-A1E2D2783FCD}" type="datetimeFigureOut">
              <a:rPr lang="en-NL" smtClean="0"/>
              <a:t>9/24/25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687D1-79C5-8748-B85C-311AC49F177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4795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A4CF-D2A9-3C19-00E1-C9BDAB9D6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E453B-DC9D-2B8A-5503-BB05E21D4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1B833-1C13-2982-56E6-331AE55DB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9A498-3C9A-FC57-93D2-81BCF017C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EBB31-0625-D14C-957D-F563666CC433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295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1FAA-8065-A28A-F7FF-BF1A17E3B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9D3A7-903D-B2DB-B838-1986C358B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6019-2CB2-8C19-E417-E2F9B2DE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678D0-24C1-45A0-95C0-2700DFC5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41FAA-1E66-2AF1-8CD5-B5F3B412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4537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5D5D4-D5E8-E833-292C-D190D810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7A02-8F0A-98F0-FF59-40DAB3FED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DDF99-25C4-39FD-88EF-5424F17C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37E73-9ED2-970A-5757-522AEA2B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88A68-6BF4-5744-7EDB-972D40C6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5465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BF12-2D53-3E63-BEF2-73E7F7D0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828E8-A570-54AF-BCED-83C26B468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233AA-2E5C-AD7E-015F-D71390E5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82679-4C5C-C739-D7A1-86C5828A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82CB4-62A7-B615-C06D-7B8EF91D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206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F06A-B139-CA4A-7662-65F67B36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87244-3BAB-CD7E-3B9C-124DB6F6E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05E86-A9D3-6FA0-D85F-4458EE283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82CE5-ED8E-4A18-AC3B-B8CCA4B4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6E0D3-8FD3-FEAE-DD75-613DFB49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39EA-221D-F651-0209-FF707CF4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727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6D25-6940-125A-0AB7-156E0CDD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9B331-F783-F629-73B8-86DDC7C04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D5450-A09D-4A55-BE5E-3BF88865B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7F878-3CAA-A634-9F5E-9D52190DF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B4450B-5B1E-43B8-4B16-701BA8F2F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C0783-0D96-69C3-B17A-FA49864F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25970C-A6D8-8973-2050-6860F8E4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E08134-5098-2585-1897-71AF1D71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518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7A9E-F68B-A26D-FDB6-EE5F5E96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B35E9-2E83-4D27-F135-542DBC55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300DB-A192-435F-8CA5-EE36AF38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C0649-8670-7CB1-9721-422467E7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7907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F82F3-3349-B34C-190D-E0FD0315E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0899A-3D92-53FB-461F-1D6A4CCC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2423-BD01-A753-5852-19623F8C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60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A8BE-DB2B-D2A5-38BD-9E2C74A1A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A575-CBE7-BC88-D7B4-BB54C9168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6ACA9-6A5A-ED57-3E33-9490A85CA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5D8DA-25FF-6AC5-8C1B-E1A44F8D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AE8A1-E2D3-85C3-6E3F-F14D7132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34533-E8B8-66B6-2211-468C9C0F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26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5FE9-7990-ABD8-655C-338EBAE8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D4A220-FB92-680E-59FD-D7761F4D4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94618-CD8E-9D91-B8DC-C8E1BD0E4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3E055-23E6-04CC-BA3A-1DE19EC6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74F9D-6992-C53E-5937-28A5C907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F2AF5-39FC-27FF-5F03-9B8B6503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3617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A11B-1548-A2CB-00B9-A415068B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89941-8173-CFB8-97F4-72A537429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48E93-126E-2123-E0D2-664FD7DB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BFF32-9B21-E795-07CC-9D8AF926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B280C-A240-0FAE-840D-B2251D13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8248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184963-6903-F8F1-7FBA-BB1499D11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1BE82-05F3-7B45-6048-4301B1FE5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FFC38-BB82-DBC0-1E77-B36DBCD2D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5ECFE-7B36-77B9-527F-460CECBD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0922F-CD56-D0C6-81EE-2E241AC8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156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Title Only">
  <p:cSld name="04 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>
            <a:spLocks noGrp="1"/>
          </p:cNvSpPr>
          <p:nvPr>
            <p:ph type="title"/>
          </p:nvPr>
        </p:nvSpPr>
        <p:spPr>
          <a:xfrm>
            <a:off x="457205" y="366713"/>
            <a:ext cx="11276036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487685" y="6386467"/>
            <a:ext cx="172845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8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DD456-3F39-EBA7-EEC4-15C2F6DE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7F719-4EF6-6C0B-A2F1-214C51AF1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1119F-0CEB-141B-B293-094F70196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91E25-B1EE-CA46-8319-510FCF452208}" type="datetimeFigureOut">
              <a:rPr lang="en-NL" smtClean="0"/>
              <a:t>9/24/25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46947-C2D5-1AFF-5FCD-917028B06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3B68D-B380-2821-3BD0-4BFB995FD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2275-7549-3D45-8EF7-0C96028BF80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085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sv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63" Type="http://schemas.openxmlformats.org/officeDocument/2006/relationships/image" Target="../media/image6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svg"/><Relationship Id="rId58" Type="http://schemas.openxmlformats.org/officeDocument/2006/relationships/image" Target="../media/image56.png"/><Relationship Id="rId5" Type="http://schemas.openxmlformats.org/officeDocument/2006/relationships/image" Target="../media/image3.png"/><Relationship Id="rId61" Type="http://schemas.openxmlformats.org/officeDocument/2006/relationships/image" Target="../media/image59.svg"/><Relationship Id="rId19" Type="http://schemas.openxmlformats.org/officeDocument/2006/relationships/image" Target="../media/image1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8" Type="http://schemas.openxmlformats.org/officeDocument/2006/relationships/image" Target="../media/image6.png"/><Relationship Id="rId51" Type="http://schemas.openxmlformats.org/officeDocument/2006/relationships/image" Target="../media/image49.sv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59" Type="http://schemas.openxmlformats.org/officeDocument/2006/relationships/image" Target="../media/image57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svg"/><Relationship Id="rId49" Type="http://schemas.openxmlformats.org/officeDocument/2006/relationships/image" Target="../media/image47.svg"/><Relationship Id="rId57" Type="http://schemas.openxmlformats.org/officeDocument/2006/relationships/image" Target="../media/image55.sv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6077D-C923-B3E1-D82C-59F2A8553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Freeform 18">
            <a:extLst>
              <a:ext uri="{FF2B5EF4-FFF2-40B4-BE49-F238E27FC236}">
                <a16:creationId xmlns:a16="http://schemas.microsoft.com/office/drawing/2014/main" id="{F2844B47-E23D-8721-F9E0-614ABC16295D}"/>
              </a:ext>
            </a:extLst>
          </p:cNvPr>
          <p:cNvSpPr/>
          <p:nvPr/>
        </p:nvSpPr>
        <p:spPr>
          <a:xfrm>
            <a:off x="4081800" y="2532622"/>
            <a:ext cx="4523039" cy="2671476"/>
          </a:xfrm>
          <a:custGeom>
            <a:avLst/>
            <a:gdLst/>
            <a:ahLst/>
            <a:cxnLst/>
            <a:rect l="l" t="t" r="r" b="b"/>
            <a:pathLst>
              <a:path w="1211923" h="4003180">
                <a:moveTo>
                  <a:pt x="0" y="4003180"/>
                </a:moveTo>
                <a:lnTo>
                  <a:pt x="1211923" y="4003180"/>
                </a:lnTo>
                <a:lnTo>
                  <a:pt x="12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DCF8"/>
          </a:solidFill>
          <a:ln>
            <a:solidFill>
              <a:srgbClr val="00B0F0"/>
            </a:solidFill>
          </a:ln>
        </p:spPr>
        <p:txBody>
          <a:bodyPr/>
          <a:lstStyle/>
          <a:p>
            <a:endParaRPr lang="en-CN" sz="16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" name="Freeform 94">
            <a:extLst>
              <a:ext uri="{FF2B5EF4-FFF2-40B4-BE49-F238E27FC236}">
                <a16:creationId xmlns:a16="http://schemas.microsoft.com/office/drawing/2014/main" id="{59987F07-C6ED-991D-3F03-2D281A2F4758}"/>
              </a:ext>
            </a:extLst>
          </p:cNvPr>
          <p:cNvSpPr/>
          <p:nvPr/>
        </p:nvSpPr>
        <p:spPr>
          <a:xfrm>
            <a:off x="4146822" y="3398673"/>
            <a:ext cx="892870" cy="1397943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tx2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" name="Freeform 94">
            <a:extLst>
              <a:ext uri="{FF2B5EF4-FFF2-40B4-BE49-F238E27FC236}">
                <a16:creationId xmlns:a16="http://schemas.microsoft.com/office/drawing/2014/main" id="{71B68CCF-842D-32F0-B34F-136B00FD0909}"/>
              </a:ext>
            </a:extLst>
          </p:cNvPr>
          <p:cNvSpPr/>
          <p:nvPr/>
        </p:nvSpPr>
        <p:spPr>
          <a:xfrm>
            <a:off x="5363618" y="4728677"/>
            <a:ext cx="3160309" cy="370452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3" name="Freeform 94">
            <a:extLst>
              <a:ext uri="{FF2B5EF4-FFF2-40B4-BE49-F238E27FC236}">
                <a16:creationId xmlns:a16="http://schemas.microsoft.com/office/drawing/2014/main" id="{0AA36F8E-322B-B28E-6F2D-0ADD0EC74932}"/>
              </a:ext>
            </a:extLst>
          </p:cNvPr>
          <p:cNvSpPr/>
          <p:nvPr/>
        </p:nvSpPr>
        <p:spPr>
          <a:xfrm>
            <a:off x="1658892" y="3765860"/>
            <a:ext cx="2076379" cy="1667834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rgbClr val="002855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4" name="Freeform 95">
            <a:extLst>
              <a:ext uri="{FF2B5EF4-FFF2-40B4-BE49-F238E27FC236}">
                <a16:creationId xmlns:a16="http://schemas.microsoft.com/office/drawing/2014/main" id="{9F7024CF-928B-0192-CF41-2C8670CDDD80}"/>
              </a:ext>
            </a:extLst>
          </p:cNvPr>
          <p:cNvSpPr/>
          <p:nvPr/>
        </p:nvSpPr>
        <p:spPr>
          <a:xfrm>
            <a:off x="1659567" y="3479313"/>
            <a:ext cx="2075704" cy="290614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855"/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Freeform 94">
            <a:extLst>
              <a:ext uri="{FF2B5EF4-FFF2-40B4-BE49-F238E27FC236}">
                <a16:creationId xmlns:a16="http://schemas.microsoft.com/office/drawing/2014/main" id="{90B8D16F-5767-6FBC-FAE0-1CA00F69292C}"/>
              </a:ext>
            </a:extLst>
          </p:cNvPr>
          <p:cNvSpPr/>
          <p:nvPr/>
        </p:nvSpPr>
        <p:spPr>
          <a:xfrm>
            <a:off x="5363618" y="4547196"/>
            <a:ext cx="3160309" cy="554945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tx2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" name="Freeform 94">
            <a:extLst>
              <a:ext uri="{FF2B5EF4-FFF2-40B4-BE49-F238E27FC236}">
                <a16:creationId xmlns:a16="http://schemas.microsoft.com/office/drawing/2014/main" id="{0B460968-A7D8-722A-E39E-FF7C83B825B0}"/>
              </a:ext>
            </a:extLst>
          </p:cNvPr>
          <p:cNvSpPr/>
          <p:nvPr/>
        </p:nvSpPr>
        <p:spPr>
          <a:xfrm>
            <a:off x="5354625" y="3907305"/>
            <a:ext cx="3169302" cy="509569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rgbClr val="002855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Freeform 95">
            <a:extLst>
              <a:ext uri="{FF2B5EF4-FFF2-40B4-BE49-F238E27FC236}">
                <a16:creationId xmlns:a16="http://schemas.microsoft.com/office/drawing/2014/main" id="{D8F1F970-A67C-C63E-9E7D-C88B3B924EF3}"/>
              </a:ext>
            </a:extLst>
          </p:cNvPr>
          <p:cNvSpPr/>
          <p:nvPr/>
        </p:nvSpPr>
        <p:spPr>
          <a:xfrm>
            <a:off x="5345634" y="3711378"/>
            <a:ext cx="3187286" cy="255919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855"/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B6B975-BD4A-4C86-C32E-1F96B4EE4A38}"/>
              </a:ext>
            </a:extLst>
          </p:cNvPr>
          <p:cNvSpPr txBox="1"/>
          <p:nvPr/>
        </p:nvSpPr>
        <p:spPr>
          <a:xfrm>
            <a:off x="2473950" y="202546"/>
            <a:ext cx="6856214" cy="279327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algn="ctr"/>
            <a:r>
              <a:rPr lang="en-US" sz="2000" b="1" dirty="0">
                <a:solidFill>
                  <a:srgbClr val="002855"/>
                </a:solidFill>
                <a:latin typeface="Arial" panose="020B0604020202020204" pitchFamily="34" charset="0"/>
              </a:rPr>
              <a:t>Reference Architecture Brief for Infrastructure Platform Engineering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CBB4CE5-FD7E-DF68-8A50-1CDE0200FFBD}"/>
              </a:ext>
            </a:extLst>
          </p:cNvPr>
          <p:cNvSpPr/>
          <p:nvPr/>
        </p:nvSpPr>
        <p:spPr>
          <a:xfrm>
            <a:off x="9023315" y="2221382"/>
            <a:ext cx="1066069" cy="28089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95">
            <a:extLst>
              <a:ext uri="{FF2B5EF4-FFF2-40B4-BE49-F238E27FC236}">
                <a16:creationId xmlns:a16="http://schemas.microsoft.com/office/drawing/2014/main" id="{3C664D45-9898-5240-1D63-73B14ACA5D85}"/>
              </a:ext>
            </a:extLst>
          </p:cNvPr>
          <p:cNvSpPr/>
          <p:nvPr/>
        </p:nvSpPr>
        <p:spPr>
          <a:xfrm>
            <a:off x="4107918" y="5426347"/>
            <a:ext cx="2393215" cy="307106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22158B-8049-333F-DB25-62B0B13E291B}"/>
              </a:ext>
            </a:extLst>
          </p:cNvPr>
          <p:cNvSpPr txBox="1"/>
          <p:nvPr/>
        </p:nvSpPr>
        <p:spPr>
          <a:xfrm>
            <a:off x="4589326" y="5417039"/>
            <a:ext cx="1579586" cy="245345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security </a:t>
            </a:r>
          </a:p>
          <a:p>
            <a:pPr algn="ctr"/>
            <a:r>
              <a:rPr lang="en-US" sz="10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compliance</a:t>
            </a:r>
          </a:p>
        </p:txBody>
      </p:sp>
      <p:sp>
        <p:nvSpPr>
          <p:cNvPr id="20" name="Freeform 95">
            <a:extLst>
              <a:ext uri="{FF2B5EF4-FFF2-40B4-BE49-F238E27FC236}">
                <a16:creationId xmlns:a16="http://schemas.microsoft.com/office/drawing/2014/main" id="{CD237209-4CBA-C244-4399-4A4CBF18716A}"/>
              </a:ext>
            </a:extLst>
          </p:cNvPr>
          <p:cNvSpPr/>
          <p:nvPr/>
        </p:nvSpPr>
        <p:spPr>
          <a:xfrm>
            <a:off x="6636141" y="5426816"/>
            <a:ext cx="1896780" cy="303958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42E3A-1AB2-2389-38A4-0E3CAF29F2B6}"/>
              </a:ext>
            </a:extLst>
          </p:cNvPr>
          <p:cNvSpPr txBox="1"/>
          <p:nvPr/>
        </p:nvSpPr>
        <p:spPr>
          <a:xfrm>
            <a:off x="6636140" y="5436695"/>
            <a:ext cx="1887787" cy="41078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troubleshooting &amp; observability</a:t>
            </a: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10F1FEE4-4914-BE6A-6D78-6AF15D50B2B9}"/>
              </a:ext>
            </a:extLst>
          </p:cNvPr>
          <p:cNvSpPr/>
          <p:nvPr/>
        </p:nvSpPr>
        <p:spPr>
          <a:xfrm>
            <a:off x="6407518" y="1782097"/>
            <a:ext cx="289186" cy="217774"/>
          </a:xfrm>
          <a:custGeom>
            <a:avLst/>
            <a:gdLst/>
            <a:ahLst/>
            <a:cxnLst/>
            <a:rect l="l" t="t" r="r" b="b"/>
            <a:pathLst>
              <a:path w="308606" h="282004">
                <a:moveTo>
                  <a:pt x="36004" y="261430"/>
                </a:moveTo>
                <a:lnTo>
                  <a:pt x="36004" y="199708"/>
                </a:lnTo>
                <a:lnTo>
                  <a:pt x="56578" y="199708"/>
                </a:lnTo>
                <a:lnTo>
                  <a:pt x="56578" y="226314"/>
                </a:lnTo>
                <a:lnTo>
                  <a:pt x="82296" y="200597"/>
                </a:lnTo>
                <a:lnTo>
                  <a:pt x="82296" y="194564"/>
                </a:lnTo>
                <a:lnTo>
                  <a:pt x="82296" y="189421"/>
                </a:lnTo>
                <a:lnTo>
                  <a:pt x="82296" y="149060"/>
                </a:lnTo>
                <a:lnTo>
                  <a:pt x="102869" y="149060"/>
                </a:lnTo>
                <a:lnTo>
                  <a:pt x="102869" y="189421"/>
                </a:lnTo>
                <a:lnTo>
                  <a:pt x="102869" y="194564"/>
                </a:lnTo>
                <a:lnTo>
                  <a:pt x="102869" y="209106"/>
                </a:lnTo>
                <a:lnTo>
                  <a:pt x="71119" y="240856"/>
                </a:lnTo>
                <a:lnTo>
                  <a:pt x="97726" y="240856"/>
                </a:lnTo>
                <a:lnTo>
                  <a:pt x="97726" y="261430"/>
                </a:lnTo>
                <a:close/>
                <a:moveTo>
                  <a:pt x="154304" y="282004"/>
                </a:moveTo>
                <a:lnTo>
                  <a:pt x="110667" y="238367"/>
                </a:lnTo>
                <a:lnTo>
                  <a:pt x="125209" y="223813"/>
                </a:lnTo>
                <a:lnTo>
                  <a:pt x="144017" y="242621"/>
                </a:lnTo>
                <a:lnTo>
                  <a:pt x="144017" y="194564"/>
                </a:lnTo>
                <a:lnTo>
                  <a:pt x="144017" y="189421"/>
                </a:lnTo>
                <a:lnTo>
                  <a:pt x="144017" y="149060"/>
                </a:lnTo>
                <a:lnTo>
                  <a:pt x="164591" y="149060"/>
                </a:lnTo>
                <a:lnTo>
                  <a:pt x="164591" y="189421"/>
                </a:lnTo>
                <a:lnTo>
                  <a:pt x="164591" y="194564"/>
                </a:lnTo>
                <a:lnTo>
                  <a:pt x="164591" y="242621"/>
                </a:lnTo>
                <a:lnTo>
                  <a:pt x="183400" y="223813"/>
                </a:lnTo>
                <a:lnTo>
                  <a:pt x="197942" y="238367"/>
                </a:lnTo>
                <a:lnTo>
                  <a:pt x="154304" y="282004"/>
                </a:lnTo>
                <a:close/>
                <a:moveTo>
                  <a:pt x="210883" y="261430"/>
                </a:moveTo>
                <a:lnTo>
                  <a:pt x="210883" y="240856"/>
                </a:lnTo>
                <a:lnTo>
                  <a:pt x="237477" y="240856"/>
                </a:lnTo>
                <a:lnTo>
                  <a:pt x="205739" y="209106"/>
                </a:lnTo>
                <a:lnTo>
                  <a:pt x="205739" y="189421"/>
                </a:lnTo>
                <a:lnTo>
                  <a:pt x="205739" y="149060"/>
                </a:lnTo>
                <a:lnTo>
                  <a:pt x="226314" y="149060"/>
                </a:lnTo>
                <a:lnTo>
                  <a:pt x="226314" y="194564"/>
                </a:lnTo>
                <a:lnTo>
                  <a:pt x="226314" y="200597"/>
                </a:lnTo>
                <a:lnTo>
                  <a:pt x="252031" y="226314"/>
                </a:lnTo>
                <a:lnTo>
                  <a:pt x="252031" y="199708"/>
                </a:lnTo>
                <a:lnTo>
                  <a:pt x="272605" y="199708"/>
                </a:lnTo>
                <a:lnTo>
                  <a:pt x="272605" y="261430"/>
                </a:lnTo>
                <a:close/>
                <a:moveTo>
                  <a:pt x="61722" y="169736"/>
                </a:moveTo>
                <a:cubicBezTo>
                  <a:pt x="27686" y="169736"/>
                  <a:pt x="0" y="142050"/>
                  <a:pt x="0" y="108014"/>
                </a:cubicBezTo>
                <a:cubicBezTo>
                  <a:pt x="0" y="73978"/>
                  <a:pt x="27686" y="46292"/>
                  <a:pt x="61722" y="46292"/>
                </a:cubicBezTo>
                <a:cubicBezTo>
                  <a:pt x="63283" y="46292"/>
                  <a:pt x="64845" y="46355"/>
                  <a:pt x="66395" y="46470"/>
                </a:cubicBezTo>
                <a:cubicBezTo>
                  <a:pt x="76720" y="19330"/>
                  <a:pt x="103009" y="0"/>
                  <a:pt x="133730" y="0"/>
                </a:cubicBezTo>
                <a:cubicBezTo>
                  <a:pt x="159118" y="0"/>
                  <a:pt x="181724" y="13234"/>
                  <a:pt x="194564" y="33490"/>
                </a:cubicBezTo>
                <a:cubicBezTo>
                  <a:pt x="199733" y="31763"/>
                  <a:pt x="205231" y="30862"/>
                  <a:pt x="210883" y="30862"/>
                </a:cubicBezTo>
                <a:cubicBezTo>
                  <a:pt x="233896" y="30862"/>
                  <a:pt x="253428" y="46051"/>
                  <a:pt x="259982" y="66942"/>
                </a:cubicBezTo>
                <a:cubicBezTo>
                  <a:pt x="286835" y="68391"/>
                  <a:pt x="308275" y="90534"/>
                  <a:pt x="308606" y="117664"/>
                </a:cubicBezTo>
                <a:lnTo>
                  <a:pt x="308606" y="117664"/>
                </a:lnTo>
                <a:lnTo>
                  <a:pt x="308606" y="118936"/>
                </a:lnTo>
                <a:lnTo>
                  <a:pt x="308606" y="118936"/>
                </a:lnTo>
                <a:cubicBezTo>
                  <a:pt x="308264" y="147004"/>
                  <a:pt x="285321" y="169736"/>
                  <a:pt x="257175" y="169736"/>
                </a:cubicBezTo>
                <a:lnTo>
                  <a:pt x="246888" y="169736"/>
                </a:lnTo>
                <a:lnTo>
                  <a:pt x="246888" y="149162"/>
                </a:lnTo>
                <a:lnTo>
                  <a:pt x="257175" y="149162"/>
                </a:lnTo>
                <a:cubicBezTo>
                  <a:pt x="274218" y="149162"/>
                  <a:pt x="288036" y="135332"/>
                  <a:pt x="288036" y="118301"/>
                </a:cubicBezTo>
                <a:cubicBezTo>
                  <a:pt x="288036" y="101245"/>
                  <a:pt x="274218" y="87440"/>
                  <a:pt x="257175" y="87440"/>
                </a:cubicBezTo>
                <a:cubicBezTo>
                  <a:pt x="250774" y="87440"/>
                  <a:pt x="244830" y="89383"/>
                  <a:pt x="239902" y="92723"/>
                </a:cubicBezTo>
                <a:lnTo>
                  <a:pt x="239902" y="92723"/>
                </a:lnTo>
                <a:cubicBezTo>
                  <a:pt x="241071" y="89459"/>
                  <a:pt x="241744" y="85954"/>
                  <a:pt x="241744" y="82296"/>
                </a:cubicBezTo>
                <a:cubicBezTo>
                  <a:pt x="241744" y="65253"/>
                  <a:pt x="227926" y="51436"/>
                  <a:pt x="210883" y="51436"/>
                </a:cubicBezTo>
                <a:cubicBezTo>
                  <a:pt x="199872" y="51436"/>
                  <a:pt x="190233" y="57214"/>
                  <a:pt x="184771" y="65901"/>
                </a:cubicBezTo>
                <a:cubicBezTo>
                  <a:pt x="181749" y="40374"/>
                  <a:pt x="160071" y="20574"/>
                  <a:pt x="133730" y="20574"/>
                </a:cubicBezTo>
                <a:cubicBezTo>
                  <a:pt x="105320" y="20574"/>
                  <a:pt x="82296" y="43600"/>
                  <a:pt x="82296" y="72009"/>
                </a:cubicBezTo>
                <a:cubicBezTo>
                  <a:pt x="82296" y="72149"/>
                  <a:pt x="82321" y="72289"/>
                  <a:pt x="82321" y="72416"/>
                </a:cubicBezTo>
                <a:lnTo>
                  <a:pt x="82321" y="72416"/>
                </a:lnTo>
                <a:cubicBezTo>
                  <a:pt x="76263" y="68898"/>
                  <a:pt x="69227" y="66866"/>
                  <a:pt x="61722" y="66866"/>
                </a:cubicBezTo>
                <a:cubicBezTo>
                  <a:pt x="39001" y="66866"/>
                  <a:pt x="20574" y="85281"/>
                  <a:pt x="20574" y="108014"/>
                </a:cubicBezTo>
                <a:cubicBezTo>
                  <a:pt x="20574" y="130734"/>
                  <a:pt x="39001" y="149162"/>
                  <a:pt x="61722" y="149162"/>
                </a:cubicBezTo>
                <a:lnTo>
                  <a:pt x="61722" y="169736"/>
                </a:lnTo>
                <a:close/>
              </a:path>
            </a:pathLst>
          </a:custGeom>
          <a:solidFill>
            <a:srgbClr val="002855"/>
          </a:solidFill>
          <a:ln>
            <a:solidFill>
              <a:srgbClr val="002856"/>
            </a:solidFill>
          </a:ln>
        </p:spPr>
        <p:txBody>
          <a:bodyPr/>
          <a:lstStyle/>
          <a:p>
            <a:endParaRPr lang="en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55DD12CB-9D83-84ED-3D62-0281237B486D}"/>
              </a:ext>
            </a:extLst>
          </p:cNvPr>
          <p:cNvSpPr/>
          <p:nvPr/>
        </p:nvSpPr>
        <p:spPr>
          <a:xfrm>
            <a:off x="5443804" y="6270986"/>
            <a:ext cx="232573" cy="240731"/>
          </a:xfrm>
          <a:custGeom>
            <a:avLst/>
            <a:gdLst/>
            <a:ahLst/>
            <a:cxnLst/>
            <a:rect l="l" t="t" r="r" b="b"/>
            <a:pathLst>
              <a:path w="326479" h="313792">
                <a:moveTo>
                  <a:pt x="308521" y="0"/>
                </a:moveTo>
                <a:lnTo>
                  <a:pt x="286855" y="21678"/>
                </a:lnTo>
                <a:lnTo>
                  <a:pt x="165113" y="21678"/>
                </a:lnTo>
                <a:lnTo>
                  <a:pt x="165113" y="148678"/>
                </a:lnTo>
                <a:lnTo>
                  <a:pt x="292113" y="148678"/>
                </a:lnTo>
                <a:lnTo>
                  <a:pt x="292113" y="52336"/>
                </a:lnTo>
                <a:lnTo>
                  <a:pt x="326479" y="17957"/>
                </a:lnTo>
                <a:close/>
                <a:moveTo>
                  <a:pt x="190513" y="47078"/>
                </a:moveTo>
                <a:lnTo>
                  <a:pt x="261442" y="47078"/>
                </a:lnTo>
                <a:lnTo>
                  <a:pt x="228599" y="79921"/>
                </a:lnTo>
                <a:lnTo>
                  <a:pt x="212179" y="63500"/>
                </a:lnTo>
                <a:lnTo>
                  <a:pt x="194221" y="81457"/>
                </a:lnTo>
                <a:lnTo>
                  <a:pt x="228599" y="115849"/>
                </a:lnTo>
                <a:lnTo>
                  <a:pt x="266699" y="77749"/>
                </a:lnTo>
                <a:lnTo>
                  <a:pt x="266699" y="123278"/>
                </a:lnTo>
                <a:lnTo>
                  <a:pt x="190513" y="123278"/>
                </a:lnTo>
                <a:close/>
                <a:moveTo>
                  <a:pt x="143421" y="0"/>
                </a:moveTo>
                <a:lnTo>
                  <a:pt x="121742" y="21678"/>
                </a:lnTo>
                <a:lnTo>
                  <a:pt x="0" y="21678"/>
                </a:lnTo>
                <a:lnTo>
                  <a:pt x="0" y="148678"/>
                </a:lnTo>
                <a:lnTo>
                  <a:pt x="126999" y="148678"/>
                </a:lnTo>
                <a:lnTo>
                  <a:pt x="126999" y="52336"/>
                </a:lnTo>
                <a:lnTo>
                  <a:pt x="161379" y="17957"/>
                </a:lnTo>
                <a:close/>
                <a:moveTo>
                  <a:pt x="25400" y="47078"/>
                </a:moveTo>
                <a:lnTo>
                  <a:pt x="96329" y="47078"/>
                </a:lnTo>
                <a:lnTo>
                  <a:pt x="63513" y="79921"/>
                </a:lnTo>
                <a:lnTo>
                  <a:pt x="47079" y="63500"/>
                </a:lnTo>
                <a:lnTo>
                  <a:pt x="29121" y="81457"/>
                </a:lnTo>
                <a:lnTo>
                  <a:pt x="63513" y="115849"/>
                </a:lnTo>
                <a:lnTo>
                  <a:pt x="101600" y="77749"/>
                </a:lnTo>
                <a:lnTo>
                  <a:pt x="101600" y="123278"/>
                </a:lnTo>
                <a:lnTo>
                  <a:pt x="25400" y="123278"/>
                </a:lnTo>
                <a:close/>
                <a:moveTo>
                  <a:pt x="121742" y="186778"/>
                </a:moveTo>
                <a:lnTo>
                  <a:pt x="0" y="186778"/>
                </a:lnTo>
                <a:lnTo>
                  <a:pt x="0" y="313791"/>
                </a:lnTo>
                <a:lnTo>
                  <a:pt x="126999" y="313791"/>
                </a:lnTo>
                <a:lnTo>
                  <a:pt x="126999" y="217449"/>
                </a:lnTo>
                <a:lnTo>
                  <a:pt x="161379" y="183057"/>
                </a:lnTo>
                <a:lnTo>
                  <a:pt x="143421" y="165112"/>
                </a:lnTo>
                <a:close/>
                <a:moveTo>
                  <a:pt x="25400" y="212191"/>
                </a:moveTo>
                <a:lnTo>
                  <a:pt x="96342" y="212191"/>
                </a:lnTo>
                <a:lnTo>
                  <a:pt x="63513" y="245021"/>
                </a:lnTo>
                <a:lnTo>
                  <a:pt x="47079" y="228600"/>
                </a:lnTo>
                <a:lnTo>
                  <a:pt x="29121" y="246557"/>
                </a:lnTo>
                <a:lnTo>
                  <a:pt x="63513" y="280936"/>
                </a:lnTo>
                <a:lnTo>
                  <a:pt x="101600" y="242836"/>
                </a:lnTo>
                <a:lnTo>
                  <a:pt x="101600" y="288378"/>
                </a:lnTo>
                <a:lnTo>
                  <a:pt x="25400" y="288378"/>
                </a:lnTo>
                <a:close/>
                <a:moveTo>
                  <a:pt x="165113" y="313791"/>
                </a:moveTo>
                <a:lnTo>
                  <a:pt x="292113" y="313791"/>
                </a:lnTo>
                <a:lnTo>
                  <a:pt x="292113" y="186778"/>
                </a:lnTo>
                <a:lnTo>
                  <a:pt x="165113" y="186778"/>
                </a:lnTo>
                <a:close/>
                <a:moveTo>
                  <a:pt x="190513" y="212191"/>
                </a:moveTo>
                <a:lnTo>
                  <a:pt x="266699" y="212191"/>
                </a:lnTo>
                <a:lnTo>
                  <a:pt x="266699" y="288378"/>
                </a:lnTo>
                <a:lnTo>
                  <a:pt x="190513" y="288378"/>
                </a:ln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43DCC-3436-A0A4-0269-F4CF981AA86B}"/>
              </a:ext>
            </a:extLst>
          </p:cNvPr>
          <p:cNvSpPr txBox="1"/>
          <p:nvPr/>
        </p:nvSpPr>
        <p:spPr>
          <a:xfrm>
            <a:off x="5707451" y="6258257"/>
            <a:ext cx="585219" cy="194618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&amp; QA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69A564F-CAC8-6988-3C6A-DA0FA62E3D09}"/>
              </a:ext>
            </a:extLst>
          </p:cNvPr>
          <p:cNvGrpSpPr/>
          <p:nvPr/>
        </p:nvGrpSpPr>
        <p:grpSpPr>
          <a:xfrm>
            <a:off x="6592837" y="4785541"/>
            <a:ext cx="224269" cy="251330"/>
            <a:chOff x="9504104" y="2454375"/>
            <a:chExt cx="424602" cy="320924"/>
          </a:xfrm>
          <a:solidFill>
            <a:schemeClr val="tx2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C9F182D-0310-9DA8-B4F0-5B300637E34A}"/>
                </a:ext>
              </a:extLst>
            </p:cNvPr>
            <p:cNvSpPr/>
            <p:nvPr/>
          </p:nvSpPr>
          <p:spPr>
            <a:xfrm>
              <a:off x="9504104" y="2454375"/>
              <a:ext cx="424602" cy="320924"/>
            </a:xfrm>
            <a:custGeom>
              <a:avLst/>
              <a:gdLst>
                <a:gd name="connsiteX0" fmla="*/ 443591 w 447246"/>
                <a:gd name="connsiteY0" fmla="*/ 118687 h 344422"/>
                <a:gd name="connsiteX1" fmla="*/ 439478 w 447246"/>
                <a:gd name="connsiteY1" fmla="*/ 113994 h 344422"/>
                <a:gd name="connsiteX2" fmla="*/ 385131 w 447246"/>
                <a:gd name="connsiteY2" fmla="*/ 102921 h 344422"/>
                <a:gd name="connsiteX3" fmla="*/ 380474 w 447246"/>
                <a:gd name="connsiteY3" fmla="*/ 104319 h 344422"/>
                <a:gd name="connsiteX4" fmla="*/ 373647 w 447246"/>
                <a:gd name="connsiteY4" fmla="*/ 111146 h 344422"/>
                <a:gd name="connsiteX5" fmla="*/ 273672 w 447246"/>
                <a:gd name="connsiteY5" fmla="*/ 12188 h 344422"/>
                <a:gd name="connsiteX6" fmla="*/ 225042 w 447246"/>
                <a:gd name="connsiteY6" fmla="*/ 7356 h 344422"/>
                <a:gd name="connsiteX7" fmla="*/ 116605 w 447246"/>
                <a:gd name="connsiteY7" fmla="*/ 92655 h 344422"/>
                <a:gd name="connsiteX8" fmla="*/ 113094 w 447246"/>
                <a:gd name="connsiteY8" fmla="*/ 92531 h 344422"/>
                <a:gd name="connsiteX9" fmla="*/ 20563 w 447246"/>
                <a:gd name="connsiteY9" fmla="*/ 185063 h 344422"/>
                <a:gd name="connsiteX10" fmla="*/ 20563 w 447246"/>
                <a:gd name="connsiteY10" fmla="*/ 293530 h 344422"/>
                <a:gd name="connsiteX11" fmla="*/ 0 w 447246"/>
                <a:gd name="connsiteY11" fmla="*/ 318719 h 344422"/>
                <a:gd name="connsiteX12" fmla="*/ 0 w 447246"/>
                <a:gd name="connsiteY12" fmla="*/ 344423 h 344422"/>
                <a:gd name="connsiteX13" fmla="*/ 226188 w 447246"/>
                <a:gd name="connsiteY13" fmla="*/ 344423 h 344422"/>
                <a:gd name="connsiteX14" fmla="*/ 226188 w 447246"/>
                <a:gd name="connsiteY14" fmla="*/ 318719 h 344422"/>
                <a:gd name="connsiteX15" fmla="*/ 205338 w 447246"/>
                <a:gd name="connsiteY15" fmla="*/ 293530 h 344422"/>
                <a:gd name="connsiteX16" fmla="*/ 205625 w 447246"/>
                <a:gd name="connsiteY16" fmla="*/ 185063 h 344422"/>
                <a:gd name="connsiteX17" fmla="*/ 205625 w 447246"/>
                <a:gd name="connsiteY17" fmla="*/ 185063 h 344422"/>
                <a:gd name="connsiteX18" fmla="*/ 185772 w 447246"/>
                <a:gd name="connsiteY18" fmla="*/ 128135 h 344422"/>
                <a:gd name="connsiteX19" fmla="*/ 234536 w 447246"/>
                <a:gd name="connsiteY19" fmla="*/ 69789 h 344422"/>
                <a:gd name="connsiteX20" fmla="*/ 258466 w 447246"/>
                <a:gd name="connsiteY20" fmla="*/ 69969 h 344422"/>
                <a:gd name="connsiteX21" fmla="*/ 337287 w 447246"/>
                <a:gd name="connsiteY21" fmla="*/ 147505 h 344422"/>
                <a:gd name="connsiteX22" fmla="*/ 329803 w 447246"/>
                <a:gd name="connsiteY22" fmla="*/ 154985 h 344422"/>
                <a:gd name="connsiteX23" fmla="*/ 328389 w 447246"/>
                <a:gd name="connsiteY23" fmla="*/ 159612 h 344422"/>
                <a:gd name="connsiteX24" fmla="*/ 338902 w 447246"/>
                <a:gd name="connsiteY24" fmla="*/ 214529 h 344422"/>
                <a:gd name="connsiteX25" fmla="*/ 343610 w 447246"/>
                <a:gd name="connsiteY25" fmla="*/ 218688 h 344422"/>
                <a:gd name="connsiteX26" fmla="*/ 398132 w 447246"/>
                <a:gd name="connsiteY26" fmla="*/ 222322 h 344422"/>
                <a:gd name="connsiteX27" fmla="*/ 398482 w 447246"/>
                <a:gd name="connsiteY27" fmla="*/ 222322 h 344422"/>
                <a:gd name="connsiteX28" fmla="*/ 403789 w 447246"/>
                <a:gd name="connsiteY28" fmla="*/ 217349 h 344422"/>
                <a:gd name="connsiteX29" fmla="*/ 398816 w 447246"/>
                <a:gd name="connsiteY29" fmla="*/ 212041 h 344422"/>
                <a:gd name="connsiteX30" fmla="*/ 348252 w 447246"/>
                <a:gd name="connsiteY30" fmla="*/ 208674 h 344422"/>
                <a:gd name="connsiteX31" fmla="*/ 338999 w 447246"/>
                <a:gd name="connsiteY31" fmla="*/ 160326 h 344422"/>
                <a:gd name="connsiteX32" fmla="*/ 385779 w 447246"/>
                <a:gd name="connsiteY32" fmla="*/ 113546 h 344422"/>
                <a:gd name="connsiteX33" fmla="*/ 433587 w 447246"/>
                <a:gd name="connsiteY33" fmla="*/ 123283 h 344422"/>
                <a:gd name="connsiteX34" fmla="*/ 436954 w 447246"/>
                <a:gd name="connsiteY34" fmla="*/ 173892 h 344422"/>
                <a:gd name="connsiteX35" fmla="*/ 442424 w 447246"/>
                <a:gd name="connsiteY35" fmla="*/ 178683 h 344422"/>
                <a:gd name="connsiteX36" fmla="*/ 447237 w 447246"/>
                <a:gd name="connsiteY36" fmla="*/ 173235 h 344422"/>
                <a:gd name="connsiteX37" fmla="*/ 447235 w 447246"/>
                <a:gd name="connsiteY37" fmla="*/ 173209 h 344422"/>
                <a:gd name="connsiteX38" fmla="*/ 215907 w 447246"/>
                <a:gd name="connsiteY38" fmla="*/ 318719 h 344422"/>
                <a:gd name="connsiteX39" fmla="*/ 215907 w 447246"/>
                <a:gd name="connsiteY39" fmla="*/ 334141 h 344422"/>
                <a:gd name="connsiteX40" fmla="*/ 10281 w 447246"/>
                <a:gd name="connsiteY40" fmla="*/ 334141 h 344422"/>
                <a:gd name="connsiteX41" fmla="*/ 10281 w 447246"/>
                <a:gd name="connsiteY41" fmla="*/ 318719 h 344422"/>
                <a:gd name="connsiteX42" fmla="*/ 25703 w 447246"/>
                <a:gd name="connsiteY42" fmla="*/ 303297 h 344422"/>
                <a:gd name="connsiteX43" fmla="*/ 200485 w 447246"/>
                <a:gd name="connsiteY43" fmla="*/ 303297 h 344422"/>
                <a:gd name="connsiteX44" fmla="*/ 215907 w 447246"/>
                <a:gd name="connsiteY44" fmla="*/ 318719 h 344422"/>
                <a:gd name="connsiteX45" fmla="*/ 195344 w 447246"/>
                <a:gd name="connsiteY45" fmla="*/ 185063 h 344422"/>
                <a:gd name="connsiteX46" fmla="*/ 195056 w 447246"/>
                <a:gd name="connsiteY46" fmla="*/ 293016 h 344422"/>
                <a:gd name="connsiteX47" fmla="*/ 30844 w 447246"/>
                <a:gd name="connsiteY47" fmla="*/ 293016 h 344422"/>
                <a:gd name="connsiteX48" fmla="*/ 30844 w 447246"/>
                <a:gd name="connsiteY48" fmla="*/ 185063 h 344422"/>
                <a:gd name="connsiteX49" fmla="*/ 102766 w 447246"/>
                <a:gd name="connsiteY49" fmla="*/ 103548 h 344422"/>
                <a:gd name="connsiteX50" fmla="*/ 82153 w 447246"/>
                <a:gd name="connsiteY50" fmla="*/ 119777 h 344422"/>
                <a:gd name="connsiteX51" fmla="*/ 76827 w 447246"/>
                <a:gd name="connsiteY51" fmla="*/ 180035 h 344422"/>
                <a:gd name="connsiteX52" fmla="*/ 109614 w 447246"/>
                <a:gd name="connsiteY52" fmla="*/ 195344 h 344422"/>
                <a:gd name="connsiteX53" fmla="*/ 111490 w 447246"/>
                <a:gd name="connsiteY53" fmla="*/ 195298 h 344422"/>
                <a:gd name="connsiteX54" fmla="*/ 142396 w 447246"/>
                <a:gd name="connsiteY54" fmla="*/ 180020 h 344422"/>
                <a:gd name="connsiteX55" fmla="*/ 179053 w 447246"/>
                <a:gd name="connsiteY55" fmla="*/ 136160 h 344422"/>
                <a:gd name="connsiteX56" fmla="*/ 195344 w 447246"/>
                <a:gd name="connsiteY56" fmla="*/ 185063 h 344422"/>
                <a:gd name="connsiteX57" fmla="*/ 134520 w 447246"/>
                <a:gd name="connsiteY57" fmla="*/ 173419 h 344422"/>
                <a:gd name="connsiteX58" fmla="*/ 111038 w 447246"/>
                <a:gd name="connsiteY58" fmla="*/ 185027 h 344422"/>
                <a:gd name="connsiteX59" fmla="*/ 86630 w 447246"/>
                <a:gd name="connsiteY59" fmla="*/ 175542 h 344422"/>
                <a:gd name="connsiteX60" fmla="*/ 86605 w 447246"/>
                <a:gd name="connsiteY60" fmla="*/ 129596 h 344422"/>
                <a:gd name="connsiteX61" fmla="*/ 88630 w 447246"/>
                <a:gd name="connsiteY61" fmla="*/ 127734 h 344422"/>
                <a:gd name="connsiteX62" fmla="*/ 210977 w 447246"/>
                <a:gd name="connsiteY62" fmla="*/ 31425 h 344422"/>
                <a:gd name="connsiteX63" fmla="*/ 211059 w 447246"/>
                <a:gd name="connsiteY63" fmla="*/ 31471 h 344422"/>
                <a:gd name="connsiteX64" fmla="*/ 225278 w 447246"/>
                <a:gd name="connsiteY64" fmla="*/ 64782 h 344422"/>
                <a:gd name="connsiteX65" fmla="*/ 221263 w 447246"/>
                <a:gd name="connsiteY65" fmla="*/ 39336 h 344422"/>
                <a:gd name="connsiteX66" fmla="*/ 243399 w 447246"/>
                <a:gd name="connsiteY66" fmla="*/ 10503 h 344422"/>
                <a:gd name="connsiteX67" fmla="*/ 272232 w 447246"/>
                <a:gd name="connsiteY67" fmla="*/ 32639 h 344422"/>
                <a:gd name="connsiteX68" fmla="*/ 250096 w 447246"/>
                <a:gd name="connsiteY68" fmla="*/ 61472 h 344422"/>
                <a:gd name="connsiteX69" fmla="*/ 243399 w 447246"/>
                <a:gd name="connsiteY69" fmla="*/ 61472 h 344422"/>
                <a:gd name="connsiteX70" fmla="*/ 221263 w 447246"/>
                <a:gd name="connsiteY70" fmla="*/ 39336 h 344422"/>
                <a:gd name="connsiteX71" fmla="*/ 282807 w 447246"/>
                <a:gd name="connsiteY71" fmla="*/ 35655 h 344422"/>
                <a:gd name="connsiteX72" fmla="*/ 366209 w 447246"/>
                <a:gd name="connsiteY72" fmla="*/ 118235 h 344422"/>
                <a:gd name="connsiteX73" fmla="*/ 344392 w 447246"/>
                <a:gd name="connsiteY73" fmla="*/ 140057 h 344422"/>
                <a:gd name="connsiteX74" fmla="*/ 268017 w 447246"/>
                <a:gd name="connsiteY74" fmla="*/ 64947 h 344422"/>
                <a:gd name="connsiteX75" fmla="*/ 282735 w 447246"/>
                <a:gd name="connsiteY75" fmla="*/ 36498 h 344422"/>
                <a:gd name="connsiteX76" fmla="*/ 282735 w 447246"/>
                <a:gd name="connsiteY76" fmla="*/ 35707 h 344422"/>
                <a:gd name="connsiteX77" fmla="*/ 282807 w 447246"/>
                <a:gd name="connsiteY77" fmla="*/ 35655 h 344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47246" h="344422">
                  <a:moveTo>
                    <a:pt x="443591" y="118687"/>
                  </a:moveTo>
                  <a:cubicBezTo>
                    <a:pt x="443435" y="116374"/>
                    <a:pt x="441750" y="114452"/>
                    <a:pt x="439478" y="113994"/>
                  </a:cubicBezTo>
                  <a:lnTo>
                    <a:pt x="385131" y="102921"/>
                  </a:lnTo>
                  <a:cubicBezTo>
                    <a:pt x="383442" y="102562"/>
                    <a:pt x="381687" y="103089"/>
                    <a:pt x="380474" y="104319"/>
                  </a:cubicBezTo>
                  <a:lnTo>
                    <a:pt x="373647" y="111146"/>
                  </a:lnTo>
                  <a:lnTo>
                    <a:pt x="273672" y="12188"/>
                  </a:lnTo>
                  <a:cubicBezTo>
                    <a:pt x="261258" y="-1966"/>
                    <a:pt x="239998" y="-4079"/>
                    <a:pt x="225042" y="7356"/>
                  </a:cubicBezTo>
                  <a:lnTo>
                    <a:pt x="116605" y="92655"/>
                  </a:lnTo>
                  <a:cubicBezTo>
                    <a:pt x="115438" y="92603"/>
                    <a:pt x="114276" y="92531"/>
                    <a:pt x="113094" y="92531"/>
                  </a:cubicBezTo>
                  <a:cubicBezTo>
                    <a:pt x="62015" y="92591"/>
                    <a:pt x="20622" y="133984"/>
                    <a:pt x="20563" y="185063"/>
                  </a:cubicBezTo>
                  <a:lnTo>
                    <a:pt x="20563" y="293530"/>
                  </a:lnTo>
                  <a:cubicBezTo>
                    <a:pt x="8603" y="295990"/>
                    <a:pt x="15" y="306510"/>
                    <a:pt x="0" y="318719"/>
                  </a:cubicBezTo>
                  <a:lnTo>
                    <a:pt x="0" y="344423"/>
                  </a:lnTo>
                  <a:lnTo>
                    <a:pt x="226188" y="344423"/>
                  </a:lnTo>
                  <a:lnTo>
                    <a:pt x="226188" y="318719"/>
                  </a:lnTo>
                  <a:cubicBezTo>
                    <a:pt x="226153" y="306418"/>
                    <a:pt x="217415" y="295863"/>
                    <a:pt x="205338" y="293530"/>
                  </a:cubicBezTo>
                  <a:lnTo>
                    <a:pt x="205625" y="185063"/>
                  </a:lnTo>
                  <a:lnTo>
                    <a:pt x="205625" y="185063"/>
                  </a:lnTo>
                  <a:cubicBezTo>
                    <a:pt x="205606" y="164393"/>
                    <a:pt x="198611" y="144335"/>
                    <a:pt x="185772" y="128135"/>
                  </a:cubicBezTo>
                  <a:lnTo>
                    <a:pt x="234536" y="69789"/>
                  </a:lnTo>
                  <a:cubicBezTo>
                    <a:pt x="242249" y="72632"/>
                    <a:pt x="250711" y="72696"/>
                    <a:pt x="258466" y="69969"/>
                  </a:cubicBezTo>
                  <a:lnTo>
                    <a:pt x="337287" y="147505"/>
                  </a:lnTo>
                  <a:lnTo>
                    <a:pt x="329803" y="154985"/>
                  </a:lnTo>
                  <a:cubicBezTo>
                    <a:pt x="328590" y="156195"/>
                    <a:pt x="328060" y="157930"/>
                    <a:pt x="328389" y="159612"/>
                  </a:cubicBezTo>
                  <a:lnTo>
                    <a:pt x="338902" y="214529"/>
                  </a:lnTo>
                  <a:cubicBezTo>
                    <a:pt x="339343" y="216825"/>
                    <a:pt x="341278" y="218534"/>
                    <a:pt x="343610" y="218688"/>
                  </a:cubicBezTo>
                  <a:lnTo>
                    <a:pt x="398132" y="222322"/>
                  </a:lnTo>
                  <a:lnTo>
                    <a:pt x="398482" y="222322"/>
                  </a:lnTo>
                  <a:cubicBezTo>
                    <a:pt x="401321" y="222414"/>
                    <a:pt x="403697" y="220188"/>
                    <a:pt x="403789" y="217349"/>
                  </a:cubicBezTo>
                  <a:cubicBezTo>
                    <a:pt x="403882" y="214509"/>
                    <a:pt x="401655" y="212133"/>
                    <a:pt x="398816" y="212041"/>
                  </a:cubicBezTo>
                  <a:lnTo>
                    <a:pt x="348252" y="208674"/>
                  </a:lnTo>
                  <a:lnTo>
                    <a:pt x="338999" y="160326"/>
                  </a:lnTo>
                  <a:lnTo>
                    <a:pt x="385779" y="113546"/>
                  </a:lnTo>
                  <a:lnTo>
                    <a:pt x="433587" y="123283"/>
                  </a:lnTo>
                  <a:lnTo>
                    <a:pt x="436954" y="173892"/>
                  </a:lnTo>
                  <a:cubicBezTo>
                    <a:pt x="437179" y="176707"/>
                    <a:pt x="439604" y="178831"/>
                    <a:pt x="442424" y="178683"/>
                  </a:cubicBezTo>
                  <a:cubicBezTo>
                    <a:pt x="445257" y="178508"/>
                    <a:pt x="447412" y="176069"/>
                    <a:pt x="447237" y="173235"/>
                  </a:cubicBezTo>
                  <a:cubicBezTo>
                    <a:pt x="447236" y="173226"/>
                    <a:pt x="447236" y="173217"/>
                    <a:pt x="447235" y="173209"/>
                  </a:cubicBezTo>
                  <a:close/>
                  <a:moveTo>
                    <a:pt x="215907" y="318719"/>
                  </a:moveTo>
                  <a:lnTo>
                    <a:pt x="215907" y="334141"/>
                  </a:lnTo>
                  <a:lnTo>
                    <a:pt x="10281" y="334141"/>
                  </a:lnTo>
                  <a:lnTo>
                    <a:pt x="10281" y="318719"/>
                  </a:lnTo>
                  <a:cubicBezTo>
                    <a:pt x="10281" y="310202"/>
                    <a:pt x="17186" y="303297"/>
                    <a:pt x="25703" y="303297"/>
                  </a:cubicBezTo>
                  <a:lnTo>
                    <a:pt x="200485" y="303297"/>
                  </a:lnTo>
                  <a:cubicBezTo>
                    <a:pt x="209002" y="303297"/>
                    <a:pt x="215907" y="310202"/>
                    <a:pt x="215907" y="318719"/>
                  </a:cubicBezTo>
                  <a:close/>
                  <a:moveTo>
                    <a:pt x="195344" y="185063"/>
                  </a:moveTo>
                  <a:lnTo>
                    <a:pt x="195056" y="293016"/>
                  </a:lnTo>
                  <a:lnTo>
                    <a:pt x="30844" y="293016"/>
                  </a:lnTo>
                  <a:lnTo>
                    <a:pt x="30844" y="185063"/>
                  </a:lnTo>
                  <a:cubicBezTo>
                    <a:pt x="30909" y="143671"/>
                    <a:pt x="61705" y="108768"/>
                    <a:pt x="102766" y="103548"/>
                  </a:cubicBezTo>
                  <a:lnTo>
                    <a:pt x="82153" y="119777"/>
                  </a:lnTo>
                  <a:cubicBezTo>
                    <a:pt x="64042" y="134946"/>
                    <a:pt x="61657" y="161925"/>
                    <a:pt x="76827" y="180035"/>
                  </a:cubicBezTo>
                  <a:cubicBezTo>
                    <a:pt x="84953" y="189737"/>
                    <a:pt x="96958" y="195343"/>
                    <a:pt x="109614" y="195344"/>
                  </a:cubicBezTo>
                  <a:cubicBezTo>
                    <a:pt x="110236" y="195344"/>
                    <a:pt x="110863" y="195344"/>
                    <a:pt x="111490" y="195298"/>
                  </a:cubicBezTo>
                  <a:cubicBezTo>
                    <a:pt x="123476" y="194756"/>
                    <a:pt x="134686" y="189214"/>
                    <a:pt x="142396" y="180020"/>
                  </a:cubicBezTo>
                  <a:lnTo>
                    <a:pt x="179053" y="136160"/>
                  </a:lnTo>
                  <a:cubicBezTo>
                    <a:pt x="189621" y="150275"/>
                    <a:pt x="195336" y="167430"/>
                    <a:pt x="195344" y="185063"/>
                  </a:cubicBezTo>
                  <a:close/>
                  <a:moveTo>
                    <a:pt x="134520" y="173419"/>
                  </a:moveTo>
                  <a:cubicBezTo>
                    <a:pt x="128698" y="180450"/>
                    <a:pt x="120159" y="184671"/>
                    <a:pt x="111038" y="185027"/>
                  </a:cubicBezTo>
                  <a:cubicBezTo>
                    <a:pt x="101915" y="185530"/>
                    <a:pt x="93019" y="182073"/>
                    <a:pt x="86630" y="175542"/>
                  </a:cubicBezTo>
                  <a:cubicBezTo>
                    <a:pt x="73936" y="162861"/>
                    <a:pt x="73924" y="142291"/>
                    <a:pt x="86605" y="129596"/>
                  </a:cubicBezTo>
                  <a:cubicBezTo>
                    <a:pt x="87254" y="128947"/>
                    <a:pt x="87929" y="128326"/>
                    <a:pt x="88630" y="127734"/>
                  </a:cubicBezTo>
                  <a:lnTo>
                    <a:pt x="210977" y="31425"/>
                  </a:lnTo>
                  <a:cubicBezTo>
                    <a:pt x="211033" y="31384"/>
                    <a:pt x="211069" y="31425"/>
                    <a:pt x="211059" y="31471"/>
                  </a:cubicBezTo>
                  <a:cubicBezTo>
                    <a:pt x="209333" y="44342"/>
                    <a:pt x="214789" y="57125"/>
                    <a:pt x="225278" y="64782"/>
                  </a:cubicBezTo>
                  <a:close/>
                  <a:moveTo>
                    <a:pt x="221263" y="39336"/>
                  </a:moveTo>
                  <a:cubicBezTo>
                    <a:pt x="219414" y="25262"/>
                    <a:pt x="229324" y="12353"/>
                    <a:pt x="243399" y="10503"/>
                  </a:cubicBezTo>
                  <a:cubicBezTo>
                    <a:pt x="257473" y="8654"/>
                    <a:pt x="270382" y="18564"/>
                    <a:pt x="272232" y="32639"/>
                  </a:cubicBezTo>
                  <a:cubicBezTo>
                    <a:pt x="274081" y="46713"/>
                    <a:pt x="264171" y="59622"/>
                    <a:pt x="250096" y="61472"/>
                  </a:cubicBezTo>
                  <a:cubicBezTo>
                    <a:pt x="247873" y="61764"/>
                    <a:pt x="245622" y="61764"/>
                    <a:pt x="243399" y="61472"/>
                  </a:cubicBezTo>
                  <a:cubicBezTo>
                    <a:pt x="231865" y="59945"/>
                    <a:pt x="222789" y="50870"/>
                    <a:pt x="221263" y="39336"/>
                  </a:cubicBezTo>
                  <a:close/>
                  <a:moveTo>
                    <a:pt x="282807" y="35655"/>
                  </a:moveTo>
                  <a:lnTo>
                    <a:pt x="366209" y="118235"/>
                  </a:lnTo>
                  <a:lnTo>
                    <a:pt x="344392" y="140057"/>
                  </a:lnTo>
                  <a:lnTo>
                    <a:pt x="268017" y="64947"/>
                  </a:lnTo>
                  <a:cubicBezTo>
                    <a:pt x="277113" y="58297"/>
                    <a:pt x="282562" y="47765"/>
                    <a:pt x="282735" y="36498"/>
                  </a:cubicBezTo>
                  <a:cubicBezTo>
                    <a:pt x="282735" y="36344"/>
                    <a:pt x="282735" y="35984"/>
                    <a:pt x="282735" y="35707"/>
                  </a:cubicBezTo>
                  <a:cubicBezTo>
                    <a:pt x="282735" y="35614"/>
                    <a:pt x="282735" y="35604"/>
                    <a:pt x="282807" y="35655"/>
                  </a:cubicBezTo>
                  <a:close/>
                </a:path>
              </a:pathLst>
            </a:custGeom>
            <a:grpFill/>
            <a:ln w="506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12FBF82-5535-D592-F61E-FBB12D43435A}"/>
                </a:ext>
              </a:extLst>
            </p:cNvPr>
            <p:cNvSpPr/>
            <p:nvPr/>
          </p:nvSpPr>
          <p:spPr>
            <a:xfrm>
              <a:off x="9599312" y="2576456"/>
              <a:ext cx="29302" cy="28759"/>
            </a:xfrm>
            <a:custGeom>
              <a:avLst/>
              <a:gdLst>
                <a:gd name="connsiteX0" fmla="*/ 5797 w 30865"/>
                <a:gd name="connsiteY0" fmla="*/ 3394 h 30865"/>
                <a:gd name="connsiteX1" fmla="*/ 3373 w 30865"/>
                <a:gd name="connsiteY1" fmla="*/ 25069 h 30865"/>
                <a:gd name="connsiteX2" fmla="*/ 25048 w 30865"/>
                <a:gd name="connsiteY2" fmla="*/ 27492 h 30865"/>
                <a:gd name="connsiteX3" fmla="*/ 26324 w 30865"/>
                <a:gd name="connsiteY3" fmla="*/ 26352 h 30865"/>
                <a:gd name="connsiteX4" fmla="*/ 26324 w 30865"/>
                <a:gd name="connsiteY4" fmla="*/ 26352 h 30865"/>
                <a:gd name="connsiteX5" fmla="*/ 26373 w 30865"/>
                <a:gd name="connsiteY5" fmla="*/ 4542 h 30865"/>
                <a:gd name="connsiteX6" fmla="*/ 5792 w 30865"/>
                <a:gd name="connsiteY6" fmla="*/ 3394 h 30865"/>
                <a:gd name="connsiteX7" fmla="*/ 19055 w 30865"/>
                <a:gd name="connsiteY7" fmla="*/ 19088 h 30865"/>
                <a:gd name="connsiteX8" fmla="*/ 19055 w 30865"/>
                <a:gd name="connsiteY8" fmla="*/ 19088 h 30865"/>
                <a:gd name="connsiteX9" fmla="*/ 11791 w 30865"/>
                <a:gd name="connsiteY9" fmla="*/ 19088 h 30865"/>
                <a:gd name="connsiteX10" fmla="*/ 11790 w 30865"/>
                <a:gd name="connsiteY10" fmla="*/ 11818 h 30865"/>
                <a:gd name="connsiteX11" fmla="*/ 19060 w 30865"/>
                <a:gd name="connsiteY11" fmla="*/ 11817 h 30865"/>
                <a:gd name="connsiteX12" fmla="*/ 19061 w 30865"/>
                <a:gd name="connsiteY12" fmla="*/ 19087 h 30865"/>
                <a:gd name="connsiteX13" fmla="*/ 19060 w 30865"/>
                <a:gd name="connsiteY13" fmla="*/ 19088 h 30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865" h="30865">
                  <a:moveTo>
                    <a:pt x="5797" y="3394"/>
                  </a:moveTo>
                  <a:cubicBezTo>
                    <a:pt x="-858" y="8710"/>
                    <a:pt x="-1943" y="18414"/>
                    <a:pt x="3373" y="25069"/>
                  </a:cubicBezTo>
                  <a:cubicBezTo>
                    <a:pt x="8689" y="31723"/>
                    <a:pt x="18393" y="32808"/>
                    <a:pt x="25048" y="27492"/>
                  </a:cubicBezTo>
                  <a:cubicBezTo>
                    <a:pt x="25494" y="27136"/>
                    <a:pt x="25920" y="26755"/>
                    <a:pt x="26324" y="26352"/>
                  </a:cubicBezTo>
                  <a:lnTo>
                    <a:pt x="26324" y="26352"/>
                  </a:lnTo>
                  <a:cubicBezTo>
                    <a:pt x="32360" y="20343"/>
                    <a:pt x="32382" y="10578"/>
                    <a:pt x="26373" y="4542"/>
                  </a:cubicBezTo>
                  <a:cubicBezTo>
                    <a:pt x="20814" y="-1043"/>
                    <a:pt x="11938" y="-1538"/>
                    <a:pt x="5792" y="3394"/>
                  </a:cubicBezTo>
                  <a:close/>
                  <a:moveTo>
                    <a:pt x="19055" y="19088"/>
                  </a:moveTo>
                  <a:lnTo>
                    <a:pt x="19055" y="19088"/>
                  </a:lnTo>
                  <a:cubicBezTo>
                    <a:pt x="17024" y="21031"/>
                    <a:pt x="13822" y="21031"/>
                    <a:pt x="11791" y="19088"/>
                  </a:cubicBezTo>
                  <a:cubicBezTo>
                    <a:pt x="9783" y="17081"/>
                    <a:pt x="9782" y="13826"/>
                    <a:pt x="11790" y="11818"/>
                  </a:cubicBezTo>
                  <a:cubicBezTo>
                    <a:pt x="13797" y="9810"/>
                    <a:pt x="17052" y="9810"/>
                    <a:pt x="19060" y="11817"/>
                  </a:cubicBezTo>
                  <a:cubicBezTo>
                    <a:pt x="21068" y="13824"/>
                    <a:pt x="21068" y="17079"/>
                    <a:pt x="19061" y="19087"/>
                  </a:cubicBezTo>
                  <a:cubicBezTo>
                    <a:pt x="19060" y="19087"/>
                    <a:pt x="19060" y="19087"/>
                    <a:pt x="19060" y="19088"/>
                  </a:cubicBezTo>
                  <a:close/>
                </a:path>
              </a:pathLst>
            </a:custGeom>
            <a:grpFill/>
            <a:ln w="506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2BE627F-23B8-A1BC-E571-12C9E3625CA8}"/>
                </a:ext>
              </a:extLst>
            </p:cNvPr>
            <p:cNvSpPr/>
            <p:nvPr/>
          </p:nvSpPr>
          <p:spPr>
            <a:xfrm>
              <a:off x="9726165" y="2475922"/>
              <a:ext cx="24404" cy="23953"/>
            </a:xfrm>
            <a:custGeom>
              <a:avLst/>
              <a:gdLst>
                <a:gd name="connsiteX0" fmla="*/ 15366 w 25705"/>
                <a:gd name="connsiteY0" fmla="*/ 250 h 25707"/>
                <a:gd name="connsiteX1" fmla="*/ 250 w 25705"/>
                <a:gd name="connsiteY1" fmla="*/ 10341 h 25707"/>
                <a:gd name="connsiteX2" fmla="*/ 10341 w 25705"/>
                <a:gd name="connsiteY2" fmla="*/ 25458 h 25707"/>
                <a:gd name="connsiteX3" fmla="*/ 25458 w 25705"/>
                <a:gd name="connsiteY3" fmla="*/ 15366 h 25707"/>
                <a:gd name="connsiteX4" fmla="*/ 25458 w 25705"/>
                <a:gd name="connsiteY4" fmla="*/ 10341 h 25707"/>
                <a:gd name="connsiteX5" fmla="*/ 15366 w 25705"/>
                <a:gd name="connsiteY5" fmla="*/ 250 h 25707"/>
                <a:gd name="connsiteX6" fmla="*/ 12848 w 25705"/>
                <a:gd name="connsiteY6" fmla="*/ 15431 h 25707"/>
                <a:gd name="connsiteX7" fmla="*/ 10277 w 25705"/>
                <a:gd name="connsiteY7" fmla="*/ 12860 h 25707"/>
                <a:gd name="connsiteX8" fmla="*/ 12848 w 25705"/>
                <a:gd name="connsiteY8" fmla="*/ 10290 h 25707"/>
                <a:gd name="connsiteX9" fmla="*/ 15418 w 25705"/>
                <a:gd name="connsiteY9" fmla="*/ 12860 h 25707"/>
                <a:gd name="connsiteX10" fmla="*/ 12848 w 25705"/>
                <a:gd name="connsiteY10" fmla="*/ 15431 h 25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705" h="25707">
                  <a:moveTo>
                    <a:pt x="15366" y="250"/>
                  </a:moveTo>
                  <a:cubicBezTo>
                    <a:pt x="8406" y="-1137"/>
                    <a:pt x="1638" y="3381"/>
                    <a:pt x="250" y="10341"/>
                  </a:cubicBezTo>
                  <a:cubicBezTo>
                    <a:pt x="-1137" y="17302"/>
                    <a:pt x="3381" y="24070"/>
                    <a:pt x="10341" y="25458"/>
                  </a:cubicBezTo>
                  <a:cubicBezTo>
                    <a:pt x="17302" y="26845"/>
                    <a:pt x="24070" y="22327"/>
                    <a:pt x="25458" y="15366"/>
                  </a:cubicBezTo>
                  <a:cubicBezTo>
                    <a:pt x="25788" y="13708"/>
                    <a:pt x="25788" y="12000"/>
                    <a:pt x="25458" y="10341"/>
                  </a:cubicBezTo>
                  <a:cubicBezTo>
                    <a:pt x="24442" y="5248"/>
                    <a:pt x="20460" y="1266"/>
                    <a:pt x="15366" y="250"/>
                  </a:cubicBezTo>
                  <a:close/>
                  <a:moveTo>
                    <a:pt x="12848" y="15431"/>
                  </a:moveTo>
                  <a:cubicBezTo>
                    <a:pt x="11428" y="15431"/>
                    <a:pt x="10277" y="14280"/>
                    <a:pt x="10277" y="12860"/>
                  </a:cubicBezTo>
                  <a:cubicBezTo>
                    <a:pt x="10277" y="11441"/>
                    <a:pt x="11428" y="10290"/>
                    <a:pt x="12848" y="10290"/>
                  </a:cubicBezTo>
                  <a:cubicBezTo>
                    <a:pt x="14267" y="10290"/>
                    <a:pt x="15418" y="11441"/>
                    <a:pt x="15418" y="12860"/>
                  </a:cubicBezTo>
                  <a:cubicBezTo>
                    <a:pt x="15418" y="14280"/>
                    <a:pt x="14267" y="15431"/>
                    <a:pt x="12848" y="15431"/>
                  </a:cubicBezTo>
                  <a:close/>
                </a:path>
              </a:pathLst>
            </a:custGeom>
            <a:grpFill/>
            <a:ln w="506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Freeform 84">
            <a:extLst>
              <a:ext uri="{FF2B5EF4-FFF2-40B4-BE49-F238E27FC236}">
                <a16:creationId xmlns:a16="http://schemas.microsoft.com/office/drawing/2014/main" id="{97DC859E-56F8-5CE8-E3A2-7CC08EBB20AC}"/>
              </a:ext>
            </a:extLst>
          </p:cNvPr>
          <p:cNvSpPr/>
          <p:nvPr/>
        </p:nvSpPr>
        <p:spPr>
          <a:xfrm>
            <a:off x="5475648" y="4813820"/>
            <a:ext cx="212123" cy="209568"/>
          </a:xfrm>
          <a:custGeom>
            <a:avLst/>
            <a:gdLst/>
            <a:ahLst/>
            <a:cxnLst/>
            <a:rect l="l" t="t" r="r" b="b"/>
            <a:pathLst>
              <a:path w="217564" h="225697">
                <a:moveTo>
                  <a:pt x="32398" y="201859"/>
                </a:moveTo>
                <a:cubicBezTo>
                  <a:pt x="40056" y="201859"/>
                  <a:pt x="46292" y="195636"/>
                  <a:pt x="46292" y="187978"/>
                </a:cubicBezTo>
                <a:cubicBezTo>
                  <a:pt x="46292" y="180320"/>
                  <a:pt x="40056" y="174097"/>
                  <a:pt x="32398" y="174097"/>
                </a:cubicBezTo>
                <a:cubicBezTo>
                  <a:pt x="24753" y="174097"/>
                  <a:pt x="18517" y="180320"/>
                  <a:pt x="18517" y="187978"/>
                </a:cubicBezTo>
                <a:cubicBezTo>
                  <a:pt x="18517" y="195636"/>
                  <a:pt x="24753" y="201859"/>
                  <a:pt x="32398" y="201859"/>
                </a:cubicBezTo>
                <a:close/>
                <a:moveTo>
                  <a:pt x="185166" y="201859"/>
                </a:moveTo>
                <a:cubicBezTo>
                  <a:pt x="192825" y="201859"/>
                  <a:pt x="199060" y="195636"/>
                  <a:pt x="199060" y="187978"/>
                </a:cubicBezTo>
                <a:cubicBezTo>
                  <a:pt x="199060" y="180320"/>
                  <a:pt x="192825" y="174097"/>
                  <a:pt x="185166" y="174097"/>
                </a:cubicBezTo>
                <a:cubicBezTo>
                  <a:pt x="177508" y="174097"/>
                  <a:pt x="171273" y="180320"/>
                  <a:pt x="171273" y="187978"/>
                </a:cubicBezTo>
                <a:cubicBezTo>
                  <a:pt x="171273" y="195636"/>
                  <a:pt x="177508" y="201859"/>
                  <a:pt x="185166" y="201859"/>
                </a:cubicBezTo>
                <a:close/>
                <a:moveTo>
                  <a:pt x="32398" y="220388"/>
                </a:moveTo>
                <a:cubicBezTo>
                  <a:pt x="14542" y="220388"/>
                  <a:pt x="0" y="205847"/>
                  <a:pt x="0" y="187978"/>
                </a:cubicBezTo>
                <a:cubicBezTo>
                  <a:pt x="0" y="170109"/>
                  <a:pt x="14542" y="155568"/>
                  <a:pt x="32398" y="155568"/>
                </a:cubicBezTo>
                <a:cubicBezTo>
                  <a:pt x="50267" y="155568"/>
                  <a:pt x="64809" y="170109"/>
                  <a:pt x="64809" y="187978"/>
                </a:cubicBezTo>
                <a:cubicBezTo>
                  <a:pt x="64809" y="205847"/>
                  <a:pt x="50267" y="220388"/>
                  <a:pt x="32398" y="220388"/>
                </a:cubicBezTo>
                <a:close/>
                <a:moveTo>
                  <a:pt x="32398" y="49104"/>
                </a:moveTo>
                <a:cubicBezTo>
                  <a:pt x="40056" y="49104"/>
                  <a:pt x="46292" y="42868"/>
                  <a:pt x="46292" y="35222"/>
                </a:cubicBezTo>
                <a:cubicBezTo>
                  <a:pt x="46292" y="27564"/>
                  <a:pt x="40056" y="21329"/>
                  <a:pt x="32398" y="21329"/>
                </a:cubicBezTo>
                <a:cubicBezTo>
                  <a:pt x="24753" y="21329"/>
                  <a:pt x="18517" y="27564"/>
                  <a:pt x="18517" y="35222"/>
                </a:cubicBezTo>
                <a:cubicBezTo>
                  <a:pt x="18517" y="42868"/>
                  <a:pt x="24753" y="49104"/>
                  <a:pt x="32398" y="49104"/>
                </a:cubicBezTo>
                <a:close/>
                <a:moveTo>
                  <a:pt x="185166" y="49104"/>
                </a:moveTo>
                <a:cubicBezTo>
                  <a:pt x="192825" y="49104"/>
                  <a:pt x="199060" y="42868"/>
                  <a:pt x="199060" y="35222"/>
                </a:cubicBezTo>
                <a:cubicBezTo>
                  <a:pt x="199060" y="27564"/>
                  <a:pt x="192825" y="21329"/>
                  <a:pt x="185166" y="21329"/>
                </a:cubicBezTo>
                <a:cubicBezTo>
                  <a:pt x="177508" y="21329"/>
                  <a:pt x="171273" y="27564"/>
                  <a:pt x="171273" y="35222"/>
                </a:cubicBezTo>
                <a:cubicBezTo>
                  <a:pt x="171273" y="42868"/>
                  <a:pt x="177508" y="49104"/>
                  <a:pt x="185166" y="49104"/>
                </a:cubicBezTo>
                <a:close/>
                <a:moveTo>
                  <a:pt x="118466" y="225697"/>
                </a:moveTo>
                <a:lnTo>
                  <a:pt x="81763" y="189223"/>
                </a:lnTo>
                <a:lnTo>
                  <a:pt x="118466" y="152761"/>
                </a:lnTo>
                <a:lnTo>
                  <a:pt x="131509" y="165893"/>
                </a:lnTo>
                <a:lnTo>
                  <a:pt x="118606" y="178720"/>
                </a:lnTo>
                <a:lnTo>
                  <a:pt x="154128" y="178720"/>
                </a:lnTo>
                <a:cubicBezTo>
                  <a:pt x="157252" y="168293"/>
                  <a:pt x="165481" y="160063"/>
                  <a:pt x="175908" y="156939"/>
                </a:cubicBezTo>
                <a:lnTo>
                  <a:pt x="175908" y="123170"/>
                </a:lnTo>
                <a:lnTo>
                  <a:pt x="113653" y="123170"/>
                </a:lnTo>
                <a:lnTo>
                  <a:pt x="83757" y="152888"/>
                </a:lnTo>
                <a:lnTo>
                  <a:pt x="70701" y="139743"/>
                </a:lnTo>
                <a:lnTo>
                  <a:pt x="87376" y="123170"/>
                </a:lnTo>
                <a:lnTo>
                  <a:pt x="23153" y="123170"/>
                </a:lnTo>
                <a:lnTo>
                  <a:pt x="23153" y="66248"/>
                </a:lnTo>
                <a:cubicBezTo>
                  <a:pt x="9779" y="62261"/>
                  <a:pt x="0" y="49866"/>
                  <a:pt x="0" y="35222"/>
                </a:cubicBezTo>
                <a:cubicBezTo>
                  <a:pt x="0" y="17354"/>
                  <a:pt x="14542" y="2812"/>
                  <a:pt x="32398" y="2812"/>
                </a:cubicBezTo>
                <a:cubicBezTo>
                  <a:pt x="50267" y="2812"/>
                  <a:pt x="64809" y="17354"/>
                  <a:pt x="64809" y="35222"/>
                </a:cubicBezTo>
                <a:cubicBezTo>
                  <a:pt x="64809" y="49866"/>
                  <a:pt x="55030" y="62261"/>
                  <a:pt x="41669" y="66248"/>
                </a:cubicBezTo>
                <a:lnTo>
                  <a:pt x="41669" y="104653"/>
                </a:lnTo>
                <a:lnTo>
                  <a:pt x="87389" y="104653"/>
                </a:lnTo>
                <a:lnTo>
                  <a:pt x="70701" y="88067"/>
                </a:lnTo>
                <a:lnTo>
                  <a:pt x="83757" y="74948"/>
                </a:lnTo>
                <a:lnTo>
                  <a:pt x="113653" y="104653"/>
                </a:lnTo>
                <a:lnTo>
                  <a:pt x="194425" y="104653"/>
                </a:lnTo>
                <a:lnTo>
                  <a:pt x="194425" y="156939"/>
                </a:lnTo>
                <a:cubicBezTo>
                  <a:pt x="207798" y="160939"/>
                  <a:pt x="217564" y="173335"/>
                  <a:pt x="217564" y="187978"/>
                </a:cubicBezTo>
                <a:cubicBezTo>
                  <a:pt x="217564" y="205847"/>
                  <a:pt x="203035" y="220388"/>
                  <a:pt x="185166" y="220388"/>
                </a:cubicBezTo>
                <a:cubicBezTo>
                  <a:pt x="170523" y="220388"/>
                  <a:pt x="158128" y="210609"/>
                  <a:pt x="154128" y="197236"/>
                </a:cubicBezTo>
                <a:lnTo>
                  <a:pt x="116091" y="197236"/>
                </a:lnTo>
                <a:lnTo>
                  <a:pt x="131509" y="212565"/>
                </a:lnTo>
                <a:lnTo>
                  <a:pt x="118466" y="225697"/>
                </a:lnTo>
                <a:close/>
                <a:moveTo>
                  <a:pt x="118466" y="72928"/>
                </a:moveTo>
                <a:lnTo>
                  <a:pt x="81763" y="36467"/>
                </a:lnTo>
                <a:lnTo>
                  <a:pt x="118459" y="0"/>
                </a:lnTo>
                <a:lnTo>
                  <a:pt x="118473" y="0"/>
                </a:lnTo>
                <a:lnTo>
                  <a:pt x="131509" y="13124"/>
                </a:lnTo>
                <a:lnTo>
                  <a:pt x="118606" y="25964"/>
                </a:lnTo>
                <a:lnTo>
                  <a:pt x="154128" y="25964"/>
                </a:lnTo>
                <a:cubicBezTo>
                  <a:pt x="158128" y="12591"/>
                  <a:pt x="170523" y="2812"/>
                  <a:pt x="185166" y="2812"/>
                </a:cubicBezTo>
                <a:cubicBezTo>
                  <a:pt x="203035" y="2812"/>
                  <a:pt x="217564" y="17354"/>
                  <a:pt x="217564" y="35222"/>
                </a:cubicBezTo>
                <a:cubicBezTo>
                  <a:pt x="217564" y="53079"/>
                  <a:pt x="203035" y="67620"/>
                  <a:pt x="185166" y="67620"/>
                </a:cubicBezTo>
                <a:cubicBezTo>
                  <a:pt x="170523" y="67620"/>
                  <a:pt x="158128" y="57841"/>
                  <a:pt x="154128" y="44468"/>
                </a:cubicBezTo>
                <a:lnTo>
                  <a:pt x="116091" y="44468"/>
                </a:lnTo>
                <a:lnTo>
                  <a:pt x="131509" y="59797"/>
                </a:lnTo>
                <a:lnTo>
                  <a:pt x="118466" y="72928"/>
                </a:ln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BA000C-D86A-DE80-73E9-2E5076F2A925}"/>
              </a:ext>
            </a:extLst>
          </p:cNvPr>
          <p:cNvSpPr txBox="1"/>
          <p:nvPr/>
        </p:nvSpPr>
        <p:spPr>
          <a:xfrm>
            <a:off x="6870922" y="4780893"/>
            <a:ext cx="707256" cy="12552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Automation</a:t>
            </a:r>
          </a:p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platforms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8A2EDF-9166-E73C-72EA-88F85A18B338}"/>
              </a:ext>
            </a:extLst>
          </p:cNvPr>
          <p:cNvSpPr txBox="1"/>
          <p:nvPr/>
        </p:nvSpPr>
        <p:spPr>
          <a:xfrm>
            <a:off x="1667411" y="1688262"/>
            <a:ext cx="931103" cy="217377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lnSpc>
                <a:spcPts val="1440"/>
              </a:lnSpc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Technical Teams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E9D290-0D24-499F-EE67-8ABC3DA600A6}"/>
              </a:ext>
            </a:extLst>
          </p:cNvPr>
          <p:cNvSpPr txBox="1"/>
          <p:nvPr/>
        </p:nvSpPr>
        <p:spPr>
          <a:xfrm>
            <a:off x="3433498" y="1764951"/>
            <a:ext cx="596930" cy="208768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lnSpc>
                <a:spcPts val="1440"/>
              </a:lnSpc>
            </a:pPr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A0D5B895-BCFC-5D0A-EF38-D330D5147767}"/>
              </a:ext>
            </a:extLst>
          </p:cNvPr>
          <p:cNvSpPr/>
          <p:nvPr/>
        </p:nvSpPr>
        <p:spPr>
          <a:xfrm>
            <a:off x="3647584" y="1444255"/>
            <a:ext cx="215863" cy="290562"/>
          </a:xfrm>
          <a:custGeom>
            <a:avLst/>
            <a:gdLst/>
            <a:ahLst/>
            <a:cxnLst/>
            <a:rect l="l" t="t" r="r" b="b"/>
            <a:pathLst>
              <a:path w="206667" h="289446">
                <a:moveTo>
                  <a:pt x="155321" y="221767"/>
                </a:moveTo>
                <a:cubicBezTo>
                  <a:pt x="165430" y="221767"/>
                  <a:pt x="173647" y="213538"/>
                  <a:pt x="173647" y="203441"/>
                </a:cubicBezTo>
                <a:cubicBezTo>
                  <a:pt x="173647" y="193332"/>
                  <a:pt x="165430" y="185103"/>
                  <a:pt x="155321" y="185103"/>
                </a:cubicBezTo>
                <a:cubicBezTo>
                  <a:pt x="145212" y="185103"/>
                  <a:pt x="136995" y="193332"/>
                  <a:pt x="136995" y="203441"/>
                </a:cubicBezTo>
                <a:cubicBezTo>
                  <a:pt x="136995" y="213538"/>
                  <a:pt x="145212" y="221767"/>
                  <a:pt x="155321" y="221767"/>
                </a:cubicBezTo>
                <a:close/>
                <a:moveTo>
                  <a:pt x="185991" y="289446"/>
                </a:moveTo>
                <a:lnTo>
                  <a:pt x="185991" y="253848"/>
                </a:lnTo>
                <a:lnTo>
                  <a:pt x="123812" y="253479"/>
                </a:lnTo>
                <a:lnTo>
                  <a:pt x="123812" y="288950"/>
                </a:lnTo>
                <a:lnTo>
                  <a:pt x="103149" y="288950"/>
                </a:lnTo>
                <a:lnTo>
                  <a:pt x="103149" y="232690"/>
                </a:lnTo>
                <a:lnTo>
                  <a:pt x="129768" y="232842"/>
                </a:lnTo>
                <a:lnTo>
                  <a:pt x="129768" y="232842"/>
                </a:lnTo>
                <a:cubicBezTo>
                  <a:pt x="121539" y="225679"/>
                  <a:pt x="116319" y="215176"/>
                  <a:pt x="116319" y="203441"/>
                </a:cubicBezTo>
                <a:cubicBezTo>
                  <a:pt x="116319" y="181928"/>
                  <a:pt x="133820" y="164427"/>
                  <a:pt x="155321" y="164427"/>
                </a:cubicBezTo>
                <a:cubicBezTo>
                  <a:pt x="176835" y="164427"/>
                  <a:pt x="194323" y="181928"/>
                  <a:pt x="194323" y="203441"/>
                </a:cubicBezTo>
                <a:cubicBezTo>
                  <a:pt x="194323" y="215329"/>
                  <a:pt x="188963" y="225984"/>
                  <a:pt x="180543" y="233134"/>
                </a:cubicBezTo>
                <a:lnTo>
                  <a:pt x="206667" y="233299"/>
                </a:lnTo>
                <a:lnTo>
                  <a:pt x="206667" y="289446"/>
                </a:lnTo>
                <a:close/>
                <a:moveTo>
                  <a:pt x="51613" y="62027"/>
                </a:moveTo>
                <a:lnTo>
                  <a:pt x="51613" y="41351"/>
                </a:lnTo>
                <a:lnTo>
                  <a:pt x="113474" y="41351"/>
                </a:lnTo>
                <a:lnTo>
                  <a:pt x="113474" y="62027"/>
                </a:lnTo>
                <a:close/>
                <a:moveTo>
                  <a:pt x="9880" y="289446"/>
                </a:moveTo>
                <a:cubicBezTo>
                  <a:pt x="4589" y="289446"/>
                  <a:pt x="263" y="285284"/>
                  <a:pt x="0" y="280058"/>
                </a:cubicBezTo>
                <a:lnTo>
                  <a:pt x="0" y="280058"/>
                </a:lnTo>
                <a:lnTo>
                  <a:pt x="0" y="9388"/>
                </a:lnTo>
                <a:lnTo>
                  <a:pt x="0" y="9388"/>
                </a:lnTo>
                <a:cubicBezTo>
                  <a:pt x="263" y="4162"/>
                  <a:pt x="4589" y="0"/>
                  <a:pt x="9880" y="0"/>
                </a:cubicBezTo>
                <a:lnTo>
                  <a:pt x="155295" y="0"/>
                </a:lnTo>
                <a:cubicBezTo>
                  <a:pt x="160756" y="0"/>
                  <a:pt x="165189" y="4433"/>
                  <a:pt x="165189" y="9893"/>
                </a:cubicBezTo>
                <a:lnTo>
                  <a:pt x="165189" y="144729"/>
                </a:lnTo>
                <a:lnTo>
                  <a:pt x="144513" y="144729"/>
                </a:lnTo>
                <a:lnTo>
                  <a:pt x="144513" y="20676"/>
                </a:lnTo>
                <a:lnTo>
                  <a:pt x="20663" y="20676"/>
                </a:lnTo>
                <a:lnTo>
                  <a:pt x="20663" y="268770"/>
                </a:lnTo>
                <a:lnTo>
                  <a:pt x="82093" y="268770"/>
                </a:lnTo>
                <a:lnTo>
                  <a:pt x="82093" y="289446"/>
                </a:ln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7FD68350-791A-E598-280F-49795A1350E2}"/>
              </a:ext>
            </a:extLst>
          </p:cNvPr>
          <p:cNvSpPr/>
          <p:nvPr/>
        </p:nvSpPr>
        <p:spPr>
          <a:xfrm>
            <a:off x="9014350" y="1891152"/>
            <a:ext cx="1070986" cy="330230"/>
          </a:xfrm>
          <a:custGeom>
            <a:avLst/>
            <a:gdLst/>
            <a:ahLst/>
            <a:cxnLst/>
            <a:rect l="l" t="t" r="r" b="b"/>
            <a:pathLst>
              <a:path w="2553678" h="275996">
                <a:moveTo>
                  <a:pt x="0" y="275996"/>
                </a:moveTo>
                <a:lnTo>
                  <a:pt x="2553678" y="275996"/>
                </a:lnTo>
                <a:lnTo>
                  <a:pt x="2553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855"/>
          </a:solidFill>
          <a:ln>
            <a:solidFill>
              <a:srgbClr val="002855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DA70A0-BED5-DD15-6317-B94DF4BBB59E}"/>
              </a:ext>
            </a:extLst>
          </p:cNvPr>
          <p:cNvSpPr txBox="1"/>
          <p:nvPr/>
        </p:nvSpPr>
        <p:spPr>
          <a:xfrm>
            <a:off x="9135804" y="1934521"/>
            <a:ext cx="944463" cy="166865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algn="ctr"/>
            <a:r>
              <a:rPr lang="en-US" sz="9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</a:t>
            </a:r>
          </a:p>
          <a:p>
            <a:pPr algn="ctr"/>
            <a:r>
              <a:rPr lang="en-US" sz="9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targets</a:t>
            </a:r>
          </a:p>
        </p:txBody>
      </p:sp>
      <p:sp>
        <p:nvSpPr>
          <p:cNvPr id="94" name="Freeform 95">
            <a:extLst>
              <a:ext uri="{FF2B5EF4-FFF2-40B4-BE49-F238E27FC236}">
                <a16:creationId xmlns:a16="http://schemas.microsoft.com/office/drawing/2014/main" id="{2415929A-F496-570D-671E-377C54BA27F1}"/>
              </a:ext>
            </a:extLst>
          </p:cNvPr>
          <p:cNvSpPr/>
          <p:nvPr/>
        </p:nvSpPr>
        <p:spPr>
          <a:xfrm>
            <a:off x="9944319" y="2836064"/>
            <a:ext cx="660381" cy="199857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5309"/>
          </a:solidFill>
        </p:spPr>
        <p:txBody>
          <a:bodyPr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endParaRPr lang="en-CN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Freeform 95">
            <a:extLst>
              <a:ext uri="{FF2B5EF4-FFF2-40B4-BE49-F238E27FC236}">
                <a16:creationId xmlns:a16="http://schemas.microsoft.com/office/drawing/2014/main" id="{F0ED3E96-7314-78EC-1EC4-0817184CC420}"/>
              </a:ext>
            </a:extLst>
          </p:cNvPr>
          <p:cNvSpPr/>
          <p:nvPr/>
        </p:nvSpPr>
        <p:spPr>
          <a:xfrm>
            <a:off x="9947916" y="3195686"/>
            <a:ext cx="656784" cy="207385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5309"/>
          </a:solidFill>
        </p:spPr>
        <p:txBody>
          <a:bodyPr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On-Prem</a:t>
            </a:r>
            <a:endParaRPr lang="en-CN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7147B52B-F749-3C5D-54DD-7C51A0848E9D}"/>
              </a:ext>
            </a:extLst>
          </p:cNvPr>
          <p:cNvSpPr/>
          <p:nvPr/>
        </p:nvSpPr>
        <p:spPr>
          <a:xfrm>
            <a:off x="9947916" y="3562836"/>
            <a:ext cx="656784" cy="207385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5309"/>
          </a:solidFill>
        </p:spPr>
        <p:txBody>
          <a:bodyPr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</a:t>
            </a:r>
            <a:endParaRPr lang="en-CN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Freeform 94">
            <a:extLst>
              <a:ext uri="{FF2B5EF4-FFF2-40B4-BE49-F238E27FC236}">
                <a16:creationId xmlns:a16="http://schemas.microsoft.com/office/drawing/2014/main" id="{E7E89648-1C27-0316-7112-12D3F9D269B7}"/>
              </a:ext>
            </a:extLst>
          </p:cNvPr>
          <p:cNvSpPr/>
          <p:nvPr/>
        </p:nvSpPr>
        <p:spPr>
          <a:xfrm>
            <a:off x="5250005" y="1382349"/>
            <a:ext cx="3285555" cy="740080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sq">
            <a:solidFill>
              <a:srgbClr val="002855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Freeform 95">
            <a:extLst>
              <a:ext uri="{FF2B5EF4-FFF2-40B4-BE49-F238E27FC236}">
                <a16:creationId xmlns:a16="http://schemas.microsoft.com/office/drawing/2014/main" id="{519DFBEF-50E1-BA3D-0F0E-AD9973897680}"/>
              </a:ext>
            </a:extLst>
          </p:cNvPr>
          <p:cNvSpPr/>
          <p:nvPr/>
        </p:nvSpPr>
        <p:spPr>
          <a:xfrm>
            <a:off x="5254049" y="1374214"/>
            <a:ext cx="3281511" cy="307106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3CFDDD3-0E3D-990F-7191-25F5622EF9D9}"/>
              </a:ext>
            </a:extLst>
          </p:cNvPr>
          <p:cNvSpPr txBox="1"/>
          <p:nvPr/>
        </p:nvSpPr>
        <p:spPr>
          <a:xfrm>
            <a:off x="6256847" y="1442418"/>
            <a:ext cx="1178616" cy="245345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lnSpc>
                <a:spcPts val="1440"/>
              </a:lnSpc>
            </a:pPr>
            <a:r>
              <a:rPr lang="en-US" sz="10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Catalog Access</a:t>
            </a:r>
          </a:p>
        </p:txBody>
      </p:sp>
      <p:sp>
        <p:nvSpPr>
          <p:cNvPr id="118" name="Freeform 78">
            <a:extLst>
              <a:ext uri="{FF2B5EF4-FFF2-40B4-BE49-F238E27FC236}">
                <a16:creationId xmlns:a16="http://schemas.microsoft.com/office/drawing/2014/main" id="{061C940C-04AA-4CFC-D518-97C0C52B28E6}"/>
              </a:ext>
            </a:extLst>
          </p:cNvPr>
          <p:cNvSpPr/>
          <p:nvPr/>
        </p:nvSpPr>
        <p:spPr>
          <a:xfrm>
            <a:off x="5633452" y="5837389"/>
            <a:ext cx="262301" cy="211811"/>
          </a:xfrm>
          <a:custGeom>
            <a:avLst/>
            <a:gdLst/>
            <a:ahLst/>
            <a:cxnLst/>
            <a:rect l="l" t="t" r="r" b="b"/>
            <a:pathLst>
              <a:path w="218808" h="267633">
                <a:moveTo>
                  <a:pt x="157023" y="237471"/>
                </a:moveTo>
                <a:lnTo>
                  <a:pt x="198234" y="201898"/>
                </a:lnTo>
                <a:lnTo>
                  <a:pt x="198234" y="200959"/>
                </a:lnTo>
                <a:lnTo>
                  <a:pt x="157023" y="201365"/>
                </a:lnTo>
                <a:lnTo>
                  <a:pt x="157023" y="237471"/>
                </a:lnTo>
                <a:close/>
                <a:moveTo>
                  <a:pt x="100279" y="213951"/>
                </a:moveTo>
                <a:cubicBezTo>
                  <a:pt x="103061" y="213951"/>
                  <a:pt x="105423" y="211665"/>
                  <a:pt x="105423" y="208972"/>
                </a:cubicBezTo>
                <a:lnTo>
                  <a:pt x="105423" y="189097"/>
                </a:lnTo>
                <a:cubicBezTo>
                  <a:pt x="105423" y="186404"/>
                  <a:pt x="103061" y="184131"/>
                  <a:pt x="100279" y="184131"/>
                </a:cubicBezTo>
                <a:cubicBezTo>
                  <a:pt x="97485" y="184131"/>
                  <a:pt x="95136" y="186404"/>
                  <a:pt x="95136" y="189097"/>
                </a:cubicBezTo>
                <a:lnTo>
                  <a:pt x="95136" y="208972"/>
                </a:lnTo>
                <a:cubicBezTo>
                  <a:pt x="95136" y="211665"/>
                  <a:pt x="97485" y="213951"/>
                  <a:pt x="100279" y="213951"/>
                </a:cubicBezTo>
                <a:close/>
                <a:moveTo>
                  <a:pt x="100274" y="233825"/>
                </a:moveTo>
                <a:cubicBezTo>
                  <a:pt x="97590" y="233825"/>
                  <a:pt x="94812" y="233426"/>
                  <a:pt x="91999" y="232569"/>
                </a:cubicBezTo>
                <a:cubicBezTo>
                  <a:pt x="81394" y="229330"/>
                  <a:pt x="74562" y="219310"/>
                  <a:pt x="74562" y="206293"/>
                </a:cubicBezTo>
                <a:lnTo>
                  <a:pt x="74562" y="189605"/>
                </a:lnTo>
                <a:cubicBezTo>
                  <a:pt x="74562" y="177946"/>
                  <a:pt x="82664" y="167392"/>
                  <a:pt x="94450" y="164878"/>
                </a:cubicBezTo>
                <a:cubicBezTo>
                  <a:pt x="96431" y="164453"/>
                  <a:pt x="98387" y="164251"/>
                  <a:pt x="100294" y="164251"/>
                </a:cubicBezTo>
                <a:cubicBezTo>
                  <a:pt x="114464" y="164251"/>
                  <a:pt x="125997" y="175397"/>
                  <a:pt x="125997" y="189097"/>
                </a:cubicBezTo>
                <a:lnTo>
                  <a:pt x="125997" y="208972"/>
                </a:lnTo>
                <a:cubicBezTo>
                  <a:pt x="125997" y="222674"/>
                  <a:pt x="114457" y="233825"/>
                  <a:pt x="100274" y="233825"/>
                </a:cubicBezTo>
                <a:close/>
                <a:moveTo>
                  <a:pt x="162154" y="124149"/>
                </a:moveTo>
                <a:cubicBezTo>
                  <a:pt x="164935" y="124149"/>
                  <a:pt x="167297" y="121876"/>
                  <a:pt x="167297" y="119183"/>
                </a:cubicBezTo>
                <a:lnTo>
                  <a:pt x="167297" y="99308"/>
                </a:lnTo>
                <a:cubicBezTo>
                  <a:pt x="167297" y="96615"/>
                  <a:pt x="164935" y="94342"/>
                  <a:pt x="162154" y="94342"/>
                </a:cubicBezTo>
                <a:cubicBezTo>
                  <a:pt x="159360" y="94342"/>
                  <a:pt x="157010" y="96615"/>
                  <a:pt x="157010" y="99308"/>
                </a:cubicBezTo>
                <a:lnTo>
                  <a:pt x="157010" y="119183"/>
                </a:lnTo>
                <a:cubicBezTo>
                  <a:pt x="157010" y="121876"/>
                  <a:pt x="159360" y="124149"/>
                  <a:pt x="162154" y="124149"/>
                </a:cubicBezTo>
                <a:close/>
                <a:moveTo>
                  <a:pt x="162148" y="144036"/>
                </a:moveTo>
                <a:cubicBezTo>
                  <a:pt x="159465" y="144036"/>
                  <a:pt x="156686" y="143637"/>
                  <a:pt x="153873" y="142780"/>
                </a:cubicBezTo>
                <a:cubicBezTo>
                  <a:pt x="143269" y="139541"/>
                  <a:pt x="136436" y="129521"/>
                  <a:pt x="136436" y="116491"/>
                </a:cubicBezTo>
                <a:lnTo>
                  <a:pt x="136436" y="99829"/>
                </a:lnTo>
                <a:cubicBezTo>
                  <a:pt x="136436" y="88157"/>
                  <a:pt x="144539" y="77604"/>
                  <a:pt x="156312" y="75089"/>
                </a:cubicBezTo>
                <a:cubicBezTo>
                  <a:pt x="158295" y="74664"/>
                  <a:pt x="160251" y="74462"/>
                  <a:pt x="162160" y="74462"/>
                </a:cubicBezTo>
                <a:cubicBezTo>
                  <a:pt x="176339" y="74462"/>
                  <a:pt x="187871" y="85607"/>
                  <a:pt x="187871" y="99308"/>
                </a:cubicBezTo>
                <a:lnTo>
                  <a:pt x="187871" y="119183"/>
                </a:lnTo>
                <a:cubicBezTo>
                  <a:pt x="187871" y="132885"/>
                  <a:pt x="176332" y="144036"/>
                  <a:pt x="162148" y="144036"/>
                </a:cubicBezTo>
                <a:close/>
                <a:moveTo>
                  <a:pt x="75502" y="144024"/>
                </a:moveTo>
                <a:lnTo>
                  <a:pt x="75502" y="74454"/>
                </a:lnTo>
                <a:lnTo>
                  <a:pt x="96076" y="74454"/>
                </a:lnTo>
                <a:lnTo>
                  <a:pt x="96076" y="144024"/>
                </a:lnTo>
                <a:close/>
                <a:moveTo>
                  <a:pt x="106363" y="144024"/>
                </a:moveTo>
                <a:lnTo>
                  <a:pt x="106363" y="74454"/>
                </a:lnTo>
                <a:lnTo>
                  <a:pt x="126937" y="74454"/>
                </a:lnTo>
                <a:lnTo>
                  <a:pt x="126937" y="144024"/>
                </a:lnTo>
                <a:close/>
                <a:moveTo>
                  <a:pt x="136449" y="247060"/>
                </a:moveTo>
                <a:lnTo>
                  <a:pt x="136449" y="180994"/>
                </a:lnTo>
                <a:lnTo>
                  <a:pt x="198234" y="180385"/>
                </a:lnTo>
                <a:lnTo>
                  <a:pt x="198234" y="61703"/>
                </a:lnTo>
                <a:lnTo>
                  <a:pt x="60947" y="61703"/>
                </a:lnTo>
                <a:lnTo>
                  <a:pt x="60947" y="247060"/>
                </a:lnTo>
                <a:close/>
                <a:moveTo>
                  <a:pt x="40373" y="207042"/>
                </a:moveTo>
                <a:lnTo>
                  <a:pt x="40373" y="41129"/>
                </a:lnTo>
                <a:lnTo>
                  <a:pt x="157861" y="41129"/>
                </a:lnTo>
                <a:lnTo>
                  <a:pt x="157861" y="20428"/>
                </a:lnTo>
                <a:lnTo>
                  <a:pt x="20574" y="20428"/>
                </a:lnTo>
                <a:lnTo>
                  <a:pt x="20574" y="207042"/>
                </a:lnTo>
                <a:close/>
                <a:moveTo>
                  <a:pt x="40373" y="267634"/>
                </a:moveTo>
                <a:lnTo>
                  <a:pt x="40373" y="227616"/>
                </a:lnTo>
                <a:lnTo>
                  <a:pt x="0" y="227616"/>
                </a:lnTo>
                <a:lnTo>
                  <a:pt x="0" y="0"/>
                </a:lnTo>
                <a:lnTo>
                  <a:pt x="178435" y="0"/>
                </a:lnTo>
                <a:lnTo>
                  <a:pt x="178435" y="41129"/>
                </a:lnTo>
                <a:lnTo>
                  <a:pt x="218808" y="41129"/>
                </a:lnTo>
                <a:lnTo>
                  <a:pt x="218808" y="211322"/>
                </a:lnTo>
                <a:lnTo>
                  <a:pt x="153556" y="267634"/>
                </a:ln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3A4ECCD-5E26-3808-5C75-AE9E69AFE5FB}"/>
              </a:ext>
            </a:extLst>
          </p:cNvPr>
          <p:cNvSpPr txBox="1"/>
          <p:nvPr/>
        </p:nvSpPr>
        <p:spPr>
          <a:xfrm>
            <a:off x="5915914" y="5823494"/>
            <a:ext cx="585219" cy="194618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Policy-as-Code</a:t>
            </a:r>
          </a:p>
        </p:txBody>
      </p:sp>
      <p:pic>
        <p:nvPicPr>
          <p:cNvPr id="129" name="Graphic 128">
            <a:extLst>
              <a:ext uri="{FF2B5EF4-FFF2-40B4-BE49-F238E27FC236}">
                <a16:creationId xmlns:a16="http://schemas.microsoft.com/office/drawing/2014/main" id="{8B80E6D8-656E-3A38-70FE-382792816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2089" y="5828887"/>
            <a:ext cx="338621" cy="253124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D960C3D1-1D32-51CC-2664-C66E6C0EB8DC}"/>
              </a:ext>
            </a:extLst>
          </p:cNvPr>
          <p:cNvSpPr txBox="1"/>
          <p:nvPr/>
        </p:nvSpPr>
        <p:spPr>
          <a:xfrm>
            <a:off x="4454473" y="5826749"/>
            <a:ext cx="585219" cy="194618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Secrets Mgmt</a:t>
            </a:r>
          </a:p>
        </p:txBody>
      </p:sp>
      <p:pic>
        <p:nvPicPr>
          <p:cNvPr id="131" name="Graphic 130">
            <a:extLst>
              <a:ext uri="{FF2B5EF4-FFF2-40B4-BE49-F238E27FC236}">
                <a16:creationId xmlns:a16="http://schemas.microsoft.com/office/drawing/2014/main" id="{23E27F2B-F23E-0EBC-ED77-3F1967BD22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9244" y="5865513"/>
            <a:ext cx="306712" cy="229273"/>
          </a:xfrm>
          <a:prstGeom prst="rect">
            <a:avLst/>
          </a:prstGeom>
        </p:spPr>
      </p:pic>
      <p:pic>
        <p:nvPicPr>
          <p:cNvPr id="134" name="Picture 133" descr="A blue triangle with a exclamation mark&#10;&#10;Description automatically generated">
            <a:extLst>
              <a:ext uri="{FF2B5EF4-FFF2-40B4-BE49-F238E27FC236}">
                <a16:creationId xmlns:a16="http://schemas.microsoft.com/office/drawing/2014/main" id="{13BE212C-C425-DCA0-B893-8A5C0CD48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7262" y="6230930"/>
            <a:ext cx="265144" cy="221945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BE01611E-4A04-7DC4-2E5C-B9946C073B89}"/>
              </a:ext>
            </a:extLst>
          </p:cNvPr>
          <p:cNvSpPr txBox="1"/>
          <p:nvPr/>
        </p:nvSpPr>
        <p:spPr>
          <a:xfrm>
            <a:off x="7058512" y="5853966"/>
            <a:ext cx="610842" cy="118775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</a:t>
            </a:r>
          </a:p>
          <a:p>
            <a:r>
              <a:rPr lang="en-US" sz="9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Mgmt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54A4113-8065-3FD4-CA0E-592CBEDA5579}"/>
              </a:ext>
            </a:extLst>
          </p:cNvPr>
          <p:cNvSpPr txBox="1"/>
          <p:nvPr/>
        </p:nvSpPr>
        <p:spPr>
          <a:xfrm>
            <a:off x="7882406" y="6281287"/>
            <a:ext cx="585219" cy="161728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Alerting</a:t>
            </a:r>
          </a:p>
        </p:txBody>
      </p:sp>
      <p:pic>
        <p:nvPicPr>
          <p:cNvPr id="141" name="Graphic 140">
            <a:extLst>
              <a:ext uri="{FF2B5EF4-FFF2-40B4-BE49-F238E27FC236}">
                <a16:creationId xmlns:a16="http://schemas.microsoft.com/office/drawing/2014/main" id="{50B1CC96-ABFB-8B2F-AFEF-0A1033B8CD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3998" y="5854240"/>
            <a:ext cx="337472" cy="253478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C47AA41-1393-62F0-37AD-F476E91B9082}"/>
              </a:ext>
            </a:extLst>
          </p:cNvPr>
          <p:cNvSpPr txBox="1"/>
          <p:nvPr/>
        </p:nvSpPr>
        <p:spPr>
          <a:xfrm>
            <a:off x="7913447" y="5913381"/>
            <a:ext cx="658959" cy="118719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99A91DE-1B27-57A8-6788-886636768A1A}"/>
              </a:ext>
            </a:extLst>
          </p:cNvPr>
          <p:cNvSpPr txBox="1"/>
          <p:nvPr/>
        </p:nvSpPr>
        <p:spPr>
          <a:xfrm>
            <a:off x="5714425" y="4782621"/>
            <a:ext cx="707256" cy="12552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Infrastructure pipelines</a:t>
            </a:r>
          </a:p>
        </p:txBody>
      </p:sp>
      <p:pic>
        <p:nvPicPr>
          <p:cNvPr id="152" name="Picture 151" descr="A blue arrows and circles on a black background&#10;&#10;Description automatically generated">
            <a:extLst>
              <a:ext uri="{FF2B5EF4-FFF2-40B4-BE49-F238E27FC236}">
                <a16:creationId xmlns:a16="http://schemas.microsoft.com/office/drawing/2014/main" id="{E583C470-FBE0-1273-3747-B2B94D7FB6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8934" y="4795406"/>
            <a:ext cx="286033" cy="217793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AABC0C8D-58E5-317C-7EFB-DF0100237792}"/>
              </a:ext>
            </a:extLst>
          </p:cNvPr>
          <p:cNvSpPr txBox="1"/>
          <p:nvPr/>
        </p:nvSpPr>
        <p:spPr>
          <a:xfrm>
            <a:off x="6755474" y="1745428"/>
            <a:ext cx="568572" cy="30186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Custom Interface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CE5F5F0-2C94-3F08-9A74-E64CA6BE43EE}"/>
              </a:ext>
            </a:extLst>
          </p:cNvPr>
          <p:cNvSpPr txBox="1"/>
          <p:nvPr/>
        </p:nvSpPr>
        <p:spPr>
          <a:xfrm>
            <a:off x="7986193" y="4774346"/>
            <a:ext cx="472250" cy="28116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Loops</a:t>
            </a:r>
          </a:p>
        </p:txBody>
      </p:sp>
      <p:pic>
        <p:nvPicPr>
          <p:cNvPr id="192" name="Graphic 191">
            <a:extLst>
              <a:ext uri="{FF2B5EF4-FFF2-40B4-BE49-F238E27FC236}">
                <a16:creationId xmlns:a16="http://schemas.microsoft.com/office/drawing/2014/main" id="{282E1795-629D-64A4-2C10-05BB735AE1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6491" y="1748256"/>
            <a:ext cx="399842" cy="300325"/>
          </a:xfrm>
          <a:prstGeom prst="rect">
            <a:avLst/>
          </a:prstGeom>
        </p:spPr>
      </p:pic>
      <p:sp>
        <p:nvSpPr>
          <p:cNvPr id="196" name="TextBox 195">
            <a:extLst>
              <a:ext uri="{FF2B5EF4-FFF2-40B4-BE49-F238E27FC236}">
                <a16:creationId xmlns:a16="http://schemas.microsoft.com/office/drawing/2014/main" id="{3F4A5931-675B-F4C9-391C-C604EC85D095}"/>
              </a:ext>
            </a:extLst>
          </p:cNvPr>
          <p:cNvSpPr txBox="1"/>
          <p:nvPr/>
        </p:nvSpPr>
        <p:spPr>
          <a:xfrm>
            <a:off x="5657110" y="1835598"/>
            <a:ext cx="707256" cy="12552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 Portal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DD6878D-C492-9B83-D60D-A4CC7B9F2B44}"/>
              </a:ext>
            </a:extLst>
          </p:cNvPr>
          <p:cNvSpPr txBox="1"/>
          <p:nvPr/>
        </p:nvSpPr>
        <p:spPr>
          <a:xfrm>
            <a:off x="7828304" y="1824398"/>
            <a:ext cx="707256" cy="12552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Console</a:t>
            </a: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C3E26EB7-09EF-EF5D-5CA2-C5FC8F786F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03960" y="3397309"/>
            <a:ext cx="322730" cy="242406"/>
          </a:xfrm>
          <a:prstGeom prst="rect">
            <a:avLst/>
          </a:prstGeom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08A1F969-0686-72F9-F637-A897D9B64417}"/>
              </a:ext>
            </a:extLst>
          </p:cNvPr>
          <p:cNvSpPr txBox="1"/>
          <p:nvPr/>
        </p:nvSpPr>
        <p:spPr>
          <a:xfrm>
            <a:off x="9214270" y="3651033"/>
            <a:ext cx="734564" cy="166865"/>
          </a:xfrm>
          <a:prstGeom prst="rect">
            <a:avLst/>
          </a:prstGeom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10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</a:t>
            </a:r>
          </a:p>
        </p:txBody>
      </p:sp>
      <p:sp>
        <p:nvSpPr>
          <p:cNvPr id="227" name="Freeform 226">
            <a:extLst>
              <a:ext uri="{FF2B5EF4-FFF2-40B4-BE49-F238E27FC236}">
                <a16:creationId xmlns:a16="http://schemas.microsoft.com/office/drawing/2014/main" id="{3C28ABC5-040E-7C2F-7820-CB219FF7EA56}"/>
              </a:ext>
            </a:extLst>
          </p:cNvPr>
          <p:cNvSpPr/>
          <p:nvPr/>
        </p:nvSpPr>
        <p:spPr>
          <a:xfrm>
            <a:off x="942111" y="870941"/>
            <a:ext cx="116175" cy="116175"/>
          </a:xfrm>
          <a:custGeom>
            <a:avLst/>
            <a:gdLst/>
            <a:ahLst/>
            <a:cxnLst/>
            <a:rect l="l" t="t" r="r" b="b"/>
            <a:pathLst>
              <a:path w="116205" h="116205">
                <a:moveTo>
                  <a:pt x="0" y="116206"/>
                </a:moveTo>
                <a:lnTo>
                  <a:pt x="116205" y="116206"/>
                </a:lnTo>
                <a:lnTo>
                  <a:pt x="11620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3CD9209-7EB9-04F8-32DA-4BA64DAE11D4}"/>
              </a:ext>
            </a:extLst>
          </p:cNvPr>
          <p:cNvSpPr txBox="1"/>
          <p:nvPr/>
        </p:nvSpPr>
        <p:spPr>
          <a:xfrm>
            <a:off x="1113514" y="859378"/>
            <a:ext cx="837982" cy="304721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>
                <a:latin typeface="Arial" panose="020B0604020202020204" pitchFamily="34" charset="0"/>
              </a:rPr>
              <a:t>Component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391477C-1561-3D8E-5CD8-6D929C0C3ED2}"/>
              </a:ext>
            </a:extLst>
          </p:cNvPr>
          <p:cNvSpPr txBox="1"/>
          <p:nvPr/>
        </p:nvSpPr>
        <p:spPr>
          <a:xfrm>
            <a:off x="2104498" y="786168"/>
            <a:ext cx="609441" cy="304721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>
                <a:latin typeface="Arial" panose="020B0604020202020204" pitchFamily="34" charset="0"/>
              </a:rPr>
              <a:t>Logical Grouping</a:t>
            </a:r>
          </a:p>
        </p:txBody>
      </p:sp>
      <p:sp>
        <p:nvSpPr>
          <p:cNvPr id="230" name="Freeform 229">
            <a:extLst>
              <a:ext uri="{FF2B5EF4-FFF2-40B4-BE49-F238E27FC236}">
                <a16:creationId xmlns:a16="http://schemas.microsoft.com/office/drawing/2014/main" id="{D6A23406-7B02-CB4D-7FC8-2E5DBB13CE68}"/>
              </a:ext>
            </a:extLst>
          </p:cNvPr>
          <p:cNvSpPr/>
          <p:nvPr/>
        </p:nvSpPr>
        <p:spPr>
          <a:xfrm>
            <a:off x="1969279" y="877290"/>
            <a:ext cx="103478" cy="103465"/>
          </a:xfrm>
          <a:custGeom>
            <a:avLst/>
            <a:gdLst/>
            <a:ahLst/>
            <a:cxnLst/>
            <a:rect l="l" t="t" r="r" b="b"/>
            <a:pathLst>
              <a:path w="103505" h="103492">
                <a:moveTo>
                  <a:pt x="0" y="77622"/>
                </a:moveTo>
                <a:lnTo>
                  <a:pt x="0" y="103492"/>
                </a:lnTo>
                <a:lnTo>
                  <a:pt x="25883" y="103492"/>
                </a:lnTo>
                <a:moveTo>
                  <a:pt x="77622" y="103492"/>
                </a:moveTo>
                <a:lnTo>
                  <a:pt x="103505" y="103492"/>
                </a:lnTo>
                <a:lnTo>
                  <a:pt x="103505" y="77622"/>
                </a:lnTo>
                <a:moveTo>
                  <a:pt x="103505" y="25870"/>
                </a:moveTo>
                <a:lnTo>
                  <a:pt x="103505" y="0"/>
                </a:lnTo>
                <a:lnTo>
                  <a:pt x="77622" y="0"/>
                </a:lnTo>
                <a:moveTo>
                  <a:pt x="25883" y="0"/>
                </a:moveTo>
                <a:lnTo>
                  <a:pt x="0" y="0"/>
                </a:lnTo>
                <a:lnTo>
                  <a:pt x="0" y="25870"/>
                </a:lnTo>
              </a:path>
            </a:pathLst>
          </a:custGeom>
          <a:noFill/>
          <a:ln w="12700" cap="sq">
            <a:solidFill>
              <a:srgbClr val="6E7878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233" name="Freeform 232">
            <a:extLst>
              <a:ext uri="{FF2B5EF4-FFF2-40B4-BE49-F238E27FC236}">
                <a16:creationId xmlns:a16="http://schemas.microsoft.com/office/drawing/2014/main" id="{219A3307-5D64-0A3C-50B0-BAB9D29248D7}"/>
              </a:ext>
            </a:extLst>
          </p:cNvPr>
          <p:cNvSpPr/>
          <p:nvPr/>
        </p:nvSpPr>
        <p:spPr>
          <a:xfrm>
            <a:off x="2799979" y="863855"/>
            <a:ext cx="147767" cy="116175"/>
          </a:xfrm>
          <a:custGeom>
            <a:avLst/>
            <a:gdLst/>
            <a:ahLst/>
            <a:cxnLst/>
            <a:rect l="l" t="t" r="r" b="b"/>
            <a:pathLst>
              <a:path w="116205" h="116205">
                <a:moveTo>
                  <a:pt x="0" y="116205"/>
                </a:moveTo>
                <a:lnTo>
                  <a:pt x="116205" y="116205"/>
                </a:lnTo>
                <a:lnTo>
                  <a:pt x="116205" y="0"/>
                </a:lnTo>
                <a:lnTo>
                  <a:pt x="0" y="0"/>
                </a:lnTo>
                <a:close/>
              </a:path>
            </a:pathLst>
          </a:custGeom>
          <a:solidFill>
            <a:srgbClr val="91DCF8"/>
          </a:solidFill>
        </p:spPr>
        <p:txBody>
          <a:bodyPr/>
          <a:lstStyle/>
          <a:p>
            <a:endParaRPr lang="en-CN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C9E7B96-5667-6FE9-8341-22FC05CE45BF}"/>
              </a:ext>
            </a:extLst>
          </p:cNvPr>
          <p:cNvSpPr txBox="1"/>
          <p:nvPr/>
        </p:nvSpPr>
        <p:spPr>
          <a:xfrm>
            <a:off x="2995915" y="769517"/>
            <a:ext cx="1114303" cy="304721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Internal I&amp;O Platform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0674B5-2554-2CC3-1369-0865B64B993F}"/>
              </a:ext>
            </a:extLst>
          </p:cNvPr>
          <p:cNvSpPr/>
          <p:nvPr/>
        </p:nvSpPr>
        <p:spPr>
          <a:xfrm>
            <a:off x="5179405" y="1336562"/>
            <a:ext cx="3406882" cy="815790"/>
          </a:xfrm>
          <a:prstGeom prst="rect">
            <a:avLst/>
          </a:prstGeom>
          <a:noFill/>
          <a:ln w="12700">
            <a:solidFill>
              <a:srgbClr val="6F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5C04B6-6623-0C2E-3668-62CD14D79DF1}"/>
              </a:ext>
            </a:extLst>
          </p:cNvPr>
          <p:cNvSpPr/>
          <p:nvPr/>
        </p:nvSpPr>
        <p:spPr>
          <a:xfrm>
            <a:off x="4052102" y="2506121"/>
            <a:ext cx="4592969" cy="2737204"/>
          </a:xfrm>
          <a:prstGeom prst="rect">
            <a:avLst/>
          </a:prstGeom>
          <a:noFill/>
          <a:ln w="12700">
            <a:solidFill>
              <a:srgbClr val="6F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775CFD-4A25-C3E9-E29D-A55DA8E24CA6}"/>
              </a:ext>
            </a:extLst>
          </p:cNvPr>
          <p:cNvSpPr/>
          <p:nvPr/>
        </p:nvSpPr>
        <p:spPr>
          <a:xfrm>
            <a:off x="4056776" y="5374386"/>
            <a:ext cx="4558950" cy="1296025"/>
          </a:xfrm>
          <a:prstGeom prst="rect">
            <a:avLst/>
          </a:prstGeom>
          <a:noFill/>
          <a:ln w="12700">
            <a:solidFill>
              <a:srgbClr val="6F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E4F2CD-415D-9906-B69A-7277A5486E7B}"/>
              </a:ext>
            </a:extLst>
          </p:cNvPr>
          <p:cNvSpPr txBox="1"/>
          <p:nvPr/>
        </p:nvSpPr>
        <p:spPr>
          <a:xfrm>
            <a:off x="9271996" y="808923"/>
            <a:ext cx="876072" cy="304721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Telemetry/ Events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BF0F4C-A640-D590-8EE6-A89A83DFB011}"/>
              </a:ext>
            </a:extLst>
          </p:cNvPr>
          <p:cNvSpPr txBox="1"/>
          <p:nvPr/>
        </p:nvSpPr>
        <p:spPr>
          <a:xfrm>
            <a:off x="4022707" y="774376"/>
            <a:ext cx="799892" cy="304721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User 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Access</a:t>
            </a:r>
          </a:p>
        </p:txBody>
      </p:sp>
      <p:cxnSp>
        <p:nvCxnSpPr>
          <p:cNvPr id="40" name="Connector 23">
            <a:extLst>
              <a:ext uri="{FF2B5EF4-FFF2-40B4-BE49-F238E27FC236}">
                <a16:creationId xmlns:a16="http://schemas.microsoft.com/office/drawing/2014/main" id="{12F3EC8C-DECB-8D53-FD8E-EFA3E50933A4}"/>
              </a:ext>
            </a:extLst>
          </p:cNvPr>
          <p:cNvCxnSpPr>
            <a:cxnSpLocks/>
          </p:cNvCxnSpPr>
          <p:nvPr/>
        </p:nvCxnSpPr>
        <p:spPr>
          <a:xfrm flipH="1">
            <a:off x="3735271" y="2314382"/>
            <a:ext cx="3209168" cy="0"/>
          </a:xfrm>
          <a:prstGeom prst="line">
            <a:avLst/>
          </a:prstGeom>
          <a:noFill/>
          <a:ln w="12700" cap="sq">
            <a:solidFill>
              <a:srgbClr val="00B0F0"/>
            </a:solidFill>
          </a:ln>
        </p:spPr>
      </p:cxnSp>
      <p:cxnSp>
        <p:nvCxnSpPr>
          <p:cNvPr id="86" name="Connector 25">
            <a:extLst>
              <a:ext uri="{FF2B5EF4-FFF2-40B4-BE49-F238E27FC236}">
                <a16:creationId xmlns:a16="http://schemas.microsoft.com/office/drawing/2014/main" id="{42B83125-809A-2A70-FC58-BFFCCD6B659C}"/>
              </a:ext>
            </a:extLst>
          </p:cNvPr>
          <p:cNvCxnSpPr>
            <a:cxnSpLocks/>
          </p:cNvCxnSpPr>
          <p:nvPr/>
        </p:nvCxnSpPr>
        <p:spPr>
          <a:xfrm flipH="1">
            <a:off x="9051234" y="959016"/>
            <a:ext cx="139887" cy="3049"/>
          </a:xfrm>
          <a:prstGeom prst="line">
            <a:avLst/>
          </a:prstGeom>
          <a:noFill/>
          <a:ln w="19050" cap="sq">
            <a:solidFill>
              <a:srgbClr val="FFC000"/>
            </a:solidFill>
            <a:prstDash val="solid"/>
          </a:ln>
        </p:spPr>
      </p:cxnSp>
      <p:sp>
        <p:nvSpPr>
          <p:cNvPr id="87" name="Freeform 86">
            <a:extLst>
              <a:ext uri="{FF2B5EF4-FFF2-40B4-BE49-F238E27FC236}">
                <a16:creationId xmlns:a16="http://schemas.microsoft.com/office/drawing/2014/main" id="{E2F0DEC0-086D-CF25-C19C-34566DBA1A93}"/>
              </a:ext>
            </a:extLst>
          </p:cNvPr>
          <p:cNvSpPr/>
          <p:nvPr/>
        </p:nvSpPr>
        <p:spPr>
          <a:xfrm>
            <a:off x="9176004" y="896549"/>
            <a:ext cx="67190" cy="124935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txBody>
          <a:bodyPr/>
          <a:lstStyle/>
          <a:p>
            <a:endParaRPr lang="en-CN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1612DEC-668A-BE28-1A3F-A35FC1D7FBA7}"/>
              </a:ext>
            </a:extLst>
          </p:cNvPr>
          <p:cNvGrpSpPr/>
          <p:nvPr/>
        </p:nvGrpSpPr>
        <p:grpSpPr>
          <a:xfrm rot="5400000">
            <a:off x="7104387" y="808362"/>
            <a:ext cx="154211" cy="274404"/>
            <a:chOff x="9253480" y="536685"/>
            <a:chExt cx="108128" cy="166223"/>
          </a:xfrm>
        </p:grpSpPr>
        <p:cxnSp>
          <p:nvCxnSpPr>
            <p:cNvPr id="89" name="Connector 39">
              <a:extLst>
                <a:ext uri="{FF2B5EF4-FFF2-40B4-BE49-F238E27FC236}">
                  <a16:creationId xmlns:a16="http://schemas.microsoft.com/office/drawing/2014/main" id="{1DBC4297-052D-52BC-4134-A447CD3C0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7544" y="582136"/>
              <a:ext cx="0" cy="75322"/>
            </a:xfrm>
            <a:prstGeom prst="line">
              <a:avLst/>
            </a:prstGeom>
            <a:noFill/>
            <a:ln w="19050" cap="sq">
              <a:solidFill>
                <a:srgbClr val="6E7878"/>
              </a:solidFill>
            </a:ln>
          </p:spPr>
        </p:cxn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C1904518-AA2A-E48C-1927-D982498EE71A}"/>
                </a:ext>
              </a:extLst>
            </p:cNvPr>
            <p:cNvSpPr/>
            <p:nvPr/>
          </p:nvSpPr>
          <p:spPr>
            <a:xfrm>
              <a:off x="9253480" y="644265"/>
              <a:ext cx="108128" cy="58643"/>
            </a:xfrm>
            <a:custGeom>
              <a:avLst/>
              <a:gdLst/>
              <a:ahLst/>
              <a:cxnLst/>
              <a:rect l="l" t="t" r="r" b="b"/>
              <a:pathLst>
                <a:path w="124968" h="67208">
                  <a:moveTo>
                    <a:pt x="62484" y="67208"/>
                  </a:moveTo>
                  <a:lnTo>
                    <a:pt x="1249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878"/>
            </a:solidFill>
          </p:spPr>
          <p:txBody>
            <a:bodyPr/>
            <a:lstStyle/>
            <a:p>
              <a:endParaRPr lang="en-CN">
                <a:cs typeface="Arial" panose="020B0604020202020204" pitchFamily="34" charset="0"/>
              </a:endParaRPr>
            </a:p>
          </p:txBody>
        </p:sp>
        <p:sp>
          <p:nvSpPr>
            <p:cNvPr id="91" name="Freeform 41">
              <a:extLst>
                <a:ext uri="{FF2B5EF4-FFF2-40B4-BE49-F238E27FC236}">
                  <a16:creationId xmlns:a16="http://schemas.microsoft.com/office/drawing/2014/main" id="{25A36B41-55BA-CCE0-EBFA-E45A816A277F}"/>
                </a:ext>
              </a:extLst>
            </p:cNvPr>
            <p:cNvSpPr/>
            <p:nvPr/>
          </p:nvSpPr>
          <p:spPr>
            <a:xfrm>
              <a:off x="9253480" y="536685"/>
              <a:ext cx="108128" cy="58643"/>
            </a:xfrm>
            <a:custGeom>
              <a:avLst/>
              <a:gdLst/>
              <a:ahLst/>
              <a:cxnLst/>
              <a:rect l="l" t="t" r="r" b="b"/>
              <a:pathLst>
                <a:path w="124968" h="67208">
                  <a:moveTo>
                    <a:pt x="62484" y="0"/>
                  </a:moveTo>
                  <a:lnTo>
                    <a:pt x="0" y="67209"/>
                  </a:lnTo>
                  <a:lnTo>
                    <a:pt x="124968" y="67209"/>
                  </a:lnTo>
                  <a:close/>
                </a:path>
              </a:pathLst>
            </a:custGeom>
            <a:solidFill>
              <a:srgbClr val="6E7878"/>
            </a:solidFill>
          </p:spPr>
          <p:txBody>
            <a:bodyPr/>
            <a:lstStyle/>
            <a:p>
              <a:endParaRPr lang="en-CN">
                <a:cs typeface="Arial" panose="020B0604020202020204" pitchFamily="34" charset="0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D7E12605-A063-3CF2-8D81-7D64066DD82E}"/>
              </a:ext>
            </a:extLst>
          </p:cNvPr>
          <p:cNvSpPr txBox="1"/>
          <p:nvPr/>
        </p:nvSpPr>
        <p:spPr>
          <a:xfrm>
            <a:off x="7343721" y="850896"/>
            <a:ext cx="940307" cy="304721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Integration</a:t>
            </a:r>
          </a:p>
        </p:txBody>
      </p:sp>
      <p:cxnSp>
        <p:nvCxnSpPr>
          <p:cNvPr id="97" name="Connector 39">
            <a:extLst>
              <a:ext uri="{FF2B5EF4-FFF2-40B4-BE49-F238E27FC236}">
                <a16:creationId xmlns:a16="http://schemas.microsoft.com/office/drawing/2014/main" id="{A19C8A41-415A-A0F8-1811-D32AB70E44B9}"/>
              </a:ext>
            </a:extLst>
          </p:cNvPr>
          <p:cNvCxnSpPr>
            <a:cxnSpLocks/>
          </p:cNvCxnSpPr>
          <p:nvPr/>
        </p:nvCxnSpPr>
        <p:spPr>
          <a:xfrm flipV="1">
            <a:off x="8085274" y="945564"/>
            <a:ext cx="135144" cy="3"/>
          </a:xfrm>
          <a:prstGeom prst="line">
            <a:avLst/>
          </a:prstGeom>
          <a:solidFill>
            <a:srgbClr val="FF5409"/>
          </a:solidFill>
          <a:ln w="19050" cap="sq">
            <a:solidFill>
              <a:srgbClr val="FF0000"/>
            </a:solidFill>
            <a:prstDash val="solid"/>
          </a:ln>
        </p:spPr>
      </p:cxnSp>
      <p:sp>
        <p:nvSpPr>
          <p:cNvPr id="102" name="Freeform 41">
            <a:extLst>
              <a:ext uri="{FF2B5EF4-FFF2-40B4-BE49-F238E27FC236}">
                <a16:creationId xmlns:a16="http://schemas.microsoft.com/office/drawing/2014/main" id="{7DCF34D5-30D3-0EAA-7E34-2D477C6677EC}"/>
              </a:ext>
            </a:extLst>
          </p:cNvPr>
          <p:cNvSpPr/>
          <p:nvPr/>
        </p:nvSpPr>
        <p:spPr>
          <a:xfrm rot="5400000">
            <a:off x="8192015" y="903611"/>
            <a:ext cx="102963" cy="83906"/>
          </a:xfrm>
          <a:custGeom>
            <a:avLst/>
            <a:gdLst/>
            <a:ahLst/>
            <a:cxnLst/>
            <a:rect l="l" t="t" r="r" b="b"/>
            <a:pathLst>
              <a:path w="124968" h="67208">
                <a:moveTo>
                  <a:pt x="62484" y="0"/>
                </a:moveTo>
                <a:lnTo>
                  <a:pt x="0" y="67209"/>
                </a:lnTo>
                <a:lnTo>
                  <a:pt x="124968" y="67209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txBody>
          <a:bodyPr/>
          <a:lstStyle/>
          <a:p>
            <a:endParaRPr lang="en-CN"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EEF6531-2011-68F8-3C24-7A91E70F9A4D}"/>
              </a:ext>
            </a:extLst>
          </p:cNvPr>
          <p:cNvSpPr txBox="1"/>
          <p:nvPr/>
        </p:nvSpPr>
        <p:spPr>
          <a:xfrm>
            <a:off x="8338718" y="781003"/>
            <a:ext cx="940307" cy="304721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Security/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Conformity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E0D69DA-21AC-EC2D-D23F-08D7E4532609}"/>
              </a:ext>
            </a:extLst>
          </p:cNvPr>
          <p:cNvSpPr txBox="1"/>
          <p:nvPr/>
        </p:nvSpPr>
        <p:spPr>
          <a:xfrm>
            <a:off x="4778748" y="791195"/>
            <a:ext cx="473009" cy="284212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API 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Access</a:t>
            </a:r>
          </a:p>
        </p:txBody>
      </p:sp>
      <p:cxnSp>
        <p:nvCxnSpPr>
          <p:cNvPr id="105" name="Connector 23">
            <a:extLst>
              <a:ext uri="{FF2B5EF4-FFF2-40B4-BE49-F238E27FC236}">
                <a16:creationId xmlns:a16="http://schemas.microsoft.com/office/drawing/2014/main" id="{0EBF54D8-73BD-1513-2487-C8518DDA12D4}"/>
              </a:ext>
            </a:extLst>
          </p:cNvPr>
          <p:cNvCxnSpPr>
            <a:cxnSpLocks/>
          </p:cNvCxnSpPr>
          <p:nvPr/>
        </p:nvCxnSpPr>
        <p:spPr>
          <a:xfrm flipH="1">
            <a:off x="4517427" y="942003"/>
            <a:ext cx="139960" cy="0"/>
          </a:xfrm>
          <a:prstGeom prst="line">
            <a:avLst/>
          </a:prstGeom>
          <a:noFill/>
          <a:ln w="19050" cap="sq">
            <a:solidFill>
              <a:srgbClr val="009AD8"/>
            </a:solidFill>
          </a:ln>
        </p:spPr>
      </p:cxnSp>
      <p:sp>
        <p:nvSpPr>
          <p:cNvPr id="106" name="Freeform 105">
            <a:extLst>
              <a:ext uri="{FF2B5EF4-FFF2-40B4-BE49-F238E27FC236}">
                <a16:creationId xmlns:a16="http://schemas.microsoft.com/office/drawing/2014/main" id="{492A91A9-D830-F001-7DB6-AA35F146D9B2}"/>
              </a:ext>
            </a:extLst>
          </p:cNvPr>
          <p:cNvSpPr/>
          <p:nvPr/>
        </p:nvSpPr>
        <p:spPr>
          <a:xfrm>
            <a:off x="4661026" y="884257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9AD8"/>
          </a:solidFill>
          <a:ln>
            <a:solidFill>
              <a:srgbClr val="009AD8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22F8C-42E1-6801-54DD-D7B8998C293B}"/>
              </a:ext>
            </a:extLst>
          </p:cNvPr>
          <p:cNvSpPr txBox="1"/>
          <p:nvPr/>
        </p:nvSpPr>
        <p:spPr>
          <a:xfrm>
            <a:off x="6986679" y="6302390"/>
            <a:ext cx="481858" cy="145594"/>
          </a:xfrm>
          <a:prstGeom prst="rect">
            <a:avLst/>
          </a:prstGeom>
        </p:spPr>
        <p:txBody>
          <a:bodyPr wrap="none" lIns="0" tIns="0" rIns="0" bIns="0" anchor="t"/>
          <a:lstStyle/>
          <a:p>
            <a:r>
              <a:rPr lang="en-US" sz="900" dirty="0">
                <a:solidFill>
                  <a:srgbClr val="002856"/>
                </a:solidFill>
                <a:cs typeface="Arial" panose="020B0604020202020204" pitchFamily="34" charset="0"/>
              </a:rPr>
              <a:t>Logging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261F718-4BD5-6C2A-1BBF-EA7A8232A8B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8125" y="6294642"/>
            <a:ext cx="281355" cy="2188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87FF9E-6299-AB81-7A4F-274DA4CBF7B8}"/>
              </a:ext>
            </a:extLst>
          </p:cNvPr>
          <p:cNvSpPr txBox="1"/>
          <p:nvPr/>
        </p:nvSpPr>
        <p:spPr>
          <a:xfrm>
            <a:off x="5160883" y="5888533"/>
            <a:ext cx="419022" cy="168878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algn="ctr"/>
            <a:r>
              <a:rPr lang="en-US" sz="900" dirty="0">
                <a:solidFill>
                  <a:srgbClr val="002856"/>
                </a:solidFill>
                <a:cs typeface="Arial" panose="020B0604020202020204" pitchFamily="34" charset="0"/>
              </a:rPr>
              <a:t>IAM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431CAC-F99B-62E3-70F7-BD3ABBF0E2D6}"/>
              </a:ext>
            </a:extLst>
          </p:cNvPr>
          <p:cNvGrpSpPr/>
          <p:nvPr/>
        </p:nvGrpSpPr>
        <p:grpSpPr>
          <a:xfrm>
            <a:off x="4971912" y="5822878"/>
            <a:ext cx="237494" cy="217047"/>
            <a:chOff x="6880846" y="2952211"/>
            <a:chExt cx="305366" cy="251065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4359F7B-35F9-CAA4-0118-D875F755FC46}"/>
                </a:ext>
              </a:extLst>
            </p:cNvPr>
            <p:cNvSpPr/>
            <p:nvPr/>
          </p:nvSpPr>
          <p:spPr>
            <a:xfrm>
              <a:off x="6942920" y="3048958"/>
              <a:ext cx="59096" cy="57161"/>
            </a:xfrm>
            <a:custGeom>
              <a:avLst/>
              <a:gdLst>
                <a:gd name="connsiteX0" fmla="*/ 32228 w 64480"/>
                <a:gd name="connsiteY0" fmla="*/ 64480 h 64480"/>
                <a:gd name="connsiteX1" fmla="*/ 64480 w 64480"/>
                <a:gd name="connsiteY1" fmla="*/ 32253 h 64480"/>
                <a:gd name="connsiteX2" fmla="*/ 32253 w 64480"/>
                <a:gd name="connsiteY2" fmla="*/ 0 h 64480"/>
                <a:gd name="connsiteX3" fmla="*/ 0 w 64480"/>
                <a:gd name="connsiteY3" fmla="*/ 32228 h 64480"/>
                <a:gd name="connsiteX4" fmla="*/ 0 w 64480"/>
                <a:gd name="connsiteY4" fmla="*/ 32240 h 64480"/>
                <a:gd name="connsiteX5" fmla="*/ 32224 w 64480"/>
                <a:gd name="connsiteY5" fmla="*/ 64480 h 64480"/>
                <a:gd name="connsiteX6" fmla="*/ 32228 w 64480"/>
                <a:gd name="connsiteY6" fmla="*/ 64480 h 64480"/>
                <a:gd name="connsiteX7" fmla="*/ 32228 w 64480"/>
                <a:gd name="connsiteY7" fmla="*/ 8334 h 64480"/>
                <a:gd name="connsiteX8" fmla="*/ 56151 w 64480"/>
                <a:gd name="connsiteY8" fmla="*/ 32232 h 64480"/>
                <a:gd name="connsiteX9" fmla="*/ 32253 w 64480"/>
                <a:gd name="connsiteY9" fmla="*/ 56155 h 64480"/>
                <a:gd name="connsiteX10" fmla="*/ 8330 w 64480"/>
                <a:gd name="connsiteY10" fmla="*/ 32257 h 64480"/>
                <a:gd name="connsiteX11" fmla="*/ 8330 w 64480"/>
                <a:gd name="connsiteY11" fmla="*/ 32240 h 64480"/>
                <a:gd name="connsiteX12" fmla="*/ 32228 w 64480"/>
                <a:gd name="connsiteY12" fmla="*/ 8334 h 6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480" h="64480">
                  <a:moveTo>
                    <a:pt x="32228" y="64480"/>
                  </a:moveTo>
                  <a:cubicBezTo>
                    <a:pt x="50033" y="64488"/>
                    <a:pt x="64473" y="50058"/>
                    <a:pt x="64480" y="32253"/>
                  </a:cubicBezTo>
                  <a:cubicBezTo>
                    <a:pt x="64488" y="14447"/>
                    <a:pt x="50058" y="7"/>
                    <a:pt x="32253" y="0"/>
                  </a:cubicBezTo>
                  <a:cubicBezTo>
                    <a:pt x="14447" y="-7"/>
                    <a:pt x="7" y="14422"/>
                    <a:pt x="0" y="32228"/>
                  </a:cubicBezTo>
                  <a:cubicBezTo>
                    <a:pt x="0" y="32232"/>
                    <a:pt x="0" y="32236"/>
                    <a:pt x="0" y="32240"/>
                  </a:cubicBezTo>
                  <a:cubicBezTo>
                    <a:pt x="-5" y="50041"/>
                    <a:pt x="14423" y="64476"/>
                    <a:pt x="32224" y="64480"/>
                  </a:cubicBezTo>
                  <a:cubicBezTo>
                    <a:pt x="32225" y="64480"/>
                    <a:pt x="32226" y="64480"/>
                    <a:pt x="32228" y="64480"/>
                  </a:cubicBezTo>
                  <a:close/>
                  <a:moveTo>
                    <a:pt x="32228" y="8334"/>
                  </a:moveTo>
                  <a:cubicBezTo>
                    <a:pt x="45433" y="8327"/>
                    <a:pt x="56144" y="19026"/>
                    <a:pt x="56151" y="32232"/>
                  </a:cubicBezTo>
                  <a:cubicBezTo>
                    <a:pt x="56158" y="45437"/>
                    <a:pt x="45458" y="56148"/>
                    <a:pt x="32253" y="56155"/>
                  </a:cubicBezTo>
                  <a:cubicBezTo>
                    <a:pt x="19047" y="56162"/>
                    <a:pt x="8337" y="45462"/>
                    <a:pt x="8330" y="32257"/>
                  </a:cubicBezTo>
                  <a:cubicBezTo>
                    <a:pt x="8330" y="32251"/>
                    <a:pt x="8330" y="32246"/>
                    <a:pt x="8330" y="32240"/>
                  </a:cubicBezTo>
                  <a:cubicBezTo>
                    <a:pt x="8341" y="19045"/>
                    <a:pt x="19033" y="8350"/>
                    <a:pt x="32228" y="8334"/>
                  </a:cubicBezTo>
                  <a:close/>
                </a:path>
              </a:pathLst>
            </a:custGeom>
            <a:solidFill>
              <a:srgbClr val="000000"/>
            </a:solidFill>
            <a:ln w="4068" cap="flat">
              <a:solidFill>
                <a:srgbClr val="0028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D1B9577-FE90-2F88-EA8A-A91C2B0F4F61}"/>
                </a:ext>
              </a:extLst>
            </p:cNvPr>
            <p:cNvSpPr/>
            <p:nvPr/>
          </p:nvSpPr>
          <p:spPr>
            <a:xfrm>
              <a:off x="6911383" y="3111340"/>
              <a:ext cx="122146" cy="58705"/>
            </a:xfrm>
            <a:custGeom>
              <a:avLst/>
              <a:gdLst>
                <a:gd name="connsiteX0" fmla="*/ 125504 w 133275"/>
                <a:gd name="connsiteY0" fmla="*/ 19679 h 66221"/>
                <a:gd name="connsiteX1" fmla="*/ 93605 w 133275"/>
                <a:gd name="connsiteY1" fmla="*/ 4069 h 66221"/>
                <a:gd name="connsiteX2" fmla="*/ 66638 w 133275"/>
                <a:gd name="connsiteY2" fmla="*/ 0 h 66221"/>
                <a:gd name="connsiteX3" fmla="*/ 39724 w 133275"/>
                <a:gd name="connsiteY3" fmla="*/ 4065 h 66221"/>
                <a:gd name="connsiteX4" fmla="*/ 7809 w 133275"/>
                <a:gd name="connsiteY4" fmla="*/ 19658 h 66221"/>
                <a:gd name="connsiteX5" fmla="*/ 0 w 133275"/>
                <a:gd name="connsiteY5" fmla="*/ 35401 h 66221"/>
                <a:gd name="connsiteX6" fmla="*/ 0 w 133275"/>
                <a:gd name="connsiteY6" fmla="*/ 66221 h 66221"/>
                <a:gd name="connsiteX7" fmla="*/ 133276 w 133275"/>
                <a:gd name="connsiteY7" fmla="*/ 66221 h 66221"/>
                <a:gd name="connsiteX8" fmla="*/ 133276 w 133275"/>
                <a:gd name="connsiteY8" fmla="*/ 35401 h 66221"/>
                <a:gd name="connsiteX9" fmla="*/ 125504 w 133275"/>
                <a:gd name="connsiteY9" fmla="*/ 19679 h 66221"/>
                <a:gd name="connsiteX10" fmla="*/ 124946 w 133275"/>
                <a:gd name="connsiteY10" fmla="*/ 57892 h 66221"/>
                <a:gd name="connsiteX11" fmla="*/ 8330 w 133275"/>
                <a:gd name="connsiteY11" fmla="*/ 57892 h 66221"/>
                <a:gd name="connsiteX12" fmla="*/ 8330 w 133275"/>
                <a:gd name="connsiteY12" fmla="*/ 35401 h 66221"/>
                <a:gd name="connsiteX13" fmla="*/ 12861 w 133275"/>
                <a:gd name="connsiteY13" fmla="*/ 26272 h 66221"/>
                <a:gd name="connsiteX14" fmla="*/ 41961 w 133275"/>
                <a:gd name="connsiteY14" fmla="*/ 12078 h 66221"/>
                <a:gd name="connsiteX15" fmla="*/ 66638 w 133275"/>
                <a:gd name="connsiteY15" fmla="*/ 8330 h 66221"/>
                <a:gd name="connsiteX16" fmla="*/ 91265 w 133275"/>
                <a:gd name="connsiteY16" fmla="*/ 12078 h 66221"/>
                <a:gd name="connsiteX17" fmla="*/ 120260 w 133275"/>
                <a:gd name="connsiteY17" fmla="*/ 26164 h 66221"/>
                <a:gd name="connsiteX18" fmla="*/ 124946 w 133275"/>
                <a:gd name="connsiteY18" fmla="*/ 35401 h 6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275" h="66221">
                  <a:moveTo>
                    <a:pt x="125504" y="19679"/>
                  </a:moveTo>
                  <a:cubicBezTo>
                    <a:pt x="116035" y="12373"/>
                    <a:pt x="105184" y="7063"/>
                    <a:pt x="93605" y="4069"/>
                  </a:cubicBezTo>
                  <a:cubicBezTo>
                    <a:pt x="84866" y="1390"/>
                    <a:pt x="75778" y="19"/>
                    <a:pt x="66638" y="0"/>
                  </a:cubicBezTo>
                  <a:cubicBezTo>
                    <a:pt x="57526" y="149"/>
                    <a:pt x="48474" y="1516"/>
                    <a:pt x="39724" y="4065"/>
                  </a:cubicBezTo>
                  <a:cubicBezTo>
                    <a:pt x="28269" y="7392"/>
                    <a:pt x="17473" y="12667"/>
                    <a:pt x="7809" y="19658"/>
                  </a:cubicBezTo>
                  <a:cubicBezTo>
                    <a:pt x="2972" y="23465"/>
                    <a:pt x="104" y="29247"/>
                    <a:pt x="0" y="35401"/>
                  </a:cubicBezTo>
                  <a:lnTo>
                    <a:pt x="0" y="66221"/>
                  </a:lnTo>
                  <a:lnTo>
                    <a:pt x="133276" y="66221"/>
                  </a:lnTo>
                  <a:lnTo>
                    <a:pt x="133276" y="35401"/>
                  </a:lnTo>
                  <a:cubicBezTo>
                    <a:pt x="133178" y="29259"/>
                    <a:pt x="130324" y="23487"/>
                    <a:pt x="125504" y="19679"/>
                  </a:cubicBezTo>
                  <a:close/>
                  <a:moveTo>
                    <a:pt x="124946" y="57892"/>
                  </a:moveTo>
                  <a:lnTo>
                    <a:pt x="8330" y="57892"/>
                  </a:lnTo>
                  <a:lnTo>
                    <a:pt x="8330" y="35401"/>
                  </a:lnTo>
                  <a:cubicBezTo>
                    <a:pt x="8409" y="31836"/>
                    <a:pt x="10069" y="28491"/>
                    <a:pt x="12861" y="26272"/>
                  </a:cubicBezTo>
                  <a:cubicBezTo>
                    <a:pt x="21695" y="19940"/>
                    <a:pt x="31533" y="15141"/>
                    <a:pt x="41961" y="12078"/>
                  </a:cubicBezTo>
                  <a:cubicBezTo>
                    <a:pt x="49984" y="9738"/>
                    <a:pt x="58282" y="8478"/>
                    <a:pt x="66638" y="8330"/>
                  </a:cubicBezTo>
                  <a:cubicBezTo>
                    <a:pt x="74987" y="8357"/>
                    <a:pt x="83286" y="9620"/>
                    <a:pt x="91265" y="12078"/>
                  </a:cubicBezTo>
                  <a:cubicBezTo>
                    <a:pt x="101781" y="14769"/>
                    <a:pt x="111645" y="19560"/>
                    <a:pt x="120260" y="26164"/>
                  </a:cubicBezTo>
                  <a:cubicBezTo>
                    <a:pt x="123130" y="28383"/>
                    <a:pt x="124851" y="31775"/>
                    <a:pt x="124946" y="35401"/>
                  </a:cubicBezTo>
                  <a:close/>
                </a:path>
              </a:pathLst>
            </a:custGeom>
            <a:solidFill>
              <a:srgbClr val="000000"/>
            </a:solidFill>
            <a:ln w="4068" cap="flat">
              <a:solidFill>
                <a:srgbClr val="0028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4E034FE-1EC3-015F-3842-AF2AB311003A}"/>
                </a:ext>
              </a:extLst>
            </p:cNvPr>
            <p:cNvSpPr/>
            <p:nvPr/>
          </p:nvSpPr>
          <p:spPr>
            <a:xfrm>
              <a:off x="7064067" y="3074049"/>
              <a:ext cx="91609" cy="7384"/>
            </a:xfrm>
            <a:custGeom>
              <a:avLst/>
              <a:gdLst>
                <a:gd name="connsiteX0" fmla="*/ 0 w 99956"/>
                <a:gd name="connsiteY0" fmla="*/ 0 h 8329"/>
                <a:gd name="connsiteX1" fmla="*/ 99957 w 99956"/>
                <a:gd name="connsiteY1" fmla="*/ 0 h 8329"/>
                <a:gd name="connsiteX2" fmla="*/ 99957 w 99956"/>
                <a:gd name="connsiteY2" fmla="*/ 8330 h 8329"/>
                <a:gd name="connsiteX3" fmla="*/ 0 w 99956"/>
                <a:gd name="connsiteY3" fmla="*/ 8330 h 8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956" h="8329">
                  <a:moveTo>
                    <a:pt x="0" y="0"/>
                  </a:moveTo>
                  <a:lnTo>
                    <a:pt x="99957" y="0"/>
                  </a:lnTo>
                  <a:lnTo>
                    <a:pt x="99957" y="8330"/>
                  </a:lnTo>
                  <a:lnTo>
                    <a:pt x="0" y="8330"/>
                  </a:lnTo>
                  <a:close/>
                </a:path>
              </a:pathLst>
            </a:custGeom>
            <a:solidFill>
              <a:srgbClr val="000000"/>
            </a:solidFill>
            <a:ln w="4068" cap="flat">
              <a:solidFill>
                <a:srgbClr val="0028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1E1C9F9-EBB7-220E-7ECA-99FB98819A7C}"/>
                </a:ext>
              </a:extLst>
            </p:cNvPr>
            <p:cNvSpPr/>
            <p:nvPr/>
          </p:nvSpPr>
          <p:spPr>
            <a:xfrm>
              <a:off x="7064067" y="3103586"/>
              <a:ext cx="91609" cy="7384"/>
            </a:xfrm>
            <a:custGeom>
              <a:avLst/>
              <a:gdLst>
                <a:gd name="connsiteX0" fmla="*/ 0 w 99956"/>
                <a:gd name="connsiteY0" fmla="*/ 0 h 8329"/>
                <a:gd name="connsiteX1" fmla="*/ 99957 w 99956"/>
                <a:gd name="connsiteY1" fmla="*/ 0 h 8329"/>
                <a:gd name="connsiteX2" fmla="*/ 99957 w 99956"/>
                <a:gd name="connsiteY2" fmla="*/ 8330 h 8329"/>
                <a:gd name="connsiteX3" fmla="*/ 0 w 99956"/>
                <a:gd name="connsiteY3" fmla="*/ 8330 h 8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956" h="8329">
                  <a:moveTo>
                    <a:pt x="0" y="0"/>
                  </a:moveTo>
                  <a:lnTo>
                    <a:pt x="99957" y="0"/>
                  </a:lnTo>
                  <a:lnTo>
                    <a:pt x="99957" y="8330"/>
                  </a:lnTo>
                  <a:lnTo>
                    <a:pt x="0" y="8330"/>
                  </a:lnTo>
                  <a:close/>
                </a:path>
              </a:pathLst>
            </a:custGeom>
            <a:solidFill>
              <a:srgbClr val="000000"/>
            </a:solidFill>
            <a:ln w="4068" cap="flat">
              <a:solidFill>
                <a:srgbClr val="0028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A7C7080-65A5-32BE-3ECA-5CE865663F78}"/>
                </a:ext>
              </a:extLst>
            </p:cNvPr>
            <p:cNvSpPr/>
            <p:nvPr/>
          </p:nvSpPr>
          <p:spPr>
            <a:xfrm>
              <a:off x="7064067" y="3133124"/>
              <a:ext cx="91609" cy="7384"/>
            </a:xfrm>
            <a:custGeom>
              <a:avLst/>
              <a:gdLst>
                <a:gd name="connsiteX0" fmla="*/ 0 w 99956"/>
                <a:gd name="connsiteY0" fmla="*/ 0 h 8329"/>
                <a:gd name="connsiteX1" fmla="*/ 99957 w 99956"/>
                <a:gd name="connsiteY1" fmla="*/ 0 h 8329"/>
                <a:gd name="connsiteX2" fmla="*/ 99957 w 99956"/>
                <a:gd name="connsiteY2" fmla="*/ 8330 h 8329"/>
                <a:gd name="connsiteX3" fmla="*/ 0 w 99956"/>
                <a:gd name="connsiteY3" fmla="*/ 8330 h 8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956" h="8329">
                  <a:moveTo>
                    <a:pt x="0" y="0"/>
                  </a:moveTo>
                  <a:lnTo>
                    <a:pt x="99957" y="0"/>
                  </a:lnTo>
                  <a:lnTo>
                    <a:pt x="99957" y="8330"/>
                  </a:lnTo>
                  <a:lnTo>
                    <a:pt x="0" y="8330"/>
                  </a:lnTo>
                  <a:close/>
                </a:path>
              </a:pathLst>
            </a:custGeom>
            <a:solidFill>
              <a:srgbClr val="000000"/>
            </a:solidFill>
            <a:ln w="4068" cap="flat">
              <a:solidFill>
                <a:srgbClr val="0028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03CE81AC-1992-8E2B-3C96-1C37EE3646F6}"/>
                </a:ext>
              </a:extLst>
            </p:cNvPr>
            <p:cNvSpPr/>
            <p:nvPr/>
          </p:nvSpPr>
          <p:spPr>
            <a:xfrm>
              <a:off x="7064067" y="3162661"/>
              <a:ext cx="91609" cy="7384"/>
            </a:xfrm>
            <a:custGeom>
              <a:avLst/>
              <a:gdLst>
                <a:gd name="connsiteX0" fmla="*/ 0 w 99956"/>
                <a:gd name="connsiteY0" fmla="*/ 0 h 8329"/>
                <a:gd name="connsiteX1" fmla="*/ 99957 w 99956"/>
                <a:gd name="connsiteY1" fmla="*/ 0 h 8329"/>
                <a:gd name="connsiteX2" fmla="*/ 99957 w 99956"/>
                <a:gd name="connsiteY2" fmla="*/ 8330 h 8329"/>
                <a:gd name="connsiteX3" fmla="*/ 0 w 99956"/>
                <a:gd name="connsiteY3" fmla="*/ 8330 h 8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956" h="8329">
                  <a:moveTo>
                    <a:pt x="0" y="0"/>
                  </a:moveTo>
                  <a:lnTo>
                    <a:pt x="99957" y="0"/>
                  </a:lnTo>
                  <a:lnTo>
                    <a:pt x="99957" y="8330"/>
                  </a:lnTo>
                  <a:lnTo>
                    <a:pt x="0" y="8330"/>
                  </a:lnTo>
                  <a:close/>
                </a:path>
              </a:pathLst>
            </a:custGeom>
            <a:solidFill>
              <a:srgbClr val="000000"/>
            </a:solidFill>
            <a:ln w="4068" cap="flat">
              <a:solidFill>
                <a:srgbClr val="0028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8F97AA1-7350-73CC-4570-4CEAF5467CED}"/>
                </a:ext>
              </a:extLst>
            </p:cNvPr>
            <p:cNvSpPr/>
            <p:nvPr/>
          </p:nvSpPr>
          <p:spPr>
            <a:xfrm>
              <a:off x="6880846" y="2952211"/>
              <a:ext cx="305366" cy="251065"/>
            </a:xfrm>
            <a:custGeom>
              <a:avLst/>
              <a:gdLst>
                <a:gd name="connsiteX0" fmla="*/ 316530 w 333189"/>
                <a:gd name="connsiteY0" fmla="*/ 49978 h 283210"/>
                <a:gd name="connsiteX1" fmla="*/ 195749 w 333189"/>
                <a:gd name="connsiteY1" fmla="*/ 49978 h 283210"/>
                <a:gd name="connsiteX2" fmla="*/ 195749 w 333189"/>
                <a:gd name="connsiteY2" fmla="*/ 16659 h 283210"/>
                <a:gd name="connsiteX3" fmla="*/ 179089 w 333189"/>
                <a:gd name="connsiteY3" fmla="*/ 0 h 283210"/>
                <a:gd name="connsiteX4" fmla="*/ 154100 w 333189"/>
                <a:gd name="connsiteY4" fmla="*/ 0 h 283210"/>
                <a:gd name="connsiteX5" fmla="*/ 137441 w 333189"/>
                <a:gd name="connsiteY5" fmla="*/ 16659 h 283210"/>
                <a:gd name="connsiteX6" fmla="*/ 137441 w 333189"/>
                <a:gd name="connsiteY6" fmla="*/ 49978 h 283210"/>
                <a:gd name="connsiteX7" fmla="*/ 16659 w 333189"/>
                <a:gd name="connsiteY7" fmla="*/ 49978 h 283210"/>
                <a:gd name="connsiteX8" fmla="*/ 0 w 333189"/>
                <a:gd name="connsiteY8" fmla="*/ 66638 h 283210"/>
                <a:gd name="connsiteX9" fmla="*/ 0 w 333189"/>
                <a:gd name="connsiteY9" fmla="*/ 266551 h 283210"/>
                <a:gd name="connsiteX10" fmla="*/ 16659 w 333189"/>
                <a:gd name="connsiteY10" fmla="*/ 283211 h 283210"/>
                <a:gd name="connsiteX11" fmla="*/ 316530 w 333189"/>
                <a:gd name="connsiteY11" fmla="*/ 283211 h 283210"/>
                <a:gd name="connsiteX12" fmla="*/ 333189 w 333189"/>
                <a:gd name="connsiteY12" fmla="*/ 266551 h 283210"/>
                <a:gd name="connsiteX13" fmla="*/ 333189 w 333189"/>
                <a:gd name="connsiteY13" fmla="*/ 66638 h 283210"/>
                <a:gd name="connsiteX14" fmla="*/ 316530 w 333189"/>
                <a:gd name="connsiteY14" fmla="*/ 49978 h 283210"/>
                <a:gd name="connsiteX15" fmla="*/ 145770 w 333189"/>
                <a:gd name="connsiteY15" fmla="*/ 16659 h 283210"/>
                <a:gd name="connsiteX16" fmla="*/ 154100 w 333189"/>
                <a:gd name="connsiteY16" fmla="*/ 8330 h 283210"/>
                <a:gd name="connsiteX17" fmla="*/ 179089 w 333189"/>
                <a:gd name="connsiteY17" fmla="*/ 8330 h 283210"/>
                <a:gd name="connsiteX18" fmla="*/ 187419 w 333189"/>
                <a:gd name="connsiteY18" fmla="*/ 16659 h 283210"/>
                <a:gd name="connsiteX19" fmla="*/ 187419 w 333189"/>
                <a:gd name="connsiteY19" fmla="*/ 62473 h 283210"/>
                <a:gd name="connsiteX20" fmla="*/ 179089 w 333189"/>
                <a:gd name="connsiteY20" fmla="*/ 70803 h 283210"/>
                <a:gd name="connsiteX21" fmla="*/ 154100 w 333189"/>
                <a:gd name="connsiteY21" fmla="*/ 70803 h 283210"/>
                <a:gd name="connsiteX22" fmla="*/ 145770 w 333189"/>
                <a:gd name="connsiteY22" fmla="*/ 62473 h 283210"/>
                <a:gd name="connsiteX23" fmla="*/ 324859 w 333189"/>
                <a:gd name="connsiteY23" fmla="*/ 266551 h 283210"/>
                <a:gd name="connsiteX24" fmla="*/ 316530 w 333189"/>
                <a:gd name="connsiteY24" fmla="*/ 274881 h 283210"/>
                <a:gd name="connsiteX25" fmla="*/ 16659 w 333189"/>
                <a:gd name="connsiteY25" fmla="*/ 274881 h 283210"/>
                <a:gd name="connsiteX26" fmla="*/ 8330 w 333189"/>
                <a:gd name="connsiteY26" fmla="*/ 266551 h 283210"/>
                <a:gd name="connsiteX27" fmla="*/ 8330 w 333189"/>
                <a:gd name="connsiteY27" fmla="*/ 66638 h 283210"/>
                <a:gd name="connsiteX28" fmla="*/ 16659 w 333189"/>
                <a:gd name="connsiteY28" fmla="*/ 58308 h 283210"/>
                <a:gd name="connsiteX29" fmla="*/ 137441 w 333189"/>
                <a:gd name="connsiteY29" fmla="*/ 58308 h 283210"/>
                <a:gd name="connsiteX30" fmla="*/ 137441 w 333189"/>
                <a:gd name="connsiteY30" fmla="*/ 62473 h 283210"/>
                <a:gd name="connsiteX31" fmla="*/ 154100 w 333189"/>
                <a:gd name="connsiteY31" fmla="*/ 79132 h 283210"/>
                <a:gd name="connsiteX32" fmla="*/ 179089 w 333189"/>
                <a:gd name="connsiteY32" fmla="*/ 79132 h 283210"/>
                <a:gd name="connsiteX33" fmla="*/ 195749 w 333189"/>
                <a:gd name="connsiteY33" fmla="*/ 62473 h 283210"/>
                <a:gd name="connsiteX34" fmla="*/ 195749 w 333189"/>
                <a:gd name="connsiteY34" fmla="*/ 58308 h 283210"/>
                <a:gd name="connsiteX35" fmla="*/ 316530 w 333189"/>
                <a:gd name="connsiteY35" fmla="*/ 58308 h 283210"/>
                <a:gd name="connsiteX36" fmla="*/ 324859 w 333189"/>
                <a:gd name="connsiteY36" fmla="*/ 66638 h 28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89" h="283210">
                  <a:moveTo>
                    <a:pt x="316530" y="49978"/>
                  </a:moveTo>
                  <a:lnTo>
                    <a:pt x="195749" y="49978"/>
                  </a:lnTo>
                  <a:lnTo>
                    <a:pt x="195749" y="16659"/>
                  </a:lnTo>
                  <a:cubicBezTo>
                    <a:pt x="195749" y="7459"/>
                    <a:pt x="188290" y="0"/>
                    <a:pt x="179089" y="0"/>
                  </a:cubicBezTo>
                  <a:lnTo>
                    <a:pt x="154100" y="0"/>
                  </a:lnTo>
                  <a:cubicBezTo>
                    <a:pt x="144899" y="0"/>
                    <a:pt x="137441" y="7459"/>
                    <a:pt x="137441" y="16659"/>
                  </a:cubicBezTo>
                  <a:lnTo>
                    <a:pt x="137441" y="49978"/>
                  </a:lnTo>
                  <a:lnTo>
                    <a:pt x="16659" y="49978"/>
                  </a:lnTo>
                  <a:cubicBezTo>
                    <a:pt x="7459" y="49978"/>
                    <a:pt x="0" y="57437"/>
                    <a:pt x="0" y="66638"/>
                  </a:cubicBezTo>
                  <a:lnTo>
                    <a:pt x="0" y="266551"/>
                  </a:lnTo>
                  <a:cubicBezTo>
                    <a:pt x="0" y="275752"/>
                    <a:pt x="7459" y="283211"/>
                    <a:pt x="16659" y="283211"/>
                  </a:cubicBezTo>
                  <a:lnTo>
                    <a:pt x="316530" y="283211"/>
                  </a:lnTo>
                  <a:cubicBezTo>
                    <a:pt x="325730" y="283211"/>
                    <a:pt x="333189" y="275752"/>
                    <a:pt x="333189" y="266551"/>
                  </a:cubicBezTo>
                  <a:lnTo>
                    <a:pt x="333189" y="66638"/>
                  </a:lnTo>
                  <a:cubicBezTo>
                    <a:pt x="333189" y="57437"/>
                    <a:pt x="325730" y="49978"/>
                    <a:pt x="316530" y="49978"/>
                  </a:cubicBezTo>
                  <a:close/>
                  <a:moveTo>
                    <a:pt x="145770" y="16659"/>
                  </a:moveTo>
                  <a:cubicBezTo>
                    <a:pt x="145770" y="12059"/>
                    <a:pt x="149499" y="8330"/>
                    <a:pt x="154100" y="8330"/>
                  </a:cubicBezTo>
                  <a:lnTo>
                    <a:pt x="179089" y="8330"/>
                  </a:lnTo>
                  <a:cubicBezTo>
                    <a:pt x="183690" y="8330"/>
                    <a:pt x="187419" y="12059"/>
                    <a:pt x="187419" y="16659"/>
                  </a:cubicBezTo>
                  <a:lnTo>
                    <a:pt x="187419" y="62473"/>
                  </a:lnTo>
                  <a:cubicBezTo>
                    <a:pt x="187419" y="67073"/>
                    <a:pt x="183690" y="70803"/>
                    <a:pt x="179089" y="70803"/>
                  </a:cubicBezTo>
                  <a:lnTo>
                    <a:pt x="154100" y="70803"/>
                  </a:lnTo>
                  <a:cubicBezTo>
                    <a:pt x="149499" y="70803"/>
                    <a:pt x="145770" y="67073"/>
                    <a:pt x="145770" y="62473"/>
                  </a:cubicBezTo>
                  <a:close/>
                  <a:moveTo>
                    <a:pt x="324859" y="266551"/>
                  </a:moveTo>
                  <a:cubicBezTo>
                    <a:pt x="324859" y="271152"/>
                    <a:pt x="321130" y="274881"/>
                    <a:pt x="316530" y="274881"/>
                  </a:cubicBezTo>
                  <a:lnTo>
                    <a:pt x="16659" y="274881"/>
                  </a:lnTo>
                  <a:cubicBezTo>
                    <a:pt x="12059" y="274881"/>
                    <a:pt x="8330" y="271152"/>
                    <a:pt x="8330" y="266551"/>
                  </a:cubicBezTo>
                  <a:lnTo>
                    <a:pt x="8330" y="66638"/>
                  </a:lnTo>
                  <a:cubicBezTo>
                    <a:pt x="8330" y="62037"/>
                    <a:pt x="12059" y="58308"/>
                    <a:pt x="16659" y="58308"/>
                  </a:cubicBezTo>
                  <a:lnTo>
                    <a:pt x="137441" y="58308"/>
                  </a:lnTo>
                  <a:lnTo>
                    <a:pt x="137441" y="62473"/>
                  </a:lnTo>
                  <a:cubicBezTo>
                    <a:pt x="137441" y="71674"/>
                    <a:pt x="144899" y="79132"/>
                    <a:pt x="154100" y="79132"/>
                  </a:cubicBezTo>
                  <a:lnTo>
                    <a:pt x="179089" y="79132"/>
                  </a:lnTo>
                  <a:cubicBezTo>
                    <a:pt x="188290" y="79132"/>
                    <a:pt x="195749" y="71674"/>
                    <a:pt x="195749" y="62473"/>
                  </a:cubicBezTo>
                  <a:lnTo>
                    <a:pt x="195749" y="58308"/>
                  </a:lnTo>
                  <a:lnTo>
                    <a:pt x="316530" y="58308"/>
                  </a:lnTo>
                  <a:cubicBezTo>
                    <a:pt x="321130" y="58308"/>
                    <a:pt x="324859" y="62037"/>
                    <a:pt x="324859" y="66638"/>
                  </a:cubicBezTo>
                  <a:close/>
                </a:path>
              </a:pathLst>
            </a:custGeom>
            <a:solidFill>
              <a:srgbClr val="000000"/>
            </a:solidFill>
            <a:ln w="4068" cap="flat">
              <a:solidFill>
                <a:srgbClr val="0028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NL" sz="900"/>
            </a:p>
          </p:txBody>
        </p:sp>
      </p:grpSp>
      <p:pic>
        <p:nvPicPr>
          <p:cNvPr id="53" name="Picture 52" descr="A blue circle with dots and a black background&#10;&#10;Description automatically generated">
            <a:extLst>
              <a:ext uri="{FF2B5EF4-FFF2-40B4-BE49-F238E27FC236}">
                <a16:creationId xmlns:a16="http://schemas.microsoft.com/office/drawing/2014/main" id="{21B19CD9-CF15-8DE5-1439-CB4DDA5A19B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1565" y="6263251"/>
            <a:ext cx="248466" cy="248466"/>
          </a:xfrm>
          <a:prstGeom prst="rect">
            <a:avLst/>
          </a:prstGeom>
        </p:spPr>
      </p:pic>
      <p:pic>
        <p:nvPicPr>
          <p:cNvPr id="62" name="Picture 61" descr="A blue arrow in a black square&#10;&#10;Description automatically generated">
            <a:extLst>
              <a:ext uri="{FF2B5EF4-FFF2-40B4-BE49-F238E27FC236}">
                <a16:creationId xmlns:a16="http://schemas.microsoft.com/office/drawing/2014/main" id="{1D128198-EEE3-58EC-7566-D35C3F9BA5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48882" y="1783480"/>
            <a:ext cx="249590" cy="24959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235228D-9C40-A796-D176-5C90243B4BE9}"/>
              </a:ext>
            </a:extLst>
          </p:cNvPr>
          <p:cNvSpPr txBox="1"/>
          <p:nvPr/>
        </p:nvSpPr>
        <p:spPr>
          <a:xfrm>
            <a:off x="5923027" y="3778459"/>
            <a:ext cx="2083814" cy="119961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Reusable  Infrastructure Artifacts</a:t>
            </a:r>
          </a:p>
        </p:txBody>
      </p:sp>
      <p:sp>
        <p:nvSpPr>
          <p:cNvPr id="311" name="Freeform 95">
            <a:extLst>
              <a:ext uri="{FF2B5EF4-FFF2-40B4-BE49-F238E27FC236}">
                <a16:creationId xmlns:a16="http://schemas.microsoft.com/office/drawing/2014/main" id="{E5D7B551-CCCB-4BC0-880B-6A955B4FFE63}"/>
              </a:ext>
            </a:extLst>
          </p:cNvPr>
          <p:cNvSpPr/>
          <p:nvPr/>
        </p:nvSpPr>
        <p:spPr>
          <a:xfrm>
            <a:off x="5363618" y="2947160"/>
            <a:ext cx="3160309" cy="248526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855"/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7324EE25-FD05-08B7-D79F-88F9874F93FD}"/>
              </a:ext>
            </a:extLst>
          </p:cNvPr>
          <p:cNvSpPr txBox="1"/>
          <p:nvPr/>
        </p:nvSpPr>
        <p:spPr>
          <a:xfrm>
            <a:off x="5854853" y="2987939"/>
            <a:ext cx="2220163" cy="124361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Components Catalog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C24466A7-97A1-55C6-D5FF-32FA229D58B5}"/>
              </a:ext>
            </a:extLst>
          </p:cNvPr>
          <p:cNvSpPr txBox="1"/>
          <p:nvPr/>
        </p:nvSpPr>
        <p:spPr>
          <a:xfrm>
            <a:off x="5683552" y="4064900"/>
            <a:ext cx="437010" cy="18641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 as code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97960326-FE12-0E03-F0EC-B984CA6763D0}"/>
              </a:ext>
            </a:extLst>
          </p:cNvPr>
          <p:cNvSpPr txBox="1"/>
          <p:nvPr/>
        </p:nvSpPr>
        <p:spPr>
          <a:xfrm>
            <a:off x="6398717" y="4056284"/>
            <a:ext cx="474568" cy="114419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 as code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1E10EF8C-F4EF-C768-DA86-497A8150BFE8}"/>
              </a:ext>
            </a:extLst>
          </p:cNvPr>
          <p:cNvSpPr txBox="1"/>
          <p:nvPr/>
        </p:nvSpPr>
        <p:spPr>
          <a:xfrm>
            <a:off x="7081677" y="4065954"/>
            <a:ext cx="445376" cy="116677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as code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8CBC84B5-CE06-D579-AD6D-69FD5EF23C16}"/>
              </a:ext>
            </a:extLst>
          </p:cNvPr>
          <p:cNvSpPr txBox="1"/>
          <p:nvPr/>
        </p:nvSpPr>
        <p:spPr>
          <a:xfrm>
            <a:off x="7825343" y="4056093"/>
            <a:ext cx="541570" cy="118207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as code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940ADA74-FB0F-6DCC-7741-482DB76BF75E}"/>
              </a:ext>
            </a:extLst>
          </p:cNvPr>
          <p:cNvSpPr txBox="1"/>
          <p:nvPr/>
        </p:nvSpPr>
        <p:spPr>
          <a:xfrm>
            <a:off x="2508004" y="1747610"/>
            <a:ext cx="908604" cy="369721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Infrastructure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E703A948-07A7-1771-FE7A-E117A4D401BA}"/>
              </a:ext>
            </a:extLst>
          </p:cNvPr>
          <p:cNvSpPr/>
          <p:nvPr/>
        </p:nvSpPr>
        <p:spPr>
          <a:xfrm>
            <a:off x="1656297" y="1330452"/>
            <a:ext cx="3209168" cy="815790"/>
          </a:xfrm>
          <a:prstGeom prst="rect">
            <a:avLst/>
          </a:prstGeom>
          <a:noFill/>
          <a:ln w="12700">
            <a:solidFill>
              <a:srgbClr val="6F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330" name="Graphic 329" descr="Users with solid fill">
            <a:extLst>
              <a:ext uri="{FF2B5EF4-FFF2-40B4-BE49-F238E27FC236}">
                <a16:creationId xmlns:a16="http://schemas.microsoft.com/office/drawing/2014/main" id="{9794B9C9-5EB5-EC8C-694E-C3D3CBA8BD6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76017" y="1406296"/>
            <a:ext cx="319441" cy="319441"/>
          </a:xfrm>
          <a:prstGeom prst="rect">
            <a:avLst/>
          </a:prstGeom>
        </p:spPr>
      </p:pic>
      <p:pic>
        <p:nvPicPr>
          <p:cNvPr id="335" name="Graphic 334" descr="Construction worker male with solid fill">
            <a:extLst>
              <a:ext uri="{FF2B5EF4-FFF2-40B4-BE49-F238E27FC236}">
                <a16:creationId xmlns:a16="http://schemas.microsoft.com/office/drawing/2014/main" id="{7868CB1D-8AE6-111D-707E-731C3CD8E55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807065" y="1440816"/>
            <a:ext cx="317603" cy="317603"/>
          </a:xfrm>
          <a:prstGeom prst="rect">
            <a:avLst/>
          </a:prstGeom>
        </p:spPr>
      </p:pic>
      <p:sp>
        <p:nvSpPr>
          <p:cNvPr id="349" name="TextBox 348">
            <a:extLst>
              <a:ext uri="{FF2B5EF4-FFF2-40B4-BE49-F238E27FC236}">
                <a16:creationId xmlns:a16="http://schemas.microsoft.com/office/drawing/2014/main" id="{9788AF9A-EF06-E24A-3193-531865A9DE62}"/>
              </a:ext>
            </a:extLst>
          </p:cNvPr>
          <p:cNvSpPr txBox="1"/>
          <p:nvPr/>
        </p:nvSpPr>
        <p:spPr>
          <a:xfrm>
            <a:off x="4765188" y="6257670"/>
            <a:ext cx="585219" cy="194618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IaC Scanning</a:t>
            </a:r>
          </a:p>
        </p:txBody>
      </p:sp>
      <p:sp>
        <p:nvSpPr>
          <p:cNvPr id="15" name="Freeform 94">
            <a:extLst>
              <a:ext uri="{FF2B5EF4-FFF2-40B4-BE49-F238E27FC236}">
                <a16:creationId xmlns:a16="http://schemas.microsoft.com/office/drawing/2014/main" id="{881F404E-E478-C995-8A8A-A6F4A20DD0ED}"/>
              </a:ext>
            </a:extLst>
          </p:cNvPr>
          <p:cNvSpPr/>
          <p:nvPr/>
        </p:nvSpPr>
        <p:spPr>
          <a:xfrm>
            <a:off x="4103783" y="5736488"/>
            <a:ext cx="2396765" cy="888172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49908"/>
            </a:schemeClr>
          </a:solidFill>
          <a:ln w="12700" cap="sq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94">
            <a:extLst>
              <a:ext uri="{FF2B5EF4-FFF2-40B4-BE49-F238E27FC236}">
                <a16:creationId xmlns:a16="http://schemas.microsoft.com/office/drawing/2014/main" id="{FBF55A2E-1525-8896-DA75-CDE45BBB62C4}"/>
              </a:ext>
            </a:extLst>
          </p:cNvPr>
          <p:cNvSpPr/>
          <p:nvPr/>
        </p:nvSpPr>
        <p:spPr>
          <a:xfrm>
            <a:off x="6632222" y="5726809"/>
            <a:ext cx="1891901" cy="883241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12"/>
            </a:schemeClr>
          </a:solidFill>
          <a:ln w="12700" cap="sq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0" name="Graphic 349">
            <a:extLst>
              <a:ext uri="{FF2B5EF4-FFF2-40B4-BE49-F238E27FC236}">
                <a16:creationId xmlns:a16="http://schemas.microsoft.com/office/drawing/2014/main" id="{AA76AEB6-B5E5-9AD7-C216-7029117B7A9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415393" y="3920766"/>
            <a:ext cx="325871" cy="243595"/>
          </a:xfrm>
          <a:prstGeom prst="rect">
            <a:avLst/>
          </a:prstGeom>
        </p:spPr>
      </p:pic>
      <p:sp>
        <p:nvSpPr>
          <p:cNvPr id="351" name="TextBox 350">
            <a:extLst>
              <a:ext uri="{FF2B5EF4-FFF2-40B4-BE49-F238E27FC236}">
                <a16:creationId xmlns:a16="http://schemas.microsoft.com/office/drawing/2014/main" id="{8B0D7CB8-77B9-48CF-C2B7-95F589674789}"/>
              </a:ext>
            </a:extLst>
          </p:cNvPr>
          <p:cNvSpPr txBox="1"/>
          <p:nvPr/>
        </p:nvSpPr>
        <p:spPr>
          <a:xfrm>
            <a:off x="9268319" y="4186179"/>
            <a:ext cx="625978" cy="166865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BMaaS</a:t>
            </a:r>
          </a:p>
        </p:txBody>
      </p:sp>
      <p:pic>
        <p:nvPicPr>
          <p:cNvPr id="358" name="Graphic 357" descr="Internet with solid fill">
            <a:extLst>
              <a:ext uri="{FF2B5EF4-FFF2-40B4-BE49-F238E27FC236}">
                <a16:creationId xmlns:a16="http://schemas.microsoft.com/office/drawing/2014/main" id="{E8A3EDEE-0D58-F68C-A3EA-D9B34D8BB1C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89276" y="2294531"/>
            <a:ext cx="372235" cy="372235"/>
          </a:xfrm>
          <a:prstGeom prst="rect">
            <a:avLst/>
          </a:prstGeom>
        </p:spPr>
      </p:pic>
      <p:sp>
        <p:nvSpPr>
          <p:cNvPr id="359" name="TextBox 358">
            <a:extLst>
              <a:ext uri="{FF2B5EF4-FFF2-40B4-BE49-F238E27FC236}">
                <a16:creationId xmlns:a16="http://schemas.microsoft.com/office/drawing/2014/main" id="{DC12FD19-6550-E109-3A55-CBE348037423}"/>
              </a:ext>
            </a:extLst>
          </p:cNvPr>
          <p:cNvSpPr txBox="1"/>
          <p:nvPr/>
        </p:nvSpPr>
        <p:spPr>
          <a:xfrm>
            <a:off x="9254921" y="2618628"/>
            <a:ext cx="625978" cy="166865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SaaS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3533E9C6-D9A7-6BCA-D104-BA476AEB783D}"/>
              </a:ext>
            </a:extLst>
          </p:cNvPr>
          <p:cNvSpPr txBox="1"/>
          <p:nvPr/>
        </p:nvSpPr>
        <p:spPr>
          <a:xfrm>
            <a:off x="9254921" y="3109652"/>
            <a:ext cx="625978" cy="166865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PaaS</a:t>
            </a:r>
          </a:p>
        </p:txBody>
      </p:sp>
      <p:sp>
        <p:nvSpPr>
          <p:cNvPr id="368" name="Freeform 78">
            <a:extLst>
              <a:ext uri="{FF2B5EF4-FFF2-40B4-BE49-F238E27FC236}">
                <a16:creationId xmlns:a16="http://schemas.microsoft.com/office/drawing/2014/main" id="{F05BF536-F819-CAFA-7424-7A5EC9D983A5}"/>
              </a:ext>
            </a:extLst>
          </p:cNvPr>
          <p:cNvSpPr/>
          <p:nvPr/>
        </p:nvSpPr>
        <p:spPr>
          <a:xfrm>
            <a:off x="5434188" y="4095752"/>
            <a:ext cx="219593" cy="179919"/>
          </a:xfrm>
          <a:custGeom>
            <a:avLst/>
            <a:gdLst/>
            <a:ahLst/>
            <a:cxnLst/>
            <a:rect l="l" t="t" r="r" b="b"/>
            <a:pathLst>
              <a:path w="218808" h="267633">
                <a:moveTo>
                  <a:pt x="157023" y="237471"/>
                </a:moveTo>
                <a:lnTo>
                  <a:pt x="198234" y="201898"/>
                </a:lnTo>
                <a:lnTo>
                  <a:pt x="198234" y="200959"/>
                </a:lnTo>
                <a:lnTo>
                  <a:pt x="157023" y="201365"/>
                </a:lnTo>
                <a:lnTo>
                  <a:pt x="157023" y="237471"/>
                </a:lnTo>
                <a:close/>
                <a:moveTo>
                  <a:pt x="100279" y="213951"/>
                </a:moveTo>
                <a:cubicBezTo>
                  <a:pt x="103061" y="213951"/>
                  <a:pt x="105423" y="211665"/>
                  <a:pt x="105423" y="208972"/>
                </a:cubicBezTo>
                <a:lnTo>
                  <a:pt x="105423" y="189097"/>
                </a:lnTo>
                <a:cubicBezTo>
                  <a:pt x="105423" y="186404"/>
                  <a:pt x="103061" y="184131"/>
                  <a:pt x="100279" y="184131"/>
                </a:cubicBezTo>
                <a:cubicBezTo>
                  <a:pt x="97485" y="184131"/>
                  <a:pt x="95136" y="186404"/>
                  <a:pt x="95136" y="189097"/>
                </a:cubicBezTo>
                <a:lnTo>
                  <a:pt x="95136" y="208972"/>
                </a:lnTo>
                <a:cubicBezTo>
                  <a:pt x="95136" y="211665"/>
                  <a:pt x="97485" y="213951"/>
                  <a:pt x="100279" y="213951"/>
                </a:cubicBezTo>
                <a:close/>
                <a:moveTo>
                  <a:pt x="100274" y="233825"/>
                </a:moveTo>
                <a:cubicBezTo>
                  <a:pt x="97590" y="233825"/>
                  <a:pt x="94812" y="233426"/>
                  <a:pt x="91999" y="232569"/>
                </a:cubicBezTo>
                <a:cubicBezTo>
                  <a:pt x="81394" y="229330"/>
                  <a:pt x="74562" y="219310"/>
                  <a:pt x="74562" y="206293"/>
                </a:cubicBezTo>
                <a:lnTo>
                  <a:pt x="74562" y="189605"/>
                </a:lnTo>
                <a:cubicBezTo>
                  <a:pt x="74562" y="177946"/>
                  <a:pt x="82664" y="167392"/>
                  <a:pt x="94450" y="164878"/>
                </a:cubicBezTo>
                <a:cubicBezTo>
                  <a:pt x="96431" y="164453"/>
                  <a:pt x="98387" y="164251"/>
                  <a:pt x="100294" y="164251"/>
                </a:cubicBezTo>
                <a:cubicBezTo>
                  <a:pt x="114464" y="164251"/>
                  <a:pt x="125997" y="175397"/>
                  <a:pt x="125997" y="189097"/>
                </a:cubicBezTo>
                <a:lnTo>
                  <a:pt x="125997" y="208972"/>
                </a:lnTo>
                <a:cubicBezTo>
                  <a:pt x="125997" y="222674"/>
                  <a:pt x="114457" y="233825"/>
                  <a:pt x="100274" y="233825"/>
                </a:cubicBezTo>
                <a:close/>
                <a:moveTo>
                  <a:pt x="162154" y="124149"/>
                </a:moveTo>
                <a:cubicBezTo>
                  <a:pt x="164935" y="124149"/>
                  <a:pt x="167297" y="121876"/>
                  <a:pt x="167297" y="119183"/>
                </a:cubicBezTo>
                <a:lnTo>
                  <a:pt x="167297" y="99308"/>
                </a:lnTo>
                <a:cubicBezTo>
                  <a:pt x="167297" y="96615"/>
                  <a:pt x="164935" y="94342"/>
                  <a:pt x="162154" y="94342"/>
                </a:cubicBezTo>
                <a:cubicBezTo>
                  <a:pt x="159360" y="94342"/>
                  <a:pt x="157010" y="96615"/>
                  <a:pt x="157010" y="99308"/>
                </a:cubicBezTo>
                <a:lnTo>
                  <a:pt x="157010" y="119183"/>
                </a:lnTo>
                <a:cubicBezTo>
                  <a:pt x="157010" y="121876"/>
                  <a:pt x="159360" y="124149"/>
                  <a:pt x="162154" y="124149"/>
                </a:cubicBezTo>
                <a:close/>
                <a:moveTo>
                  <a:pt x="162148" y="144036"/>
                </a:moveTo>
                <a:cubicBezTo>
                  <a:pt x="159465" y="144036"/>
                  <a:pt x="156686" y="143637"/>
                  <a:pt x="153873" y="142780"/>
                </a:cubicBezTo>
                <a:cubicBezTo>
                  <a:pt x="143269" y="139541"/>
                  <a:pt x="136436" y="129521"/>
                  <a:pt x="136436" y="116491"/>
                </a:cubicBezTo>
                <a:lnTo>
                  <a:pt x="136436" y="99829"/>
                </a:lnTo>
                <a:cubicBezTo>
                  <a:pt x="136436" y="88157"/>
                  <a:pt x="144539" y="77604"/>
                  <a:pt x="156312" y="75089"/>
                </a:cubicBezTo>
                <a:cubicBezTo>
                  <a:pt x="158295" y="74664"/>
                  <a:pt x="160251" y="74462"/>
                  <a:pt x="162160" y="74462"/>
                </a:cubicBezTo>
                <a:cubicBezTo>
                  <a:pt x="176339" y="74462"/>
                  <a:pt x="187871" y="85607"/>
                  <a:pt x="187871" y="99308"/>
                </a:cubicBezTo>
                <a:lnTo>
                  <a:pt x="187871" y="119183"/>
                </a:lnTo>
                <a:cubicBezTo>
                  <a:pt x="187871" y="132885"/>
                  <a:pt x="176332" y="144036"/>
                  <a:pt x="162148" y="144036"/>
                </a:cubicBezTo>
                <a:close/>
                <a:moveTo>
                  <a:pt x="75502" y="144024"/>
                </a:moveTo>
                <a:lnTo>
                  <a:pt x="75502" y="74454"/>
                </a:lnTo>
                <a:lnTo>
                  <a:pt x="96076" y="74454"/>
                </a:lnTo>
                <a:lnTo>
                  <a:pt x="96076" y="144024"/>
                </a:lnTo>
                <a:close/>
                <a:moveTo>
                  <a:pt x="106363" y="144024"/>
                </a:moveTo>
                <a:lnTo>
                  <a:pt x="106363" y="74454"/>
                </a:lnTo>
                <a:lnTo>
                  <a:pt x="126937" y="74454"/>
                </a:lnTo>
                <a:lnTo>
                  <a:pt x="126937" y="144024"/>
                </a:lnTo>
                <a:close/>
                <a:moveTo>
                  <a:pt x="136449" y="247060"/>
                </a:moveTo>
                <a:lnTo>
                  <a:pt x="136449" y="180994"/>
                </a:lnTo>
                <a:lnTo>
                  <a:pt x="198234" y="180385"/>
                </a:lnTo>
                <a:lnTo>
                  <a:pt x="198234" y="61703"/>
                </a:lnTo>
                <a:lnTo>
                  <a:pt x="60947" y="61703"/>
                </a:lnTo>
                <a:lnTo>
                  <a:pt x="60947" y="247060"/>
                </a:lnTo>
                <a:close/>
                <a:moveTo>
                  <a:pt x="40373" y="207042"/>
                </a:moveTo>
                <a:lnTo>
                  <a:pt x="40373" y="41129"/>
                </a:lnTo>
                <a:lnTo>
                  <a:pt x="157861" y="41129"/>
                </a:lnTo>
                <a:lnTo>
                  <a:pt x="157861" y="20428"/>
                </a:lnTo>
                <a:lnTo>
                  <a:pt x="20574" y="20428"/>
                </a:lnTo>
                <a:lnTo>
                  <a:pt x="20574" y="207042"/>
                </a:lnTo>
                <a:close/>
                <a:moveTo>
                  <a:pt x="40373" y="267634"/>
                </a:moveTo>
                <a:lnTo>
                  <a:pt x="40373" y="227616"/>
                </a:lnTo>
                <a:lnTo>
                  <a:pt x="0" y="227616"/>
                </a:lnTo>
                <a:lnTo>
                  <a:pt x="0" y="0"/>
                </a:lnTo>
                <a:lnTo>
                  <a:pt x="178435" y="0"/>
                </a:lnTo>
                <a:lnTo>
                  <a:pt x="178435" y="41129"/>
                </a:lnTo>
                <a:lnTo>
                  <a:pt x="218808" y="41129"/>
                </a:lnTo>
                <a:lnTo>
                  <a:pt x="218808" y="211322"/>
                </a:lnTo>
                <a:lnTo>
                  <a:pt x="153556" y="267634"/>
                </a:ln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7" name="Picture 376" descr="A blue and black logo&#10;&#10;AI-generated content may be incorrect.">
            <a:extLst>
              <a:ext uri="{FF2B5EF4-FFF2-40B4-BE49-F238E27FC236}">
                <a16:creationId xmlns:a16="http://schemas.microsoft.com/office/drawing/2014/main" id="{1792E713-F2EC-5CA8-24B1-9AB61F41E5F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23570" y="2830560"/>
            <a:ext cx="283509" cy="269334"/>
          </a:xfrm>
          <a:prstGeom prst="rect">
            <a:avLst/>
          </a:prstGeom>
        </p:spPr>
      </p:pic>
      <p:pic>
        <p:nvPicPr>
          <p:cNvPr id="379" name="Picture 378">
            <a:extLst>
              <a:ext uri="{FF2B5EF4-FFF2-40B4-BE49-F238E27FC236}">
                <a16:creationId xmlns:a16="http://schemas.microsoft.com/office/drawing/2014/main" id="{D16F15ED-C387-C244-5338-EA738691B6F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51569" y="4090823"/>
            <a:ext cx="200293" cy="200293"/>
          </a:xfrm>
          <a:prstGeom prst="rect">
            <a:avLst/>
          </a:prstGeom>
        </p:spPr>
      </p:pic>
      <p:sp>
        <p:nvSpPr>
          <p:cNvPr id="380" name="Freeform 94">
            <a:extLst>
              <a:ext uri="{FF2B5EF4-FFF2-40B4-BE49-F238E27FC236}">
                <a16:creationId xmlns:a16="http://schemas.microsoft.com/office/drawing/2014/main" id="{418E6C56-74A8-DFC9-880C-EFCC3B022F26}"/>
              </a:ext>
            </a:extLst>
          </p:cNvPr>
          <p:cNvSpPr/>
          <p:nvPr/>
        </p:nvSpPr>
        <p:spPr>
          <a:xfrm>
            <a:off x="5354625" y="3194985"/>
            <a:ext cx="3169301" cy="411334"/>
          </a:xfrm>
          <a:custGeom>
            <a:avLst/>
            <a:gdLst/>
            <a:ahLst/>
            <a:cxnLst/>
            <a:rect l="l" t="t" r="r" b="b"/>
            <a:pathLst>
              <a:path w="1079500" h="2057641">
                <a:moveTo>
                  <a:pt x="0" y="2057641"/>
                </a:moveTo>
                <a:lnTo>
                  <a:pt x="1079500" y="2057641"/>
                </a:lnTo>
                <a:lnTo>
                  <a:pt x="10795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rgbClr val="002855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AB0C81AF-7847-239C-F70A-7C9D9B2AF9E9}"/>
              </a:ext>
            </a:extLst>
          </p:cNvPr>
          <p:cNvSpPr txBox="1"/>
          <p:nvPr/>
        </p:nvSpPr>
        <p:spPr>
          <a:xfrm>
            <a:off x="7260338" y="3254858"/>
            <a:ext cx="599387" cy="27360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</a:rPr>
              <a:t>Landing Zones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6136DBDA-8B08-B3AE-68A8-6F4A801BE2EE}"/>
              </a:ext>
            </a:extLst>
          </p:cNvPr>
          <p:cNvSpPr txBox="1"/>
          <p:nvPr/>
        </p:nvSpPr>
        <p:spPr>
          <a:xfrm>
            <a:off x="6510601" y="3264941"/>
            <a:ext cx="599387" cy="129165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</a:rPr>
              <a:t>Paved Roads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BA9CF486-C008-2420-160C-AB27B418E588}"/>
              </a:ext>
            </a:extLst>
          </p:cNvPr>
          <p:cNvSpPr txBox="1"/>
          <p:nvPr/>
        </p:nvSpPr>
        <p:spPr>
          <a:xfrm>
            <a:off x="5651912" y="3312453"/>
            <a:ext cx="599387" cy="16971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latin typeface="Arial" panose="020B0604020202020204" pitchFamily="34" charset="0"/>
              </a:rPr>
              <a:t>Blueprints</a:t>
            </a:r>
          </a:p>
        </p:txBody>
      </p:sp>
      <p:sp>
        <p:nvSpPr>
          <p:cNvPr id="401" name="Freeform 400">
            <a:extLst>
              <a:ext uri="{FF2B5EF4-FFF2-40B4-BE49-F238E27FC236}">
                <a16:creationId xmlns:a16="http://schemas.microsoft.com/office/drawing/2014/main" id="{68C2AF9C-A6C2-213A-7957-6BB33A60437D}"/>
              </a:ext>
            </a:extLst>
          </p:cNvPr>
          <p:cNvSpPr/>
          <p:nvPr/>
        </p:nvSpPr>
        <p:spPr>
          <a:xfrm>
            <a:off x="4235705" y="3906137"/>
            <a:ext cx="182005" cy="177144"/>
          </a:xfrm>
          <a:custGeom>
            <a:avLst/>
            <a:gdLst/>
            <a:ahLst/>
            <a:cxnLst/>
            <a:rect l="l" t="t" r="r" b="b"/>
            <a:pathLst>
              <a:path w="274320" h="228600">
                <a:moveTo>
                  <a:pt x="0" y="0"/>
                </a:moveTo>
                <a:lnTo>
                  <a:pt x="0" y="68580"/>
                </a:lnTo>
                <a:lnTo>
                  <a:pt x="22860" y="68580"/>
                </a:lnTo>
                <a:lnTo>
                  <a:pt x="22860" y="228600"/>
                </a:lnTo>
                <a:lnTo>
                  <a:pt x="251460" y="228600"/>
                </a:lnTo>
                <a:lnTo>
                  <a:pt x="251460" y="68580"/>
                </a:lnTo>
                <a:lnTo>
                  <a:pt x="274319" y="68580"/>
                </a:lnTo>
                <a:lnTo>
                  <a:pt x="274319" y="0"/>
                </a:lnTo>
                <a:close/>
                <a:moveTo>
                  <a:pt x="22860" y="22860"/>
                </a:moveTo>
                <a:lnTo>
                  <a:pt x="251460" y="22860"/>
                </a:lnTo>
                <a:lnTo>
                  <a:pt x="251460" y="45720"/>
                </a:lnTo>
                <a:lnTo>
                  <a:pt x="22860" y="45720"/>
                </a:lnTo>
                <a:close/>
                <a:moveTo>
                  <a:pt x="45719" y="68580"/>
                </a:moveTo>
                <a:lnTo>
                  <a:pt x="228600" y="68580"/>
                </a:lnTo>
                <a:lnTo>
                  <a:pt x="228600" y="205741"/>
                </a:lnTo>
                <a:lnTo>
                  <a:pt x="45719" y="205741"/>
                </a:lnTo>
                <a:close/>
                <a:moveTo>
                  <a:pt x="91440" y="114300"/>
                </a:moveTo>
                <a:lnTo>
                  <a:pt x="182880" y="114300"/>
                </a:lnTo>
                <a:lnTo>
                  <a:pt x="182880" y="91441"/>
                </a:lnTo>
                <a:lnTo>
                  <a:pt x="91440" y="91441"/>
                </a:ln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077ACC71-5933-2B49-DE9F-7270CFE20145}"/>
              </a:ext>
            </a:extLst>
          </p:cNvPr>
          <p:cNvSpPr txBox="1"/>
          <p:nvPr/>
        </p:nvSpPr>
        <p:spPr>
          <a:xfrm>
            <a:off x="4449967" y="3883827"/>
            <a:ext cx="513594" cy="166504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Artifact </a:t>
            </a:r>
          </a:p>
          <a:p>
            <a:r>
              <a:rPr lang="en-US" sz="900" dirty="0">
                <a:solidFill>
                  <a:srgbClr val="0028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Registry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EA3D016A-E60C-0ED5-9288-CD6DB7F93993}"/>
              </a:ext>
            </a:extLst>
          </p:cNvPr>
          <p:cNvSpPr txBox="1"/>
          <p:nvPr/>
        </p:nvSpPr>
        <p:spPr>
          <a:xfrm>
            <a:off x="4452997" y="3510576"/>
            <a:ext cx="532613" cy="183088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SCM</a:t>
            </a:r>
          </a:p>
        </p:txBody>
      </p:sp>
      <p:sp>
        <p:nvSpPr>
          <p:cNvPr id="404" name="Freeform 79">
            <a:extLst>
              <a:ext uri="{FF2B5EF4-FFF2-40B4-BE49-F238E27FC236}">
                <a16:creationId xmlns:a16="http://schemas.microsoft.com/office/drawing/2014/main" id="{4F993B60-2DBA-98DF-74DB-8B2CDB352F4E}"/>
              </a:ext>
            </a:extLst>
          </p:cNvPr>
          <p:cNvSpPr/>
          <p:nvPr/>
        </p:nvSpPr>
        <p:spPr>
          <a:xfrm>
            <a:off x="4237143" y="3472416"/>
            <a:ext cx="175228" cy="206987"/>
          </a:xfrm>
          <a:custGeom>
            <a:avLst/>
            <a:gdLst/>
            <a:ahLst/>
            <a:cxnLst/>
            <a:rect l="l" t="t" r="r" b="b"/>
            <a:pathLst>
              <a:path w="194423" h="259224">
                <a:moveTo>
                  <a:pt x="97206" y="240022"/>
                </a:moveTo>
                <a:cubicBezTo>
                  <a:pt x="140958" y="240022"/>
                  <a:pt x="168910" y="229227"/>
                  <a:pt x="174981" y="223220"/>
                </a:cubicBezTo>
                <a:lnTo>
                  <a:pt x="174981" y="196817"/>
                </a:lnTo>
                <a:cubicBezTo>
                  <a:pt x="155537" y="206418"/>
                  <a:pt x="126378" y="211219"/>
                  <a:pt x="97206" y="211219"/>
                </a:cubicBezTo>
                <a:cubicBezTo>
                  <a:pt x="68047" y="211219"/>
                  <a:pt x="38888" y="206418"/>
                  <a:pt x="19444" y="196817"/>
                </a:cubicBezTo>
                <a:lnTo>
                  <a:pt x="19444" y="223220"/>
                </a:lnTo>
                <a:cubicBezTo>
                  <a:pt x="25515" y="229227"/>
                  <a:pt x="53467" y="240022"/>
                  <a:pt x="97206" y="240022"/>
                </a:cubicBezTo>
                <a:close/>
                <a:moveTo>
                  <a:pt x="97206" y="192017"/>
                </a:moveTo>
                <a:cubicBezTo>
                  <a:pt x="148247" y="192017"/>
                  <a:pt x="174981" y="177615"/>
                  <a:pt x="174981" y="172814"/>
                </a:cubicBezTo>
                <a:lnTo>
                  <a:pt x="174981" y="148811"/>
                </a:lnTo>
                <a:cubicBezTo>
                  <a:pt x="155537" y="158412"/>
                  <a:pt x="126378" y="163213"/>
                  <a:pt x="97206" y="163213"/>
                </a:cubicBezTo>
                <a:cubicBezTo>
                  <a:pt x="68047" y="163213"/>
                  <a:pt x="38888" y="158412"/>
                  <a:pt x="19444" y="148811"/>
                </a:cubicBezTo>
                <a:lnTo>
                  <a:pt x="19444" y="172814"/>
                </a:lnTo>
                <a:cubicBezTo>
                  <a:pt x="19444" y="177615"/>
                  <a:pt x="46177" y="192017"/>
                  <a:pt x="97206" y="192017"/>
                </a:cubicBezTo>
                <a:close/>
                <a:moveTo>
                  <a:pt x="97206" y="144011"/>
                </a:moveTo>
                <a:cubicBezTo>
                  <a:pt x="148247" y="144011"/>
                  <a:pt x="174981" y="129609"/>
                  <a:pt x="174981" y="124808"/>
                </a:cubicBezTo>
                <a:lnTo>
                  <a:pt x="174981" y="100805"/>
                </a:lnTo>
                <a:cubicBezTo>
                  <a:pt x="155537" y="110406"/>
                  <a:pt x="126378" y="115207"/>
                  <a:pt x="97206" y="115207"/>
                </a:cubicBezTo>
                <a:cubicBezTo>
                  <a:pt x="68047" y="115207"/>
                  <a:pt x="38888" y="110406"/>
                  <a:pt x="19444" y="100805"/>
                </a:cubicBezTo>
                <a:lnTo>
                  <a:pt x="19444" y="124808"/>
                </a:lnTo>
                <a:cubicBezTo>
                  <a:pt x="19444" y="129609"/>
                  <a:pt x="46177" y="144011"/>
                  <a:pt x="97206" y="144011"/>
                </a:cubicBezTo>
                <a:close/>
                <a:moveTo>
                  <a:pt x="97206" y="96005"/>
                </a:moveTo>
                <a:cubicBezTo>
                  <a:pt x="148247" y="96005"/>
                  <a:pt x="174981" y="81603"/>
                  <a:pt x="174981" y="76802"/>
                </a:cubicBezTo>
                <a:lnTo>
                  <a:pt x="174981" y="53993"/>
                </a:lnTo>
                <a:cubicBezTo>
                  <a:pt x="156756" y="62400"/>
                  <a:pt x="128804" y="67201"/>
                  <a:pt x="97206" y="67201"/>
                </a:cubicBezTo>
                <a:cubicBezTo>
                  <a:pt x="65621" y="67201"/>
                  <a:pt x="37668" y="62400"/>
                  <a:pt x="19444" y="53993"/>
                </a:cubicBezTo>
                <a:lnTo>
                  <a:pt x="19444" y="76802"/>
                </a:lnTo>
                <a:cubicBezTo>
                  <a:pt x="19444" y="81603"/>
                  <a:pt x="46177" y="96005"/>
                  <a:pt x="97206" y="96005"/>
                </a:cubicBezTo>
                <a:close/>
                <a:moveTo>
                  <a:pt x="97206" y="47998"/>
                </a:moveTo>
                <a:cubicBezTo>
                  <a:pt x="136106" y="47998"/>
                  <a:pt x="162827" y="39604"/>
                  <a:pt x="172555" y="33597"/>
                </a:cubicBezTo>
                <a:cubicBezTo>
                  <a:pt x="162827" y="27589"/>
                  <a:pt x="136106" y="19195"/>
                  <a:pt x="97206" y="19195"/>
                </a:cubicBezTo>
                <a:cubicBezTo>
                  <a:pt x="58331" y="19195"/>
                  <a:pt x="31598" y="27589"/>
                  <a:pt x="21870" y="33597"/>
                </a:cubicBezTo>
                <a:cubicBezTo>
                  <a:pt x="31598" y="39604"/>
                  <a:pt x="58331" y="47998"/>
                  <a:pt x="97206" y="47998"/>
                </a:cubicBezTo>
                <a:close/>
                <a:moveTo>
                  <a:pt x="97206" y="259225"/>
                </a:moveTo>
                <a:cubicBezTo>
                  <a:pt x="43739" y="259225"/>
                  <a:pt x="0" y="243616"/>
                  <a:pt x="0" y="225621"/>
                </a:cubicBezTo>
                <a:lnTo>
                  <a:pt x="0" y="33597"/>
                </a:lnTo>
                <a:cubicBezTo>
                  <a:pt x="0" y="15820"/>
                  <a:pt x="42618" y="395"/>
                  <a:pt x="95143" y="0"/>
                </a:cubicBezTo>
                <a:lnTo>
                  <a:pt x="99270" y="0"/>
                </a:lnTo>
                <a:cubicBezTo>
                  <a:pt x="151629" y="394"/>
                  <a:pt x="194157" y="15723"/>
                  <a:pt x="194423" y="33429"/>
                </a:cubicBezTo>
                <a:lnTo>
                  <a:pt x="194423" y="33429"/>
                </a:lnTo>
                <a:lnTo>
                  <a:pt x="194423" y="225787"/>
                </a:lnTo>
                <a:lnTo>
                  <a:pt x="194423" y="225787"/>
                </a:lnTo>
                <a:cubicBezTo>
                  <a:pt x="194154" y="243713"/>
                  <a:pt x="150508" y="259225"/>
                  <a:pt x="97206" y="259225"/>
                </a:cubicBezTo>
                <a:close/>
              </a:path>
            </a:pathLst>
          </a:custGeom>
          <a:solidFill>
            <a:srgbClr val="002855"/>
          </a:solidFill>
        </p:spPr>
        <p:txBody>
          <a:bodyPr/>
          <a:lstStyle/>
          <a:p>
            <a:endParaRPr lang="en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6" name="Freeform 95">
            <a:extLst>
              <a:ext uri="{FF2B5EF4-FFF2-40B4-BE49-F238E27FC236}">
                <a16:creationId xmlns:a16="http://schemas.microsoft.com/office/drawing/2014/main" id="{BE02719E-7150-84C6-BD73-E22F204EE6A7}"/>
              </a:ext>
            </a:extLst>
          </p:cNvPr>
          <p:cNvSpPr/>
          <p:nvPr/>
        </p:nvSpPr>
        <p:spPr>
          <a:xfrm>
            <a:off x="4138991" y="3090770"/>
            <a:ext cx="900701" cy="303957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6183D6D-9F6D-4009-3207-5E4D7D59DB28}"/>
              </a:ext>
            </a:extLst>
          </p:cNvPr>
          <p:cNvSpPr txBox="1"/>
          <p:nvPr/>
        </p:nvSpPr>
        <p:spPr>
          <a:xfrm>
            <a:off x="4345689" y="3101137"/>
            <a:ext cx="540217" cy="245345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9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 of Truth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D8A8D1E6-13B8-2D16-D414-DAF43AE38995}"/>
              </a:ext>
            </a:extLst>
          </p:cNvPr>
          <p:cNvSpPr txBox="1"/>
          <p:nvPr/>
        </p:nvSpPr>
        <p:spPr>
          <a:xfrm>
            <a:off x="4438218" y="4339531"/>
            <a:ext cx="633390" cy="169977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28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Attestation Database</a:t>
            </a:r>
          </a:p>
        </p:txBody>
      </p:sp>
      <p:pic>
        <p:nvPicPr>
          <p:cNvPr id="409" name="Graphic 408">
            <a:extLst>
              <a:ext uri="{FF2B5EF4-FFF2-40B4-BE49-F238E27FC236}">
                <a16:creationId xmlns:a16="http://schemas.microsoft.com/office/drawing/2014/main" id="{FDB41C5C-62C7-8F48-1284-2191DB1F6FD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59860" y="4367403"/>
            <a:ext cx="290859" cy="218467"/>
          </a:xfrm>
          <a:prstGeom prst="rect">
            <a:avLst/>
          </a:prstGeom>
        </p:spPr>
      </p:pic>
      <p:sp>
        <p:nvSpPr>
          <p:cNvPr id="417" name="TextBox 416">
            <a:extLst>
              <a:ext uri="{FF2B5EF4-FFF2-40B4-BE49-F238E27FC236}">
                <a16:creationId xmlns:a16="http://schemas.microsoft.com/office/drawing/2014/main" id="{91670C44-C985-6449-E4A1-D4B70A8826B9}"/>
              </a:ext>
            </a:extLst>
          </p:cNvPr>
          <p:cNvSpPr txBox="1"/>
          <p:nvPr/>
        </p:nvSpPr>
        <p:spPr>
          <a:xfrm>
            <a:off x="1779725" y="2856048"/>
            <a:ext cx="997413" cy="217377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Platform 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Owner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205B0AA4-11A5-187C-F2E0-B3822893EA57}"/>
              </a:ext>
            </a:extLst>
          </p:cNvPr>
          <p:cNvSpPr txBox="1"/>
          <p:nvPr/>
        </p:nvSpPr>
        <p:spPr>
          <a:xfrm>
            <a:off x="2665343" y="2872793"/>
            <a:ext cx="908604" cy="369721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IPE 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</a:p>
        </p:txBody>
      </p:sp>
      <p:pic>
        <p:nvPicPr>
          <p:cNvPr id="428" name="Graphic 427" descr="Conductor male with solid fill">
            <a:extLst>
              <a:ext uri="{FF2B5EF4-FFF2-40B4-BE49-F238E27FC236}">
                <a16:creationId xmlns:a16="http://schemas.microsoft.com/office/drawing/2014/main" id="{A7DE3C15-ED8A-A864-FE3D-ECFB63012E8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30444" y="2558010"/>
            <a:ext cx="283207" cy="285416"/>
          </a:xfrm>
          <a:prstGeom prst="rect">
            <a:avLst/>
          </a:prstGeom>
        </p:spPr>
      </p:pic>
      <p:pic>
        <p:nvPicPr>
          <p:cNvPr id="429" name="Graphic 428" descr="Group of men with solid fill">
            <a:extLst>
              <a:ext uri="{FF2B5EF4-FFF2-40B4-BE49-F238E27FC236}">
                <a16:creationId xmlns:a16="http://schemas.microsoft.com/office/drawing/2014/main" id="{6E0CCD45-CC21-70A7-251B-7C5583D7983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984695" y="2575110"/>
            <a:ext cx="309760" cy="312175"/>
          </a:xfrm>
          <a:prstGeom prst="rect">
            <a:avLst/>
          </a:prstGeom>
        </p:spPr>
      </p:pic>
      <p:pic>
        <p:nvPicPr>
          <p:cNvPr id="430" name="Graphic 429" descr="Single gear with solid fill">
            <a:extLst>
              <a:ext uri="{FF2B5EF4-FFF2-40B4-BE49-F238E27FC236}">
                <a16:creationId xmlns:a16="http://schemas.microsoft.com/office/drawing/2014/main" id="{C2F998AB-0972-739F-BB45-D8759387DD8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12634" y="2665441"/>
            <a:ext cx="247073" cy="248999"/>
          </a:xfrm>
          <a:prstGeom prst="rect">
            <a:avLst/>
          </a:prstGeom>
        </p:spPr>
      </p:pic>
      <p:sp>
        <p:nvSpPr>
          <p:cNvPr id="432" name="TextBox 431">
            <a:extLst>
              <a:ext uri="{FF2B5EF4-FFF2-40B4-BE49-F238E27FC236}">
                <a16:creationId xmlns:a16="http://schemas.microsoft.com/office/drawing/2014/main" id="{E559A999-0729-5B32-EBF6-9BCA8AAE96E2}"/>
              </a:ext>
            </a:extLst>
          </p:cNvPr>
          <p:cNvSpPr txBox="1"/>
          <p:nvPr/>
        </p:nvSpPr>
        <p:spPr>
          <a:xfrm>
            <a:off x="2132962" y="3966192"/>
            <a:ext cx="618055" cy="191104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Catalog Curation</a:t>
            </a:r>
          </a:p>
        </p:txBody>
      </p:sp>
      <p:pic>
        <p:nvPicPr>
          <p:cNvPr id="433" name="Graphic 432" descr="Continuous Improvement with solid fill">
            <a:extLst>
              <a:ext uri="{FF2B5EF4-FFF2-40B4-BE49-F238E27FC236}">
                <a16:creationId xmlns:a16="http://schemas.microsoft.com/office/drawing/2014/main" id="{1E505E7E-9371-47A5-BFDF-37DF44A31D90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006917" y="4403582"/>
            <a:ext cx="288366" cy="290614"/>
          </a:xfrm>
          <a:prstGeom prst="rect">
            <a:avLst/>
          </a:prstGeom>
        </p:spPr>
      </p:pic>
      <p:pic>
        <p:nvPicPr>
          <p:cNvPr id="434" name="Graphic 433" descr="Eye with solid fill">
            <a:extLst>
              <a:ext uri="{FF2B5EF4-FFF2-40B4-BE49-F238E27FC236}">
                <a16:creationId xmlns:a16="http://schemas.microsoft.com/office/drawing/2014/main" id="{447214C2-710D-ADC9-E238-4A44D4ECDA5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884112" y="3985614"/>
            <a:ext cx="226597" cy="228364"/>
          </a:xfrm>
          <a:prstGeom prst="rect">
            <a:avLst/>
          </a:prstGeom>
        </p:spPr>
      </p:pic>
      <p:sp>
        <p:nvSpPr>
          <p:cNvPr id="437" name="TextBox 436">
            <a:extLst>
              <a:ext uri="{FF2B5EF4-FFF2-40B4-BE49-F238E27FC236}">
                <a16:creationId xmlns:a16="http://schemas.microsoft.com/office/drawing/2014/main" id="{EAD6BAA9-55B3-9311-7453-F476BBE90C2D}"/>
              </a:ext>
            </a:extLst>
          </p:cNvPr>
          <p:cNvSpPr txBox="1"/>
          <p:nvPr/>
        </p:nvSpPr>
        <p:spPr>
          <a:xfrm>
            <a:off x="3001909" y="3967664"/>
            <a:ext cx="688122" cy="133254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Artifacts</a:t>
            </a:r>
          </a:p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A4D965B6-F4D9-F242-16F3-EE8CC7A9D7DC}"/>
              </a:ext>
            </a:extLst>
          </p:cNvPr>
          <p:cNvSpPr txBox="1"/>
          <p:nvPr/>
        </p:nvSpPr>
        <p:spPr>
          <a:xfrm>
            <a:off x="3253186" y="4411231"/>
            <a:ext cx="517265" cy="19785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Svc Ops</a:t>
            </a:r>
          </a:p>
        </p:txBody>
      </p:sp>
      <p:pic>
        <p:nvPicPr>
          <p:cNvPr id="442" name="Graphic 441" descr="Open hand with solid fill">
            <a:extLst>
              <a:ext uri="{FF2B5EF4-FFF2-40B4-BE49-F238E27FC236}">
                <a16:creationId xmlns:a16="http://schemas.microsoft.com/office/drawing/2014/main" id="{7B69F332-2DEF-E7E9-0AF8-CD3180A92E1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799979" y="4937294"/>
            <a:ext cx="234943" cy="236774"/>
          </a:xfrm>
          <a:prstGeom prst="rect">
            <a:avLst/>
          </a:prstGeom>
        </p:spPr>
      </p:pic>
      <p:sp>
        <p:nvSpPr>
          <p:cNvPr id="443" name="TextBox 442">
            <a:extLst>
              <a:ext uri="{FF2B5EF4-FFF2-40B4-BE49-F238E27FC236}">
                <a16:creationId xmlns:a16="http://schemas.microsoft.com/office/drawing/2014/main" id="{77B907E5-270D-2F24-9EAB-B6F9CA0A7749}"/>
              </a:ext>
            </a:extLst>
          </p:cNvPr>
          <p:cNvSpPr txBox="1"/>
          <p:nvPr/>
        </p:nvSpPr>
        <p:spPr>
          <a:xfrm>
            <a:off x="3066916" y="4954103"/>
            <a:ext cx="601375" cy="18806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</a:p>
        </p:txBody>
      </p:sp>
      <p:pic>
        <p:nvPicPr>
          <p:cNvPr id="446" name="Graphic 445" descr="Arrow circle with solid fill">
            <a:extLst>
              <a:ext uri="{FF2B5EF4-FFF2-40B4-BE49-F238E27FC236}">
                <a16:creationId xmlns:a16="http://schemas.microsoft.com/office/drawing/2014/main" id="{01631A37-422D-E129-4C0C-AE9B0A661BA6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407073" y="4302257"/>
            <a:ext cx="643085" cy="648097"/>
          </a:xfrm>
          <a:prstGeom prst="rect">
            <a:avLst/>
          </a:prstGeom>
        </p:spPr>
      </p:pic>
      <p:pic>
        <p:nvPicPr>
          <p:cNvPr id="447" name="Graphic 446" descr="Quill with solid fill">
            <a:extLst>
              <a:ext uri="{FF2B5EF4-FFF2-40B4-BE49-F238E27FC236}">
                <a16:creationId xmlns:a16="http://schemas.microsoft.com/office/drawing/2014/main" id="{9A5A4B59-1E1D-4300-80EC-4AED9AF230B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920815" y="4927958"/>
            <a:ext cx="190967" cy="192455"/>
          </a:xfrm>
          <a:prstGeom prst="rect">
            <a:avLst/>
          </a:prstGeom>
        </p:spPr>
      </p:pic>
      <p:sp>
        <p:nvSpPr>
          <p:cNvPr id="448" name="TextBox 447">
            <a:extLst>
              <a:ext uri="{FF2B5EF4-FFF2-40B4-BE49-F238E27FC236}">
                <a16:creationId xmlns:a16="http://schemas.microsoft.com/office/drawing/2014/main" id="{CD6FF434-45EE-1531-09D3-25F9C94B09DB}"/>
              </a:ext>
            </a:extLst>
          </p:cNvPr>
          <p:cNvSpPr txBox="1"/>
          <p:nvPr/>
        </p:nvSpPr>
        <p:spPr>
          <a:xfrm>
            <a:off x="2110637" y="4923019"/>
            <a:ext cx="642419" cy="18598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Docs &amp; Guidance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BAF4BFC9-18D2-95C4-AC3C-A44DA37813CA}"/>
              </a:ext>
            </a:extLst>
          </p:cNvPr>
          <p:cNvSpPr txBox="1"/>
          <p:nvPr/>
        </p:nvSpPr>
        <p:spPr>
          <a:xfrm>
            <a:off x="7995171" y="3256863"/>
            <a:ext cx="530113" cy="18598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</a:t>
            </a:r>
          </a:p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</a:p>
        </p:txBody>
      </p:sp>
      <p:pic>
        <p:nvPicPr>
          <p:cNvPr id="452" name="Graphic 451" descr="Waiter male with solid fill">
            <a:extLst>
              <a:ext uri="{FF2B5EF4-FFF2-40B4-BE49-F238E27FC236}">
                <a16:creationId xmlns:a16="http://schemas.microsoft.com/office/drawing/2014/main" id="{655B0125-AFA1-F038-6D59-B87C0D4C32BE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761270" y="3263262"/>
            <a:ext cx="261990" cy="264031"/>
          </a:xfrm>
          <a:prstGeom prst="rect">
            <a:avLst/>
          </a:prstGeom>
        </p:spPr>
      </p:pic>
      <p:sp>
        <p:nvSpPr>
          <p:cNvPr id="455" name="TextBox 454">
            <a:extLst>
              <a:ext uri="{FF2B5EF4-FFF2-40B4-BE49-F238E27FC236}">
                <a16:creationId xmlns:a16="http://schemas.microsoft.com/office/drawing/2014/main" id="{B6A54CD2-8D2A-A432-856C-CB839015D411}"/>
              </a:ext>
            </a:extLst>
          </p:cNvPr>
          <p:cNvSpPr txBox="1"/>
          <p:nvPr/>
        </p:nvSpPr>
        <p:spPr>
          <a:xfrm>
            <a:off x="1649712" y="3541227"/>
            <a:ext cx="2185575" cy="245345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IPE Governance</a:t>
            </a: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EA725440-4842-CA29-62C3-6147E9B73809}"/>
              </a:ext>
            </a:extLst>
          </p:cNvPr>
          <p:cNvSpPr/>
          <p:nvPr/>
        </p:nvSpPr>
        <p:spPr>
          <a:xfrm>
            <a:off x="1658892" y="2491616"/>
            <a:ext cx="2075704" cy="711136"/>
          </a:xfrm>
          <a:prstGeom prst="rect">
            <a:avLst/>
          </a:prstGeom>
          <a:noFill/>
          <a:ln w="12700">
            <a:solidFill>
              <a:srgbClr val="6F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461" name="Picture 460">
            <a:extLst>
              <a:ext uri="{FF2B5EF4-FFF2-40B4-BE49-F238E27FC236}">
                <a16:creationId xmlns:a16="http://schemas.microsoft.com/office/drawing/2014/main" id="{05A9939F-28CE-7DC0-981A-AC01411B4F44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flipH="1" flipV="1">
            <a:off x="6886352" y="4076118"/>
            <a:ext cx="154401" cy="216162"/>
          </a:xfrm>
          <a:prstGeom prst="rect">
            <a:avLst/>
          </a:prstGeom>
        </p:spPr>
      </p:pic>
      <p:pic>
        <p:nvPicPr>
          <p:cNvPr id="463" name="Graphic 462">
            <a:extLst>
              <a:ext uri="{FF2B5EF4-FFF2-40B4-BE49-F238E27FC236}">
                <a16:creationId xmlns:a16="http://schemas.microsoft.com/office/drawing/2014/main" id="{569B1AC0-A8F8-4369-5CD6-B6A85522D1B8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562766" y="4057717"/>
            <a:ext cx="329039" cy="255919"/>
          </a:xfrm>
          <a:prstGeom prst="rect">
            <a:avLst/>
          </a:prstGeom>
        </p:spPr>
      </p:pic>
      <p:grpSp>
        <p:nvGrpSpPr>
          <p:cNvPr id="465" name="Group 464">
            <a:extLst>
              <a:ext uri="{FF2B5EF4-FFF2-40B4-BE49-F238E27FC236}">
                <a16:creationId xmlns:a16="http://schemas.microsoft.com/office/drawing/2014/main" id="{C9FBC6B4-F08D-A0DA-C564-BB006660C81C}"/>
              </a:ext>
            </a:extLst>
          </p:cNvPr>
          <p:cNvGrpSpPr/>
          <p:nvPr/>
        </p:nvGrpSpPr>
        <p:grpSpPr>
          <a:xfrm>
            <a:off x="4904430" y="1695743"/>
            <a:ext cx="238827" cy="126019"/>
            <a:chOff x="5165805" y="594093"/>
            <a:chExt cx="238827" cy="126019"/>
          </a:xfrm>
        </p:grpSpPr>
        <p:cxnSp>
          <p:nvCxnSpPr>
            <p:cNvPr id="466" name="Connector 23">
              <a:extLst>
                <a:ext uri="{FF2B5EF4-FFF2-40B4-BE49-F238E27FC236}">
                  <a16:creationId xmlns:a16="http://schemas.microsoft.com/office/drawing/2014/main" id="{267691D8-07EB-8C08-4434-E6551BDDF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5805" y="651839"/>
              <a:ext cx="139960" cy="0"/>
            </a:xfrm>
            <a:prstGeom prst="line">
              <a:avLst/>
            </a:prstGeom>
            <a:noFill/>
            <a:ln w="19050" cap="sq">
              <a:solidFill>
                <a:srgbClr val="6E7878"/>
              </a:solidFill>
            </a:ln>
          </p:spPr>
        </p:cxn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A62165DB-8DB4-D3BE-937D-943A278B5BA5}"/>
                </a:ext>
              </a:extLst>
            </p:cNvPr>
            <p:cNvSpPr/>
            <p:nvPr/>
          </p:nvSpPr>
          <p:spPr>
            <a:xfrm>
              <a:off x="5309405" y="594093"/>
              <a:ext cx="95227" cy="126019"/>
            </a:xfrm>
            <a:custGeom>
              <a:avLst/>
              <a:gdLst/>
              <a:ahLst/>
              <a:cxnLst/>
              <a:rect l="l" t="t" r="r" b="b"/>
              <a:pathLst>
                <a:path w="67208" h="124968">
                  <a:moveTo>
                    <a:pt x="67208" y="62484"/>
                  </a:moveTo>
                  <a:lnTo>
                    <a:pt x="0" y="0"/>
                  </a:lnTo>
                  <a:lnTo>
                    <a:pt x="0" y="124967"/>
                  </a:lnTo>
                  <a:close/>
                </a:path>
              </a:pathLst>
            </a:custGeom>
            <a:solidFill>
              <a:srgbClr val="6E7878"/>
            </a:solidFill>
          </p:spPr>
          <p:txBody>
            <a:bodyPr/>
            <a:lstStyle/>
            <a:p>
              <a:endParaRPr lang="en-CN"/>
            </a:p>
          </p:txBody>
        </p:sp>
      </p:grpSp>
      <p:cxnSp>
        <p:nvCxnSpPr>
          <p:cNvPr id="475" name="Connector 23">
            <a:extLst>
              <a:ext uri="{FF2B5EF4-FFF2-40B4-BE49-F238E27FC236}">
                <a16:creationId xmlns:a16="http://schemas.microsoft.com/office/drawing/2014/main" id="{1971058F-BB37-F7C9-8F17-383C98767EA7}"/>
              </a:ext>
            </a:extLst>
          </p:cNvPr>
          <p:cNvCxnSpPr>
            <a:cxnSpLocks/>
          </p:cNvCxnSpPr>
          <p:nvPr/>
        </p:nvCxnSpPr>
        <p:spPr>
          <a:xfrm flipV="1">
            <a:off x="3735271" y="2152352"/>
            <a:ext cx="0" cy="162030"/>
          </a:xfrm>
          <a:prstGeom prst="line">
            <a:avLst/>
          </a:prstGeom>
          <a:noFill/>
          <a:ln w="12700" cap="sq">
            <a:solidFill>
              <a:srgbClr val="00B0F0"/>
            </a:solidFill>
          </a:ln>
        </p:spPr>
      </p:cxnSp>
      <p:cxnSp>
        <p:nvCxnSpPr>
          <p:cNvPr id="477" name="Connector 23">
            <a:extLst>
              <a:ext uri="{FF2B5EF4-FFF2-40B4-BE49-F238E27FC236}">
                <a16:creationId xmlns:a16="http://schemas.microsoft.com/office/drawing/2014/main" id="{8E88AA07-B6AD-F29B-00C7-B601C3CDFDC8}"/>
              </a:ext>
            </a:extLst>
          </p:cNvPr>
          <p:cNvCxnSpPr>
            <a:cxnSpLocks/>
          </p:cNvCxnSpPr>
          <p:nvPr/>
        </p:nvCxnSpPr>
        <p:spPr>
          <a:xfrm flipV="1">
            <a:off x="6946463" y="2152352"/>
            <a:ext cx="0" cy="162030"/>
          </a:xfrm>
          <a:prstGeom prst="line">
            <a:avLst/>
          </a:prstGeom>
          <a:noFill/>
          <a:ln w="12700" cap="sq">
            <a:solidFill>
              <a:srgbClr val="00B0F0"/>
            </a:solidFill>
          </a:ln>
        </p:spPr>
      </p:cxn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D5A2E404-874B-B7C6-95F3-61B955251C3A}"/>
              </a:ext>
            </a:extLst>
          </p:cNvPr>
          <p:cNvGrpSpPr/>
          <p:nvPr/>
        </p:nvGrpSpPr>
        <p:grpSpPr>
          <a:xfrm>
            <a:off x="3765207" y="852935"/>
            <a:ext cx="238827" cy="126019"/>
            <a:chOff x="5165805" y="594093"/>
            <a:chExt cx="238827" cy="126019"/>
          </a:xfrm>
        </p:grpSpPr>
        <p:cxnSp>
          <p:nvCxnSpPr>
            <p:cNvPr id="480" name="Connector 23">
              <a:extLst>
                <a:ext uri="{FF2B5EF4-FFF2-40B4-BE49-F238E27FC236}">
                  <a16:creationId xmlns:a16="http://schemas.microsoft.com/office/drawing/2014/main" id="{7A1491A9-FDF4-FD76-2F26-B805D4B647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5805" y="651839"/>
              <a:ext cx="139960" cy="0"/>
            </a:xfrm>
            <a:prstGeom prst="line">
              <a:avLst/>
            </a:prstGeom>
            <a:noFill/>
            <a:ln w="19050" cap="sq">
              <a:solidFill>
                <a:srgbClr val="6E7878"/>
              </a:solidFill>
            </a:ln>
          </p:spPr>
        </p:cxn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9048B20C-F2A8-C609-AF83-A64B66ED9D1D}"/>
                </a:ext>
              </a:extLst>
            </p:cNvPr>
            <p:cNvSpPr/>
            <p:nvPr/>
          </p:nvSpPr>
          <p:spPr>
            <a:xfrm>
              <a:off x="5309405" y="594093"/>
              <a:ext cx="95227" cy="126019"/>
            </a:xfrm>
            <a:custGeom>
              <a:avLst/>
              <a:gdLst/>
              <a:ahLst/>
              <a:cxnLst/>
              <a:rect l="l" t="t" r="r" b="b"/>
              <a:pathLst>
                <a:path w="67208" h="124968">
                  <a:moveTo>
                    <a:pt x="67208" y="62484"/>
                  </a:moveTo>
                  <a:lnTo>
                    <a:pt x="0" y="0"/>
                  </a:lnTo>
                  <a:lnTo>
                    <a:pt x="0" y="124967"/>
                  </a:lnTo>
                  <a:close/>
                </a:path>
              </a:pathLst>
            </a:custGeom>
            <a:solidFill>
              <a:srgbClr val="6E7878"/>
            </a:solidFill>
          </p:spPr>
          <p:txBody>
            <a:bodyPr/>
            <a:lstStyle/>
            <a:p>
              <a:endParaRPr lang="en-CN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1BA9A2-997F-FBF5-FB45-FCE17631CBC7}"/>
              </a:ext>
            </a:extLst>
          </p:cNvPr>
          <p:cNvGrpSpPr/>
          <p:nvPr/>
        </p:nvGrpSpPr>
        <p:grpSpPr>
          <a:xfrm rot="10800000">
            <a:off x="2650929" y="2208104"/>
            <a:ext cx="126019" cy="228832"/>
            <a:chOff x="2663091" y="2187826"/>
            <a:chExt cx="126019" cy="228832"/>
          </a:xfrm>
        </p:grpSpPr>
        <p:cxnSp>
          <p:nvCxnSpPr>
            <p:cNvPr id="489" name="Connector 23">
              <a:extLst>
                <a:ext uri="{FF2B5EF4-FFF2-40B4-BE49-F238E27FC236}">
                  <a16:creationId xmlns:a16="http://schemas.microsoft.com/office/drawing/2014/main" id="{3F3345AC-3E09-81DA-888A-F541EB46DE6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657837" y="2257806"/>
              <a:ext cx="139960" cy="0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prstDash val="sysDot"/>
            </a:ln>
          </p:spPr>
        </p:cxn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A951C1B2-FABE-DCE2-9F1D-9BA751F02F45}"/>
                </a:ext>
              </a:extLst>
            </p:cNvPr>
            <p:cNvSpPr/>
            <p:nvPr/>
          </p:nvSpPr>
          <p:spPr>
            <a:xfrm rot="5400000">
              <a:off x="2678487" y="2306035"/>
              <a:ext cx="95227" cy="126019"/>
            </a:xfrm>
            <a:custGeom>
              <a:avLst/>
              <a:gdLst/>
              <a:ahLst/>
              <a:cxnLst/>
              <a:rect l="l" t="t" r="r" b="b"/>
              <a:pathLst>
                <a:path w="67208" h="124968">
                  <a:moveTo>
                    <a:pt x="67208" y="62484"/>
                  </a:moveTo>
                  <a:lnTo>
                    <a:pt x="0" y="0"/>
                  </a:lnTo>
                  <a:lnTo>
                    <a:pt x="0" y="124967"/>
                  </a:lnTo>
                  <a:close/>
                </a:path>
              </a:pathLst>
            </a:custGeom>
            <a:solidFill>
              <a:srgbClr val="FF540A"/>
            </a:solidFill>
            <a:ln>
              <a:solidFill>
                <a:srgbClr val="FF0000"/>
              </a:solidFill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97" name="TextBox 496">
            <a:extLst>
              <a:ext uri="{FF2B5EF4-FFF2-40B4-BE49-F238E27FC236}">
                <a16:creationId xmlns:a16="http://schemas.microsoft.com/office/drawing/2014/main" id="{86F8C42D-B5CA-1D2D-9F53-D24B3ED4B1F2}"/>
              </a:ext>
            </a:extLst>
          </p:cNvPr>
          <p:cNvSpPr txBox="1"/>
          <p:nvPr/>
        </p:nvSpPr>
        <p:spPr>
          <a:xfrm>
            <a:off x="5560714" y="788740"/>
            <a:ext cx="644968" cy="284212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Demand 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Mapping</a:t>
            </a:r>
          </a:p>
        </p:txBody>
      </p:sp>
      <p:cxnSp>
        <p:nvCxnSpPr>
          <p:cNvPr id="498" name="Connector 23">
            <a:extLst>
              <a:ext uri="{FF2B5EF4-FFF2-40B4-BE49-F238E27FC236}">
                <a16:creationId xmlns:a16="http://schemas.microsoft.com/office/drawing/2014/main" id="{C6ABB7E4-0F29-901D-1E6D-EE5244D92B08}"/>
              </a:ext>
            </a:extLst>
          </p:cNvPr>
          <p:cNvCxnSpPr>
            <a:cxnSpLocks/>
          </p:cNvCxnSpPr>
          <p:nvPr/>
        </p:nvCxnSpPr>
        <p:spPr>
          <a:xfrm flipH="1">
            <a:off x="5271473" y="939548"/>
            <a:ext cx="139960" cy="0"/>
          </a:xfrm>
          <a:prstGeom prst="line">
            <a:avLst/>
          </a:prstGeom>
          <a:noFill/>
          <a:ln w="19050" cap="sq">
            <a:solidFill>
              <a:srgbClr val="FF0000"/>
            </a:solidFill>
            <a:prstDash val="sysDot"/>
          </a:ln>
        </p:spPr>
      </p:cxnSp>
      <p:sp>
        <p:nvSpPr>
          <p:cNvPr id="499" name="Freeform 498">
            <a:extLst>
              <a:ext uri="{FF2B5EF4-FFF2-40B4-BE49-F238E27FC236}">
                <a16:creationId xmlns:a16="http://schemas.microsoft.com/office/drawing/2014/main" id="{26D5190E-1F41-14C3-634A-0D0E4456CE8A}"/>
              </a:ext>
            </a:extLst>
          </p:cNvPr>
          <p:cNvSpPr/>
          <p:nvPr/>
        </p:nvSpPr>
        <p:spPr>
          <a:xfrm>
            <a:off x="5415072" y="870227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FF540A"/>
          </a:solidFill>
          <a:ln>
            <a:solidFill>
              <a:srgbClr val="FF0000"/>
            </a:solidFill>
          </a:ln>
        </p:spPr>
        <p:txBody>
          <a:bodyPr/>
          <a:lstStyle/>
          <a:p>
            <a:endParaRPr lang="en-CN">
              <a:solidFill>
                <a:srgbClr val="0070C0"/>
              </a:solidFill>
            </a:endParaRPr>
          </a:p>
        </p:txBody>
      </p:sp>
      <p:pic>
        <p:nvPicPr>
          <p:cNvPr id="503" name="Graphic 502" descr="Programmer male with solid fill">
            <a:extLst>
              <a:ext uri="{FF2B5EF4-FFF2-40B4-BE49-F238E27FC236}">
                <a16:creationId xmlns:a16="http://schemas.microsoft.com/office/drawing/2014/main" id="{8787D5B2-E540-8E5E-0321-A669D3582E8D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735398" y="3944821"/>
            <a:ext cx="280146" cy="280146"/>
          </a:xfrm>
          <a:prstGeom prst="rect">
            <a:avLst/>
          </a:prstGeom>
        </p:spPr>
      </p:pic>
      <p:cxnSp>
        <p:nvCxnSpPr>
          <p:cNvPr id="504" name="Connector 23">
            <a:extLst>
              <a:ext uri="{FF2B5EF4-FFF2-40B4-BE49-F238E27FC236}">
                <a16:creationId xmlns:a16="http://schemas.microsoft.com/office/drawing/2014/main" id="{2D39E75C-9456-ED69-3F12-1CFD0B1AD939}"/>
              </a:ext>
            </a:extLst>
          </p:cNvPr>
          <p:cNvCxnSpPr>
            <a:cxnSpLocks/>
          </p:cNvCxnSpPr>
          <p:nvPr/>
        </p:nvCxnSpPr>
        <p:spPr>
          <a:xfrm flipV="1">
            <a:off x="2732925" y="3201561"/>
            <a:ext cx="0" cy="246704"/>
          </a:xfrm>
          <a:prstGeom prst="line">
            <a:avLst/>
          </a:prstGeom>
          <a:noFill/>
          <a:ln w="12700" cap="sq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</p:cxnSp>
      <p:sp>
        <p:nvSpPr>
          <p:cNvPr id="505" name="Freeform 504">
            <a:extLst>
              <a:ext uri="{FF2B5EF4-FFF2-40B4-BE49-F238E27FC236}">
                <a16:creationId xmlns:a16="http://schemas.microsoft.com/office/drawing/2014/main" id="{C6569733-8F5F-7610-6CCA-4B82B239C748}"/>
              </a:ext>
            </a:extLst>
          </p:cNvPr>
          <p:cNvSpPr/>
          <p:nvPr/>
        </p:nvSpPr>
        <p:spPr>
          <a:xfrm rot="5400000">
            <a:off x="2680048" y="3359729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CN"/>
          </a:p>
        </p:txBody>
      </p:sp>
      <p:cxnSp>
        <p:nvCxnSpPr>
          <p:cNvPr id="506" name="Connector 23">
            <a:extLst>
              <a:ext uri="{FF2B5EF4-FFF2-40B4-BE49-F238E27FC236}">
                <a16:creationId xmlns:a16="http://schemas.microsoft.com/office/drawing/2014/main" id="{D20C89D8-52D0-10D2-E86A-DD10F593CD1A}"/>
              </a:ext>
            </a:extLst>
          </p:cNvPr>
          <p:cNvCxnSpPr>
            <a:cxnSpLocks/>
          </p:cNvCxnSpPr>
          <p:nvPr/>
        </p:nvCxnSpPr>
        <p:spPr>
          <a:xfrm flipH="1">
            <a:off x="8654241" y="5987116"/>
            <a:ext cx="852716" cy="0"/>
          </a:xfrm>
          <a:prstGeom prst="line">
            <a:avLst/>
          </a:prstGeom>
          <a:noFill/>
          <a:ln w="12700" cap="sq">
            <a:solidFill>
              <a:srgbClr val="FFC000"/>
            </a:solidFill>
            <a:prstDash val="solid"/>
          </a:ln>
        </p:spPr>
      </p:cxnSp>
      <p:cxnSp>
        <p:nvCxnSpPr>
          <p:cNvPr id="509" name="Connector 23">
            <a:extLst>
              <a:ext uri="{FF2B5EF4-FFF2-40B4-BE49-F238E27FC236}">
                <a16:creationId xmlns:a16="http://schemas.microsoft.com/office/drawing/2014/main" id="{39124D01-4C41-1BA8-2FA3-76A2FDD4B380}"/>
              </a:ext>
            </a:extLst>
          </p:cNvPr>
          <p:cNvCxnSpPr>
            <a:cxnSpLocks/>
          </p:cNvCxnSpPr>
          <p:nvPr/>
        </p:nvCxnSpPr>
        <p:spPr>
          <a:xfrm flipV="1">
            <a:off x="9507017" y="5075552"/>
            <a:ext cx="0" cy="887848"/>
          </a:xfrm>
          <a:prstGeom prst="line">
            <a:avLst/>
          </a:prstGeom>
          <a:noFill/>
          <a:ln w="12700" cap="sq">
            <a:solidFill>
              <a:srgbClr val="FFC000"/>
            </a:solidFill>
            <a:prstDash val="solid"/>
          </a:ln>
        </p:spPr>
      </p:cxnSp>
      <p:sp>
        <p:nvSpPr>
          <p:cNvPr id="512" name="Freeform 511">
            <a:extLst>
              <a:ext uri="{FF2B5EF4-FFF2-40B4-BE49-F238E27FC236}">
                <a16:creationId xmlns:a16="http://schemas.microsoft.com/office/drawing/2014/main" id="{DC9C3627-2822-DFE7-4B2A-6CE9AEDF4184}"/>
              </a:ext>
            </a:extLst>
          </p:cNvPr>
          <p:cNvSpPr/>
          <p:nvPr/>
        </p:nvSpPr>
        <p:spPr>
          <a:xfrm rot="10800000">
            <a:off x="8640176" y="5927124"/>
            <a:ext cx="67190" cy="124935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FFC000"/>
          </a:solidFill>
          <a:ln w="12700">
            <a:solidFill>
              <a:srgbClr val="FFC000"/>
            </a:solidFill>
          </a:ln>
        </p:spPr>
        <p:txBody>
          <a:bodyPr/>
          <a:lstStyle/>
          <a:p>
            <a:endParaRPr lang="en-CN"/>
          </a:p>
        </p:txBody>
      </p:sp>
      <p:cxnSp>
        <p:nvCxnSpPr>
          <p:cNvPr id="514" name="Connector 23">
            <a:extLst>
              <a:ext uri="{FF2B5EF4-FFF2-40B4-BE49-F238E27FC236}">
                <a16:creationId xmlns:a16="http://schemas.microsoft.com/office/drawing/2014/main" id="{BA2C91C5-8215-BE4C-0960-FA1572532E39}"/>
              </a:ext>
            </a:extLst>
          </p:cNvPr>
          <p:cNvCxnSpPr>
            <a:cxnSpLocks/>
          </p:cNvCxnSpPr>
          <p:nvPr/>
        </p:nvCxnSpPr>
        <p:spPr>
          <a:xfrm flipH="1">
            <a:off x="8652820" y="6125157"/>
            <a:ext cx="983279" cy="0"/>
          </a:xfrm>
          <a:prstGeom prst="line">
            <a:avLst/>
          </a:prstGeom>
          <a:noFill/>
          <a:ln w="12700" cap="sq">
            <a:solidFill>
              <a:srgbClr val="FF0000"/>
            </a:solidFill>
            <a:prstDash val="solid"/>
          </a:ln>
        </p:spPr>
      </p:cxnSp>
      <p:cxnSp>
        <p:nvCxnSpPr>
          <p:cNvPr id="515" name="Connector 23">
            <a:extLst>
              <a:ext uri="{FF2B5EF4-FFF2-40B4-BE49-F238E27FC236}">
                <a16:creationId xmlns:a16="http://schemas.microsoft.com/office/drawing/2014/main" id="{2F202A27-C1C7-25FB-53C2-9081742FDF14}"/>
              </a:ext>
            </a:extLst>
          </p:cNvPr>
          <p:cNvCxnSpPr>
            <a:cxnSpLocks/>
          </p:cNvCxnSpPr>
          <p:nvPr/>
        </p:nvCxnSpPr>
        <p:spPr>
          <a:xfrm flipV="1">
            <a:off x="9638745" y="5102141"/>
            <a:ext cx="0" cy="1005211"/>
          </a:xfrm>
          <a:prstGeom prst="line">
            <a:avLst/>
          </a:prstGeom>
          <a:noFill/>
          <a:ln w="12700" cap="sq">
            <a:solidFill>
              <a:srgbClr val="FF0000"/>
            </a:solidFill>
            <a:prstDash val="solid"/>
          </a:ln>
        </p:spPr>
      </p:cxnSp>
      <p:sp>
        <p:nvSpPr>
          <p:cNvPr id="516" name="Freeform 515">
            <a:extLst>
              <a:ext uri="{FF2B5EF4-FFF2-40B4-BE49-F238E27FC236}">
                <a16:creationId xmlns:a16="http://schemas.microsoft.com/office/drawing/2014/main" id="{2B617034-0CF3-9A8A-FA65-201E9DAA2E4B}"/>
              </a:ext>
            </a:extLst>
          </p:cNvPr>
          <p:cNvSpPr/>
          <p:nvPr/>
        </p:nvSpPr>
        <p:spPr>
          <a:xfrm rot="16200000">
            <a:off x="9603439" y="5013627"/>
            <a:ext cx="67190" cy="124935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4EA5516D-6823-E142-4121-694D52CE5869}"/>
              </a:ext>
            </a:extLst>
          </p:cNvPr>
          <p:cNvSpPr txBox="1"/>
          <p:nvPr/>
        </p:nvSpPr>
        <p:spPr>
          <a:xfrm>
            <a:off x="10231162" y="808923"/>
            <a:ext cx="644968" cy="169952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Provision/Reconcile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653878D5-E86D-079D-2155-FD9F5AF929D5}"/>
              </a:ext>
            </a:extLst>
          </p:cNvPr>
          <p:cNvSpPr txBox="1"/>
          <p:nvPr/>
        </p:nvSpPr>
        <p:spPr>
          <a:xfrm>
            <a:off x="6463989" y="812718"/>
            <a:ext cx="799892" cy="284212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ts val="1200"/>
              </a:lnSpc>
            </a:pPr>
            <a:r>
              <a:rPr lang="en-US" sz="1000" dirty="0">
                <a:latin typeface="Arial" panose="020B0604020202020204" pitchFamily="34" charset="0"/>
              </a:rPr>
              <a:t>Manage/ Operate</a:t>
            </a:r>
          </a:p>
        </p:txBody>
      </p:sp>
      <p:cxnSp>
        <p:nvCxnSpPr>
          <p:cNvPr id="538" name="Connector 23">
            <a:extLst>
              <a:ext uri="{FF2B5EF4-FFF2-40B4-BE49-F238E27FC236}">
                <a16:creationId xmlns:a16="http://schemas.microsoft.com/office/drawing/2014/main" id="{2A1E57E2-B5F3-AB3B-7093-59AB1F17F246}"/>
              </a:ext>
            </a:extLst>
          </p:cNvPr>
          <p:cNvCxnSpPr>
            <a:cxnSpLocks/>
          </p:cNvCxnSpPr>
          <p:nvPr/>
        </p:nvCxnSpPr>
        <p:spPr>
          <a:xfrm flipH="1">
            <a:off x="6160614" y="944689"/>
            <a:ext cx="139960" cy="0"/>
          </a:xfrm>
          <a:prstGeom prst="line">
            <a:avLst/>
          </a:prstGeom>
          <a:noFill/>
          <a:ln w="19050" cap="sq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</p:cxnSp>
      <p:sp>
        <p:nvSpPr>
          <p:cNvPr id="539" name="Freeform 538">
            <a:extLst>
              <a:ext uri="{FF2B5EF4-FFF2-40B4-BE49-F238E27FC236}">
                <a16:creationId xmlns:a16="http://schemas.microsoft.com/office/drawing/2014/main" id="{06AC08E7-C9C2-6131-9B6D-D4FEE2668502}"/>
              </a:ext>
            </a:extLst>
          </p:cNvPr>
          <p:cNvSpPr/>
          <p:nvPr/>
        </p:nvSpPr>
        <p:spPr>
          <a:xfrm>
            <a:off x="6304213" y="886943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CN"/>
          </a:p>
        </p:txBody>
      </p:sp>
      <p:cxnSp>
        <p:nvCxnSpPr>
          <p:cNvPr id="543" name="Connector 23">
            <a:extLst>
              <a:ext uri="{FF2B5EF4-FFF2-40B4-BE49-F238E27FC236}">
                <a16:creationId xmlns:a16="http://schemas.microsoft.com/office/drawing/2014/main" id="{DCF3DE15-E8F8-66D1-2A0C-D48D129D5582}"/>
              </a:ext>
            </a:extLst>
          </p:cNvPr>
          <p:cNvCxnSpPr>
            <a:cxnSpLocks/>
          </p:cNvCxnSpPr>
          <p:nvPr/>
        </p:nvCxnSpPr>
        <p:spPr>
          <a:xfrm flipH="1">
            <a:off x="3755652" y="4308277"/>
            <a:ext cx="231622" cy="0"/>
          </a:xfrm>
          <a:prstGeom prst="line">
            <a:avLst/>
          </a:prstGeom>
          <a:noFill/>
          <a:ln w="12700" cap="sq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</p:cxnSp>
      <p:sp>
        <p:nvSpPr>
          <p:cNvPr id="544" name="Freeform 543">
            <a:extLst>
              <a:ext uri="{FF2B5EF4-FFF2-40B4-BE49-F238E27FC236}">
                <a16:creationId xmlns:a16="http://schemas.microsoft.com/office/drawing/2014/main" id="{928C26BE-44B2-5985-3CE5-4EC7A9F21A60}"/>
              </a:ext>
            </a:extLst>
          </p:cNvPr>
          <p:cNvSpPr/>
          <p:nvPr/>
        </p:nvSpPr>
        <p:spPr>
          <a:xfrm>
            <a:off x="3941865" y="4246615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CN"/>
          </a:p>
        </p:txBody>
      </p:sp>
      <p:cxnSp>
        <p:nvCxnSpPr>
          <p:cNvPr id="545" name="Connector 23">
            <a:extLst>
              <a:ext uri="{FF2B5EF4-FFF2-40B4-BE49-F238E27FC236}">
                <a16:creationId xmlns:a16="http://schemas.microsoft.com/office/drawing/2014/main" id="{9A487AB9-E434-FA5D-36B3-9286581FF19B}"/>
              </a:ext>
            </a:extLst>
          </p:cNvPr>
          <p:cNvCxnSpPr>
            <a:cxnSpLocks/>
          </p:cNvCxnSpPr>
          <p:nvPr/>
        </p:nvCxnSpPr>
        <p:spPr>
          <a:xfrm flipV="1">
            <a:off x="5207183" y="3299378"/>
            <a:ext cx="0" cy="1451283"/>
          </a:xfrm>
          <a:prstGeom prst="line">
            <a:avLst/>
          </a:prstGeom>
          <a:noFill/>
          <a:ln w="12700" cap="sq">
            <a:solidFill>
              <a:schemeClr val="bg2">
                <a:lumMod val="50000"/>
              </a:schemeClr>
            </a:solidFill>
            <a:prstDash val="solid"/>
          </a:ln>
        </p:spPr>
      </p:cxnSp>
      <p:cxnSp>
        <p:nvCxnSpPr>
          <p:cNvPr id="547" name="Connector 23">
            <a:extLst>
              <a:ext uri="{FF2B5EF4-FFF2-40B4-BE49-F238E27FC236}">
                <a16:creationId xmlns:a16="http://schemas.microsoft.com/office/drawing/2014/main" id="{9B5E2556-A82E-9C2E-E93E-8D44998A493E}"/>
              </a:ext>
            </a:extLst>
          </p:cNvPr>
          <p:cNvCxnSpPr>
            <a:cxnSpLocks/>
          </p:cNvCxnSpPr>
          <p:nvPr/>
        </p:nvCxnSpPr>
        <p:spPr>
          <a:xfrm flipH="1">
            <a:off x="5207183" y="3302217"/>
            <a:ext cx="42822" cy="0"/>
          </a:xfrm>
          <a:prstGeom prst="line">
            <a:avLst/>
          </a:prstGeom>
          <a:noFill/>
          <a:ln w="12700" cap="sq">
            <a:solidFill>
              <a:schemeClr val="bg2">
                <a:lumMod val="50000"/>
              </a:schemeClr>
            </a:solidFill>
            <a:prstDash val="solid"/>
          </a:ln>
        </p:spPr>
      </p:cxnSp>
      <p:sp>
        <p:nvSpPr>
          <p:cNvPr id="548" name="Freeform 547">
            <a:extLst>
              <a:ext uri="{FF2B5EF4-FFF2-40B4-BE49-F238E27FC236}">
                <a16:creationId xmlns:a16="http://schemas.microsoft.com/office/drawing/2014/main" id="{D38D8B19-3FAE-ADF5-CC29-1BA53B75B72A}"/>
              </a:ext>
            </a:extLst>
          </p:cNvPr>
          <p:cNvSpPr/>
          <p:nvPr/>
        </p:nvSpPr>
        <p:spPr>
          <a:xfrm>
            <a:off x="5261411" y="3241519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en-CN"/>
          </a:p>
        </p:txBody>
      </p:sp>
      <p:cxnSp>
        <p:nvCxnSpPr>
          <p:cNvPr id="552" name="Connector 23">
            <a:extLst>
              <a:ext uri="{FF2B5EF4-FFF2-40B4-BE49-F238E27FC236}">
                <a16:creationId xmlns:a16="http://schemas.microsoft.com/office/drawing/2014/main" id="{0D7968B3-828B-3903-7616-C94262067B23}"/>
              </a:ext>
            </a:extLst>
          </p:cNvPr>
          <p:cNvCxnSpPr>
            <a:cxnSpLocks/>
          </p:cNvCxnSpPr>
          <p:nvPr/>
        </p:nvCxnSpPr>
        <p:spPr>
          <a:xfrm flipH="1">
            <a:off x="5214163" y="4034164"/>
            <a:ext cx="42822" cy="0"/>
          </a:xfrm>
          <a:prstGeom prst="line">
            <a:avLst/>
          </a:prstGeom>
          <a:noFill/>
          <a:ln w="12700" cap="sq">
            <a:solidFill>
              <a:schemeClr val="bg2">
                <a:lumMod val="50000"/>
              </a:schemeClr>
            </a:solidFill>
            <a:prstDash val="solid"/>
          </a:ln>
        </p:spPr>
      </p:cxnSp>
      <p:sp>
        <p:nvSpPr>
          <p:cNvPr id="553" name="Freeform 552">
            <a:extLst>
              <a:ext uri="{FF2B5EF4-FFF2-40B4-BE49-F238E27FC236}">
                <a16:creationId xmlns:a16="http://schemas.microsoft.com/office/drawing/2014/main" id="{2EEFEFA8-8F80-7151-35A1-D63F2694D432}"/>
              </a:ext>
            </a:extLst>
          </p:cNvPr>
          <p:cNvSpPr/>
          <p:nvPr/>
        </p:nvSpPr>
        <p:spPr>
          <a:xfrm>
            <a:off x="5268391" y="3973466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en-CN"/>
          </a:p>
        </p:txBody>
      </p:sp>
      <p:cxnSp>
        <p:nvCxnSpPr>
          <p:cNvPr id="554" name="Connector 23">
            <a:extLst>
              <a:ext uri="{FF2B5EF4-FFF2-40B4-BE49-F238E27FC236}">
                <a16:creationId xmlns:a16="http://schemas.microsoft.com/office/drawing/2014/main" id="{4D28FDF8-4B0E-77B1-D7C9-EEABFA8550A0}"/>
              </a:ext>
            </a:extLst>
          </p:cNvPr>
          <p:cNvCxnSpPr>
            <a:cxnSpLocks/>
          </p:cNvCxnSpPr>
          <p:nvPr/>
        </p:nvCxnSpPr>
        <p:spPr>
          <a:xfrm flipH="1">
            <a:off x="5214162" y="4760157"/>
            <a:ext cx="42822" cy="0"/>
          </a:xfrm>
          <a:prstGeom prst="line">
            <a:avLst/>
          </a:prstGeom>
          <a:noFill/>
          <a:ln w="12700" cap="sq">
            <a:solidFill>
              <a:schemeClr val="bg2">
                <a:lumMod val="50000"/>
              </a:schemeClr>
            </a:solidFill>
            <a:prstDash val="solid"/>
          </a:ln>
        </p:spPr>
      </p:cxnSp>
      <p:sp>
        <p:nvSpPr>
          <p:cNvPr id="555" name="Freeform 554">
            <a:extLst>
              <a:ext uri="{FF2B5EF4-FFF2-40B4-BE49-F238E27FC236}">
                <a16:creationId xmlns:a16="http://schemas.microsoft.com/office/drawing/2014/main" id="{257E7756-AFD6-9E4C-B868-0E20353006E7}"/>
              </a:ext>
            </a:extLst>
          </p:cNvPr>
          <p:cNvSpPr/>
          <p:nvPr/>
        </p:nvSpPr>
        <p:spPr>
          <a:xfrm>
            <a:off x="5268390" y="4699459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en-CN"/>
          </a:p>
        </p:txBody>
      </p:sp>
      <p:cxnSp>
        <p:nvCxnSpPr>
          <p:cNvPr id="556" name="Connector 23">
            <a:extLst>
              <a:ext uri="{FF2B5EF4-FFF2-40B4-BE49-F238E27FC236}">
                <a16:creationId xmlns:a16="http://schemas.microsoft.com/office/drawing/2014/main" id="{73F7D9B2-02CC-F28F-7CE1-0C67C1E30B2C}"/>
              </a:ext>
            </a:extLst>
          </p:cNvPr>
          <p:cNvCxnSpPr>
            <a:cxnSpLocks/>
          </p:cNvCxnSpPr>
          <p:nvPr/>
        </p:nvCxnSpPr>
        <p:spPr>
          <a:xfrm flipH="1">
            <a:off x="5146677" y="4037344"/>
            <a:ext cx="42822" cy="0"/>
          </a:xfrm>
          <a:prstGeom prst="line">
            <a:avLst/>
          </a:prstGeom>
          <a:noFill/>
          <a:ln w="12700" cap="sq">
            <a:solidFill>
              <a:schemeClr val="bg2">
                <a:lumMod val="50000"/>
              </a:schemeClr>
            </a:solidFill>
            <a:prstDash val="solid"/>
          </a:ln>
        </p:spPr>
      </p:cxnSp>
      <p:sp>
        <p:nvSpPr>
          <p:cNvPr id="557" name="Freeform 556">
            <a:extLst>
              <a:ext uri="{FF2B5EF4-FFF2-40B4-BE49-F238E27FC236}">
                <a16:creationId xmlns:a16="http://schemas.microsoft.com/office/drawing/2014/main" id="{184C1AE0-8D95-9A1E-7B22-E86A47BFF265}"/>
              </a:ext>
            </a:extLst>
          </p:cNvPr>
          <p:cNvSpPr/>
          <p:nvPr/>
        </p:nvSpPr>
        <p:spPr>
          <a:xfrm rot="10800000">
            <a:off x="5042584" y="3972305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endParaRPr lang="en-CN"/>
          </a:p>
        </p:txBody>
      </p:sp>
      <p:cxnSp>
        <p:nvCxnSpPr>
          <p:cNvPr id="569" name="Connector 23">
            <a:extLst>
              <a:ext uri="{FF2B5EF4-FFF2-40B4-BE49-F238E27FC236}">
                <a16:creationId xmlns:a16="http://schemas.microsoft.com/office/drawing/2014/main" id="{E6A4A8B6-F0C8-6998-67C2-B7484B0C30F4}"/>
              </a:ext>
            </a:extLst>
          </p:cNvPr>
          <p:cNvCxnSpPr>
            <a:cxnSpLocks/>
          </p:cNvCxnSpPr>
          <p:nvPr/>
        </p:nvCxnSpPr>
        <p:spPr>
          <a:xfrm flipH="1">
            <a:off x="8705114" y="3619589"/>
            <a:ext cx="139960" cy="0"/>
          </a:xfrm>
          <a:prstGeom prst="line">
            <a:avLst/>
          </a:prstGeom>
          <a:noFill/>
          <a:ln w="19050" cap="sq">
            <a:solidFill>
              <a:srgbClr val="009AD8"/>
            </a:solidFill>
          </a:ln>
        </p:spPr>
      </p:cxnSp>
      <p:sp>
        <p:nvSpPr>
          <p:cNvPr id="570" name="Freeform 569">
            <a:extLst>
              <a:ext uri="{FF2B5EF4-FFF2-40B4-BE49-F238E27FC236}">
                <a16:creationId xmlns:a16="http://schemas.microsoft.com/office/drawing/2014/main" id="{92CB7779-B3F8-7D21-A389-CB0F9C14FFF0}"/>
              </a:ext>
            </a:extLst>
          </p:cNvPr>
          <p:cNvSpPr/>
          <p:nvPr/>
        </p:nvSpPr>
        <p:spPr>
          <a:xfrm>
            <a:off x="8848713" y="3561843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9AD8"/>
          </a:solidFill>
          <a:ln>
            <a:solidFill>
              <a:srgbClr val="009AD8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E12840-8EAD-42B4-AF56-820A08327FC4}"/>
              </a:ext>
            </a:extLst>
          </p:cNvPr>
          <p:cNvSpPr txBox="1"/>
          <p:nvPr/>
        </p:nvSpPr>
        <p:spPr>
          <a:xfrm>
            <a:off x="4128882" y="1767645"/>
            <a:ext cx="596930" cy="208768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lnSpc>
                <a:spcPts val="1440"/>
              </a:lnSpc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AI Agents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203D8810-ADB3-591B-2544-0A5AD50A502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218329" y="1420228"/>
            <a:ext cx="443215" cy="344723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96F58D3-2983-9D07-D18E-F5D11B83FA5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720168" y="4444224"/>
            <a:ext cx="256860" cy="1997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8C68D79-9E3F-3F9E-DB5F-724AFC111306}"/>
              </a:ext>
            </a:extLst>
          </p:cNvPr>
          <p:cNvSpPr txBox="1"/>
          <p:nvPr/>
        </p:nvSpPr>
        <p:spPr>
          <a:xfrm>
            <a:off x="1997139" y="4444224"/>
            <a:ext cx="601375" cy="188062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Backlog</a:t>
            </a:r>
          </a:p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Mgmt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F3291F5E-B671-B68F-64E8-758F639BBB33}"/>
              </a:ext>
            </a:extLst>
          </p:cNvPr>
          <p:cNvSpPr/>
          <p:nvPr/>
        </p:nvSpPr>
        <p:spPr>
          <a:xfrm>
            <a:off x="9940429" y="3933311"/>
            <a:ext cx="656784" cy="207385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5309"/>
          </a:solidFill>
        </p:spPr>
        <p:txBody>
          <a:bodyPr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Colocated</a:t>
            </a:r>
            <a:endParaRPr lang="en-CN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Graphic 36" descr="Brontosaurus with solid fill">
            <a:extLst>
              <a:ext uri="{FF2B5EF4-FFF2-40B4-BE49-F238E27FC236}">
                <a16:creationId xmlns:a16="http://schemas.microsoft.com/office/drawing/2014/main" id="{F605BEA6-00BC-5834-F6C0-C6F482B34FA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403960" y="4349980"/>
            <a:ext cx="340227" cy="34022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542D836B-400C-A3E3-5A6F-348E3B6EEC24}"/>
              </a:ext>
            </a:extLst>
          </p:cNvPr>
          <p:cNvSpPr txBox="1"/>
          <p:nvPr/>
        </p:nvSpPr>
        <p:spPr>
          <a:xfrm>
            <a:off x="9193277" y="4692259"/>
            <a:ext cx="734564" cy="18560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Non-cloud Infrastructure</a:t>
            </a:r>
          </a:p>
        </p:txBody>
      </p:sp>
      <p:sp>
        <p:nvSpPr>
          <p:cNvPr id="56" name="Left-Right Arrow 55">
            <a:extLst>
              <a:ext uri="{FF2B5EF4-FFF2-40B4-BE49-F238E27FC236}">
                <a16:creationId xmlns:a16="http://schemas.microsoft.com/office/drawing/2014/main" id="{25CCE751-BE4C-6C57-06F0-9C7A048B580A}"/>
              </a:ext>
            </a:extLst>
          </p:cNvPr>
          <p:cNvSpPr/>
          <p:nvPr/>
        </p:nvSpPr>
        <p:spPr>
          <a:xfrm>
            <a:off x="9966243" y="894082"/>
            <a:ext cx="228047" cy="153747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eft-Right Arrow 60">
            <a:extLst>
              <a:ext uri="{FF2B5EF4-FFF2-40B4-BE49-F238E27FC236}">
                <a16:creationId xmlns:a16="http://schemas.microsoft.com/office/drawing/2014/main" id="{B0B61E5C-949D-B4B5-1053-14EDA155656B}"/>
              </a:ext>
            </a:extLst>
          </p:cNvPr>
          <p:cNvSpPr/>
          <p:nvPr/>
        </p:nvSpPr>
        <p:spPr>
          <a:xfrm>
            <a:off x="8668318" y="3771030"/>
            <a:ext cx="335901" cy="20738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Left-Right Arrow 456">
            <a:extLst>
              <a:ext uri="{FF2B5EF4-FFF2-40B4-BE49-F238E27FC236}">
                <a16:creationId xmlns:a16="http://schemas.microsoft.com/office/drawing/2014/main" id="{8C06B2E6-8764-2672-3FE8-DC0B6C9D5D91}"/>
              </a:ext>
            </a:extLst>
          </p:cNvPr>
          <p:cNvSpPr/>
          <p:nvPr/>
        </p:nvSpPr>
        <p:spPr>
          <a:xfrm rot="16200000">
            <a:off x="5340750" y="5245084"/>
            <a:ext cx="252607" cy="166482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95">
            <a:extLst>
              <a:ext uri="{FF2B5EF4-FFF2-40B4-BE49-F238E27FC236}">
                <a16:creationId xmlns:a16="http://schemas.microsoft.com/office/drawing/2014/main" id="{2426E1B1-9049-30D0-9B7D-D1F662644E47}"/>
              </a:ext>
            </a:extLst>
          </p:cNvPr>
          <p:cNvSpPr/>
          <p:nvPr/>
        </p:nvSpPr>
        <p:spPr>
          <a:xfrm>
            <a:off x="4073672" y="2541918"/>
            <a:ext cx="4521321" cy="301306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855"/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" name="Freeform 95">
            <a:extLst>
              <a:ext uri="{FF2B5EF4-FFF2-40B4-BE49-F238E27FC236}">
                <a16:creationId xmlns:a16="http://schemas.microsoft.com/office/drawing/2014/main" id="{1A8A1867-8E03-FF1E-2126-5CC08E834DBE}"/>
              </a:ext>
            </a:extLst>
          </p:cNvPr>
          <p:cNvSpPr/>
          <p:nvPr/>
        </p:nvSpPr>
        <p:spPr>
          <a:xfrm>
            <a:off x="5363645" y="4497544"/>
            <a:ext cx="3160309" cy="237153"/>
          </a:xfrm>
          <a:custGeom>
            <a:avLst/>
            <a:gdLst/>
            <a:ahLst/>
            <a:cxnLst/>
            <a:rect l="l" t="t" r="r" b="b"/>
            <a:pathLst>
              <a:path w="1092200" h="824331">
                <a:moveTo>
                  <a:pt x="0" y="824331"/>
                </a:moveTo>
                <a:lnTo>
                  <a:pt x="1092200" y="824331"/>
                </a:lnTo>
                <a:lnTo>
                  <a:pt x="1092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solidFill>
              <a:schemeClr val="tx2"/>
            </a:solidFill>
          </a:ln>
        </p:spPr>
        <p:txBody>
          <a:bodyPr/>
          <a:lstStyle/>
          <a:p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80786B-574A-A6FB-4C59-D3F9C2259913}"/>
              </a:ext>
            </a:extLst>
          </p:cNvPr>
          <p:cNvSpPr txBox="1"/>
          <p:nvPr/>
        </p:nvSpPr>
        <p:spPr>
          <a:xfrm>
            <a:off x="5841993" y="4517510"/>
            <a:ext cx="2185575" cy="245345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b="1" dirty="0">
                <a:solidFill>
                  <a:srgbClr val="FFFE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orchestration</a:t>
            </a:r>
          </a:p>
        </p:txBody>
      </p:sp>
      <p:cxnSp>
        <p:nvCxnSpPr>
          <p:cNvPr id="472" name="Connector 23">
            <a:extLst>
              <a:ext uri="{FF2B5EF4-FFF2-40B4-BE49-F238E27FC236}">
                <a16:creationId xmlns:a16="http://schemas.microsoft.com/office/drawing/2014/main" id="{EAB4D1E1-AFB5-2CD8-B5E5-DDF59C4302CE}"/>
              </a:ext>
            </a:extLst>
          </p:cNvPr>
          <p:cNvCxnSpPr>
            <a:cxnSpLocks/>
          </p:cNvCxnSpPr>
          <p:nvPr/>
        </p:nvCxnSpPr>
        <p:spPr>
          <a:xfrm flipV="1">
            <a:off x="5603362" y="2314382"/>
            <a:ext cx="0" cy="191739"/>
          </a:xfrm>
          <a:prstGeom prst="line">
            <a:avLst/>
          </a:prstGeom>
          <a:noFill/>
          <a:ln w="12700" cap="sq">
            <a:solidFill>
              <a:srgbClr val="00B0F0"/>
            </a:solidFill>
          </a:ln>
        </p:spPr>
      </p:cxnSp>
      <p:sp>
        <p:nvSpPr>
          <p:cNvPr id="473" name="Freeform 472">
            <a:extLst>
              <a:ext uri="{FF2B5EF4-FFF2-40B4-BE49-F238E27FC236}">
                <a16:creationId xmlns:a16="http://schemas.microsoft.com/office/drawing/2014/main" id="{1289E72C-B3A1-84FC-FCCC-DE6025B8BDB0}"/>
              </a:ext>
            </a:extLst>
          </p:cNvPr>
          <p:cNvSpPr/>
          <p:nvPr/>
        </p:nvSpPr>
        <p:spPr>
          <a:xfrm rot="5400000">
            <a:off x="5557919" y="2379850"/>
            <a:ext cx="95227" cy="126019"/>
          </a:xfrm>
          <a:custGeom>
            <a:avLst/>
            <a:gdLst/>
            <a:ahLst/>
            <a:cxnLst/>
            <a:rect l="l" t="t" r="r" b="b"/>
            <a:pathLst>
              <a:path w="67208" h="124968">
                <a:moveTo>
                  <a:pt x="67208" y="62484"/>
                </a:move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B0F0"/>
          </a:solidFill>
          <a:ln w="12700">
            <a:solidFill>
              <a:srgbClr val="00B0F0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4808C-EE8F-8438-9BA3-2B222DBACAAC}"/>
              </a:ext>
            </a:extLst>
          </p:cNvPr>
          <p:cNvSpPr txBox="1"/>
          <p:nvPr/>
        </p:nvSpPr>
        <p:spPr>
          <a:xfrm>
            <a:off x="5370394" y="2618738"/>
            <a:ext cx="2220163" cy="124361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I&amp;O Platform (API)</a:t>
            </a:r>
          </a:p>
        </p:txBody>
      </p:sp>
      <p:pic>
        <p:nvPicPr>
          <p:cNvPr id="449" name="Graphic 448" descr="Internet Of Things with solid fill">
            <a:extLst>
              <a:ext uri="{FF2B5EF4-FFF2-40B4-BE49-F238E27FC236}">
                <a16:creationId xmlns:a16="http://schemas.microsoft.com/office/drawing/2014/main" id="{AD57E4DD-B015-54CD-D405-262C47DBB7D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323173" y="2533199"/>
            <a:ext cx="310279" cy="326877"/>
          </a:xfrm>
          <a:prstGeom prst="rect">
            <a:avLst/>
          </a:prstGeom>
        </p:spPr>
      </p:pic>
      <p:sp>
        <p:nvSpPr>
          <p:cNvPr id="456" name="Left-Right Arrow 455">
            <a:extLst>
              <a:ext uri="{FF2B5EF4-FFF2-40B4-BE49-F238E27FC236}">
                <a16:creationId xmlns:a16="http://schemas.microsoft.com/office/drawing/2014/main" id="{860E8F44-DC4F-5626-1FE0-E2D0555340E3}"/>
              </a:ext>
            </a:extLst>
          </p:cNvPr>
          <p:cNvSpPr/>
          <p:nvPr/>
        </p:nvSpPr>
        <p:spPr>
          <a:xfrm rot="16200000">
            <a:off x="7689233" y="5238972"/>
            <a:ext cx="252607" cy="166482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Road with solid fill">
            <a:extLst>
              <a:ext uri="{FF2B5EF4-FFF2-40B4-BE49-F238E27FC236}">
                <a16:creationId xmlns:a16="http://schemas.microsoft.com/office/drawing/2014/main" id="{6B4C9FA3-C723-0E9B-73BF-7780F73ED2A3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6220726" y="3257600"/>
            <a:ext cx="262477" cy="262477"/>
          </a:xfrm>
          <a:prstGeom prst="rect">
            <a:avLst/>
          </a:prstGeom>
        </p:spPr>
      </p:pic>
      <p:pic>
        <p:nvPicPr>
          <p:cNvPr id="10" name="Graphic 9" descr="Landing with solid fill">
            <a:extLst>
              <a:ext uri="{FF2B5EF4-FFF2-40B4-BE49-F238E27FC236}">
                <a16:creationId xmlns:a16="http://schemas.microsoft.com/office/drawing/2014/main" id="{5941F560-69EC-E1A6-4A58-22A0FA3D0B5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949376" y="3268008"/>
            <a:ext cx="302523" cy="302523"/>
          </a:xfrm>
          <a:prstGeom prst="rect">
            <a:avLst/>
          </a:prstGeom>
        </p:spPr>
      </p:pic>
      <p:pic>
        <p:nvPicPr>
          <p:cNvPr id="29" name="Graphic 28" descr="Blueprint with solid fill">
            <a:extLst>
              <a:ext uri="{FF2B5EF4-FFF2-40B4-BE49-F238E27FC236}">
                <a16:creationId xmlns:a16="http://schemas.microsoft.com/office/drawing/2014/main" id="{A93FC927-4895-7E1E-1043-5623420225B5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5378822" y="3240743"/>
            <a:ext cx="256953" cy="25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4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3" grpId="0" animBg="1"/>
      <p:bldP spid="34" grpId="0" animBg="1"/>
      <p:bldP spid="2" grpId="0"/>
      <p:bldP spid="18" grpId="0"/>
      <p:bldP spid="49" grpId="0"/>
      <p:bldP spid="312" grpId="0"/>
      <p:bldP spid="432" grpId="0"/>
      <p:bldP spid="437" grpId="0"/>
      <p:bldP spid="439" grpId="0"/>
      <p:bldP spid="443" grpId="0"/>
      <p:bldP spid="448" grpId="0"/>
      <p:bldP spid="451" grpId="0"/>
      <p:bldP spid="31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11347</TotalTime>
  <Words>151</Words>
  <Application>Microsoft Macintosh PowerPoint</Application>
  <PresentationFormat>Widescreen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Albuquerque</dc:creator>
  <cp:lastModifiedBy>Lucas Albuquerque</cp:lastModifiedBy>
  <cp:revision>3</cp:revision>
  <dcterms:created xsi:type="dcterms:W3CDTF">2024-12-11T08:09:08Z</dcterms:created>
  <dcterms:modified xsi:type="dcterms:W3CDTF">2025-09-24T17:06:04Z</dcterms:modified>
</cp:coreProperties>
</file>